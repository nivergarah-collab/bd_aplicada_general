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2"/>
  </p:notesMasterIdLst>
  <p:sldIdLst>
    <p:sldId id="261" r:id="rId5"/>
    <p:sldId id="337" r:id="rId6"/>
    <p:sldId id="363" r:id="rId7"/>
    <p:sldId id="364" r:id="rId8"/>
    <p:sldId id="344" r:id="rId9"/>
    <p:sldId id="339" r:id="rId10"/>
    <p:sldId id="351" r:id="rId11"/>
    <p:sldId id="340" r:id="rId12"/>
    <p:sldId id="365" r:id="rId13"/>
    <p:sldId id="366" r:id="rId14"/>
    <p:sldId id="360" r:id="rId15"/>
    <p:sldId id="358" r:id="rId16"/>
    <p:sldId id="359" r:id="rId17"/>
    <p:sldId id="357" r:id="rId18"/>
    <p:sldId id="361" r:id="rId19"/>
    <p:sldId id="369" r:id="rId20"/>
    <p:sldId id="370" r:id="rId21"/>
    <p:sldId id="327" r:id="rId22"/>
    <p:sldId id="341" r:id="rId23"/>
    <p:sldId id="352" r:id="rId24"/>
    <p:sldId id="353" r:id="rId25"/>
    <p:sldId id="354" r:id="rId26"/>
    <p:sldId id="362" r:id="rId27"/>
    <p:sldId id="355" r:id="rId28"/>
    <p:sldId id="356" r:id="rId29"/>
    <p:sldId id="367" r:id="rId30"/>
    <p:sldId id="368" r:id="rId31"/>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C2D501"/>
    <a:srgbClr val="DB0532"/>
    <a:srgbClr val="B14EC4"/>
    <a:srgbClr val="FF595A"/>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90"/>
    <p:restoredTop sz="86182" autoAdjust="0"/>
  </p:normalViewPr>
  <p:slideViewPr>
    <p:cSldViewPr>
      <p:cViewPr varScale="1">
        <p:scale>
          <a:sx n="43" d="100"/>
          <a:sy n="43" d="100"/>
        </p:scale>
        <p:origin x="902"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16-01-2026</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18900-AA83-3B62-83F9-5F207AE526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E88F48-37DE-32AB-EE05-4AF989DB1B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B9B587-03FA-0919-CEA3-60F84C04B52D}"/>
              </a:ext>
            </a:extLst>
          </p:cNvPr>
          <p:cNvSpPr>
            <a:spLocks noGrp="1"/>
          </p:cNvSpPr>
          <p:nvPr>
            <p:ph type="body" idx="1"/>
          </p:nvPr>
        </p:nvSpPr>
        <p:spPr/>
        <p:txBody>
          <a:bodyPr/>
          <a:lstStyle/>
          <a:p>
            <a:pPr marL="0" marR="0" lvl="0" indent="0" algn="just" defTabSz="914400" rtl="0" eaLnBrk="1" fontAlgn="auto" latinLnBrk="0" hangingPunct="1">
              <a:lnSpc>
                <a:spcPct val="90000"/>
              </a:lnSpc>
              <a:spcBef>
                <a:spcPct val="0"/>
              </a:spcBef>
              <a:spcAft>
                <a:spcPts val="0"/>
              </a:spcAft>
              <a:buClr>
                <a:srgbClr val="000000"/>
              </a:buClr>
              <a:buSzPts val="1100"/>
              <a:buFont typeface="Arial"/>
              <a:buNone/>
              <a:tabLst/>
              <a:defRPr/>
            </a:pPr>
            <a:r>
              <a:rPr lang="es-CL" sz="1400" b="1" dirty="0">
                <a:solidFill>
                  <a:prstClr val="white"/>
                </a:solidFill>
                <a:latin typeface="Calibri"/>
              </a:rPr>
              <a:t>Diseño Lógico</a:t>
            </a:r>
            <a:r>
              <a:rPr lang="es-CL" sz="1400" b="1" baseline="0" dirty="0">
                <a:solidFill>
                  <a:prstClr val="white"/>
                </a:solidFill>
                <a:latin typeface="Calibri"/>
              </a:rPr>
              <a:t> de Base de Datos</a:t>
            </a:r>
            <a:endParaRPr lang="es-CL" sz="14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marR="0" lvl="0" indent="-171450" algn="just" defTabSz="914400" rtl="0" eaLnBrk="1" fontAlgn="auto" latinLnBrk="0" hangingPunct="1">
              <a:lnSpc>
                <a:spcPct val="90000"/>
              </a:lnSpc>
              <a:spcBef>
                <a:spcPct val="0"/>
              </a:spcBef>
              <a:spcAft>
                <a:spcPts val="0"/>
              </a:spcAft>
              <a:buClr>
                <a:srgbClr val="000000"/>
              </a:buClr>
              <a:buSzPts val="1100"/>
              <a:buFont typeface="Arial" panose="020B0604020202020204" pitchFamily="34" charset="0"/>
              <a:buChar char="•"/>
              <a:tabLst/>
              <a:defRPr/>
            </a:pPr>
            <a:r>
              <a:rPr lang="es-CL" sz="1400" b="0" i="0" u="none" strike="noStrike" cap="none" dirty="0">
                <a:solidFill>
                  <a:srgbClr val="000000"/>
                </a:solidFill>
                <a:effectLst/>
                <a:latin typeface="Calibri" panose="020F0502020204030204" pitchFamily="34" charset="0"/>
                <a:ea typeface="Arial"/>
                <a:cs typeface="Arial"/>
                <a:sym typeface="Arial"/>
              </a:rPr>
              <a:t>El objetivo del diseño lógico es convertir los esquemas conceptuales en un esquema lógico que se ajuste al modelo del SGBD sobre el que se vaya a implementar el sistema. </a:t>
            </a:r>
          </a:p>
          <a:p>
            <a:pPr marL="171450" marR="0" lvl="0" indent="-171450" algn="just" defTabSz="914400" rtl="0" eaLnBrk="1" fontAlgn="auto" latinLnBrk="0" hangingPunct="1">
              <a:lnSpc>
                <a:spcPct val="90000"/>
              </a:lnSpc>
              <a:spcBef>
                <a:spcPct val="0"/>
              </a:spcBef>
              <a:spcAft>
                <a:spcPts val="0"/>
              </a:spcAft>
              <a:buClr>
                <a:srgbClr val="000000"/>
              </a:buClr>
              <a:buSzPts val="1100"/>
              <a:buFont typeface="Arial" panose="020B0604020202020204" pitchFamily="34" charset="0"/>
              <a:buChar char="•"/>
              <a:tabLst/>
              <a:defRPr/>
            </a:pPr>
            <a:r>
              <a:rPr lang="es-CL" sz="1400" b="0" i="0" u="none" strike="noStrike" cap="none" dirty="0">
                <a:solidFill>
                  <a:srgbClr val="000000"/>
                </a:solidFill>
                <a:effectLst/>
                <a:latin typeface="Calibri" panose="020F0502020204030204" pitchFamily="34" charset="0"/>
                <a:ea typeface="Arial"/>
                <a:cs typeface="Arial"/>
                <a:sym typeface="Arial"/>
              </a:rPr>
              <a:t>Mientras que el objetivo fundamental del diseño conceptual es representar un conjunto de conceptos de una realidad, el objetivo del diseño lógico es obtener una representación que use, del modo más eficiente posible, los recursos que el modelo de SGBD posee para estructurar los datos y para modelar las restricciones.</a:t>
            </a:r>
          </a:p>
          <a:p>
            <a:pPr marL="171450" marR="0" lvl="0" indent="-171450" algn="just" defTabSz="914400" rtl="0" eaLnBrk="1" fontAlgn="auto" latinLnBrk="0" hangingPunct="1">
              <a:lnSpc>
                <a:spcPct val="90000"/>
              </a:lnSpc>
              <a:spcBef>
                <a:spcPct val="0"/>
              </a:spcBef>
              <a:spcAft>
                <a:spcPts val="0"/>
              </a:spcAft>
              <a:buClr>
                <a:srgbClr val="000000"/>
              </a:buClr>
              <a:buSzPts val="1100"/>
              <a:buFont typeface="Arial" panose="020B0604020202020204" pitchFamily="34" charset="0"/>
              <a:buChar char="•"/>
              <a:tabLst/>
              <a:defRPr/>
            </a:pPr>
            <a:r>
              <a:rPr lang="es-CL" sz="1400" b="0" i="0" u="none" strike="noStrike" cap="none" dirty="0">
                <a:solidFill>
                  <a:srgbClr val="000000"/>
                </a:solidFill>
                <a:effectLst/>
                <a:latin typeface="Calibri" panose="020F0502020204030204" pitchFamily="34" charset="0"/>
                <a:ea typeface="Arial"/>
                <a:cs typeface="Arial"/>
                <a:sym typeface="Arial"/>
              </a:rPr>
              <a:t>El Modelo Lógico utilizado para SGBD Relacionales es el Modelo Relacional</a:t>
            </a:r>
          </a:p>
          <a:p>
            <a:pPr marL="171450" marR="0" lvl="0" indent="-171450" algn="just" defTabSz="914400" rtl="0" eaLnBrk="1" fontAlgn="auto" latinLnBrk="0" hangingPunct="1">
              <a:lnSpc>
                <a:spcPct val="90000"/>
              </a:lnSpc>
              <a:spcBef>
                <a:spcPct val="0"/>
              </a:spcBef>
              <a:spcAft>
                <a:spcPts val="0"/>
              </a:spcAft>
              <a:buClr>
                <a:srgbClr val="000000"/>
              </a:buClr>
              <a:buSzPts val="1100"/>
              <a:buFont typeface="Arial" panose="020B0604020202020204" pitchFamily="34" charset="0"/>
              <a:buChar char="•"/>
              <a:tabLst/>
              <a:defRPr/>
            </a:pPr>
            <a:r>
              <a:rPr lang="es-CL" sz="1400" b="0" i="0" u="none" strike="noStrike" cap="none" dirty="0">
                <a:solidFill>
                  <a:srgbClr val="000000"/>
                </a:solidFill>
                <a:effectLst/>
                <a:latin typeface="Calibri" panose="020F0502020204030204" pitchFamily="34" charset="0"/>
                <a:ea typeface="Arial"/>
                <a:cs typeface="Arial"/>
                <a:sym typeface="Arial"/>
              </a:rPr>
              <a:t>En general, los diseñadores y administradores de bases de datos relacionales usan esquemas conceptuales Entidad-Relación porque se adaptan muy bien para ser transformados al Modelo Relacional.</a:t>
            </a:r>
          </a:p>
        </p:txBody>
      </p:sp>
      <p:sp>
        <p:nvSpPr>
          <p:cNvPr id="4" name="Marcador de número de diapositiva 3">
            <a:extLst>
              <a:ext uri="{FF2B5EF4-FFF2-40B4-BE49-F238E27FC236}">
                <a16:creationId xmlns:a16="http://schemas.microsoft.com/office/drawing/2014/main" id="{D3ACD2C5-4339-2167-E24A-8C64D8FCDBAB}"/>
              </a:ext>
            </a:extLst>
          </p:cNvPr>
          <p:cNvSpPr>
            <a:spLocks noGrp="1"/>
          </p:cNvSpPr>
          <p:nvPr>
            <p:ph type="sldNum" sz="quarter" idx="5"/>
          </p:nvPr>
        </p:nvSpPr>
        <p:spPr/>
        <p:txBody>
          <a:bodyPr/>
          <a:lstStyle/>
          <a:p>
            <a:fld id="{35C2C890-E6DE-1A45-98C6-E722FA6368DA}" type="slidenum">
              <a:rPr lang="es-CL" smtClean="0"/>
              <a:t>4</a:t>
            </a:fld>
            <a:endParaRPr lang="es-CL"/>
          </a:p>
        </p:txBody>
      </p:sp>
    </p:spTree>
    <p:extLst>
      <p:ext uri="{BB962C8B-B14F-4D97-AF65-F5344CB8AC3E}">
        <p14:creationId xmlns:p14="http://schemas.microsoft.com/office/powerpoint/2010/main" val="2696019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gn="just" eaLnBrk="1" hangingPunct="1">
              <a:spcBef>
                <a:spcPct val="0"/>
              </a:spcBef>
            </a:pPr>
            <a:r>
              <a:rPr lang="es-ES" sz="1400" dirty="0">
                <a:latin typeface="Times New Roman" pitchFamily="18" charset="0"/>
              </a:rPr>
              <a:t>Los términos más importantes del Modelo Relacional son:</a:t>
            </a:r>
          </a:p>
          <a:p>
            <a:pPr marL="0" indent="0" algn="just" eaLnBrk="1" hangingPunct="1">
              <a:spcBef>
                <a:spcPct val="0"/>
              </a:spcBef>
              <a:buFont typeface="Arial" panose="020B0604020202020204" pitchFamily="34" charset="0"/>
              <a:buNone/>
            </a:pPr>
            <a:r>
              <a:rPr lang="es-ES" sz="1400" b="1" dirty="0">
                <a:latin typeface="Times New Roman" pitchFamily="18" charset="0"/>
              </a:rPr>
              <a:t>- </a:t>
            </a:r>
            <a:r>
              <a:rPr lang="es-CL" sz="1400" b="1" dirty="0">
                <a:latin typeface="Times New Roman" pitchFamily="18" charset="0"/>
              </a:rPr>
              <a:t>Re</a:t>
            </a:r>
            <a:r>
              <a:rPr lang="es-ES" sz="1200" b="1" dirty="0" err="1">
                <a:latin typeface="Times New Roman" pitchFamily="18" charset="0"/>
              </a:rPr>
              <a:t>lación</a:t>
            </a:r>
            <a:r>
              <a:rPr lang="es-ES" sz="1200" b="1" dirty="0">
                <a:latin typeface="Times New Roman" pitchFamily="18" charset="0"/>
              </a:rPr>
              <a:t>:</a:t>
            </a:r>
            <a:r>
              <a:rPr lang="es-ES" sz="1200" dirty="0">
                <a:latin typeface="Times New Roman" pitchFamily="18" charset="0"/>
              </a:rPr>
              <a:t> Corresponde con la idea general de tabla.</a:t>
            </a:r>
          </a:p>
          <a:p>
            <a:pPr marL="0" indent="0" algn="just" eaLnBrk="1" hangingPunct="1">
              <a:spcBef>
                <a:spcPct val="0"/>
              </a:spcBef>
              <a:buFontTx/>
              <a:buNone/>
            </a:pPr>
            <a:r>
              <a:rPr lang="es-CL" sz="1200" b="1" dirty="0">
                <a:latin typeface="Times New Roman" pitchFamily="18" charset="0"/>
              </a:rPr>
              <a:t>- T</a:t>
            </a:r>
            <a:r>
              <a:rPr lang="es-ES" sz="1200" b="1" dirty="0" err="1">
                <a:latin typeface="Times New Roman" pitchFamily="18" charset="0"/>
              </a:rPr>
              <a:t>upla</a:t>
            </a:r>
            <a:r>
              <a:rPr lang="es-ES" sz="1200" b="1" dirty="0">
                <a:latin typeface="Times New Roman" pitchFamily="18" charset="0"/>
              </a:rPr>
              <a:t>:</a:t>
            </a:r>
            <a:r>
              <a:rPr lang="es-ES" sz="1200" dirty="0">
                <a:latin typeface="Times New Roman" pitchFamily="18" charset="0"/>
              </a:rPr>
              <a:t> Corresponde con una fila.</a:t>
            </a:r>
          </a:p>
          <a:p>
            <a:pPr marL="0" indent="0" algn="just" eaLnBrk="1" hangingPunct="1">
              <a:spcBef>
                <a:spcPct val="0"/>
              </a:spcBef>
              <a:buFontTx/>
              <a:buNone/>
            </a:pPr>
            <a:r>
              <a:rPr lang="es-CL" sz="1200" b="1" dirty="0">
                <a:latin typeface="Times New Roman" pitchFamily="18" charset="0"/>
              </a:rPr>
              <a:t>- A</a:t>
            </a:r>
            <a:r>
              <a:rPr lang="es-ES" sz="1200" b="1" dirty="0">
                <a:latin typeface="Times New Roman" pitchFamily="18" charset="0"/>
              </a:rPr>
              <a:t>tributo:</a:t>
            </a:r>
            <a:r>
              <a:rPr lang="es-ES" sz="1200" dirty="0">
                <a:latin typeface="Times New Roman" pitchFamily="18" charset="0"/>
              </a:rPr>
              <a:t> Corresponde con una columna.</a:t>
            </a:r>
          </a:p>
          <a:p>
            <a:pPr marL="0" indent="0" algn="just" eaLnBrk="1" hangingPunct="1">
              <a:spcBef>
                <a:spcPct val="0"/>
              </a:spcBef>
              <a:buFontTx/>
              <a:buNone/>
            </a:pPr>
            <a:r>
              <a:rPr lang="es-CL" sz="1200" b="1" dirty="0">
                <a:latin typeface="Times New Roman" pitchFamily="18" charset="0"/>
              </a:rPr>
              <a:t>- C</a:t>
            </a:r>
            <a:r>
              <a:rPr lang="es-ES" sz="1200" b="1" dirty="0" err="1">
                <a:latin typeface="Times New Roman" pitchFamily="18" charset="0"/>
              </a:rPr>
              <a:t>ardinalidad</a:t>
            </a:r>
            <a:r>
              <a:rPr lang="es-ES" sz="1200" b="1" dirty="0">
                <a:latin typeface="Times New Roman" pitchFamily="18" charset="0"/>
              </a:rPr>
              <a:t>:</a:t>
            </a:r>
            <a:r>
              <a:rPr lang="es-ES" sz="1200" dirty="0">
                <a:latin typeface="Times New Roman" pitchFamily="18" charset="0"/>
              </a:rPr>
              <a:t> Número de tuplas (m).</a:t>
            </a:r>
          </a:p>
          <a:p>
            <a:pPr marL="0" indent="0" algn="just" eaLnBrk="1" hangingPunct="1">
              <a:spcBef>
                <a:spcPct val="0"/>
              </a:spcBef>
              <a:buFontTx/>
              <a:buNone/>
            </a:pPr>
            <a:r>
              <a:rPr lang="es-CL" sz="1200" b="1" dirty="0">
                <a:latin typeface="Times New Roman" pitchFamily="18" charset="0"/>
              </a:rPr>
              <a:t>- G</a:t>
            </a:r>
            <a:r>
              <a:rPr lang="es-ES" sz="1200" b="1" dirty="0" err="1">
                <a:latin typeface="Times New Roman" pitchFamily="18" charset="0"/>
              </a:rPr>
              <a:t>rado</a:t>
            </a:r>
            <a:r>
              <a:rPr lang="es-ES" sz="1200" b="1" dirty="0">
                <a:latin typeface="Times New Roman" pitchFamily="18" charset="0"/>
              </a:rPr>
              <a:t>:</a:t>
            </a:r>
            <a:r>
              <a:rPr lang="es-ES" sz="1200" dirty="0">
                <a:latin typeface="Times New Roman" pitchFamily="18" charset="0"/>
              </a:rPr>
              <a:t> Número de atributos (n).</a:t>
            </a:r>
          </a:p>
          <a:p>
            <a:pPr marL="0" indent="0" algn="just" eaLnBrk="1" hangingPunct="1">
              <a:spcBef>
                <a:spcPct val="0"/>
              </a:spcBef>
              <a:buFontTx/>
              <a:buNone/>
            </a:pPr>
            <a:r>
              <a:rPr lang="es-CL" sz="1200" b="1" dirty="0">
                <a:latin typeface="Times New Roman" pitchFamily="18" charset="0"/>
              </a:rPr>
              <a:t>- Do</a:t>
            </a:r>
            <a:r>
              <a:rPr lang="es-ES" sz="1200" b="1" dirty="0">
                <a:latin typeface="Times New Roman" pitchFamily="18" charset="0"/>
              </a:rPr>
              <a:t>minio:</a:t>
            </a:r>
            <a:r>
              <a:rPr lang="es-ES" sz="1200" dirty="0">
                <a:latin typeface="Times New Roman" pitchFamily="18" charset="0"/>
              </a:rPr>
              <a:t> Colección de valores de los cuales el atributo obtiene su atributo.</a:t>
            </a:r>
          </a:p>
          <a:p>
            <a:pPr marL="0" indent="0" algn="just" eaLnBrk="1" hangingPunct="1">
              <a:spcBef>
                <a:spcPct val="0"/>
              </a:spcBef>
              <a:buFontTx/>
              <a:buNone/>
            </a:pPr>
            <a:r>
              <a:rPr lang="es-CL" sz="1200" b="1" dirty="0">
                <a:latin typeface="Times New Roman" pitchFamily="18" charset="0"/>
              </a:rPr>
              <a:t>- </a:t>
            </a:r>
            <a:r>
              <a:rPr lang="es-CL" sz="1200" b="1" dirty="0" err="1">
                <a:latin typeface="Times New Roman" pitchFamily="18" charset="0"/>
              </a:rPr>
              <a:t>Cla</a:t>
            </a:r>
            <a:r>
              <a:rPr lang="es-ES" sz="1200" b="1" dirty="0">
                <a:latin typeface="Times New Roman" pitchFamily="18" charset="0"/>
              </a:rPr>
              <a:t>ve Primaria:</a:t>
            </a:r>
            <a:r>
              <a:rPr lang="es-ES" sz="1200" dirty="0">
                <a:latin typeface="Times New Roman" pitchFamily="18" charset="0"/>
              </a:rPr>
              <a:t> Identificador único de una tupla.</a:t>
            </a:r>
            <a:endParaRPr lang="es-ES" sz="1400" dirty="0">
              <a:latin typeface="Times New Roman" pitchFamily="18" charset="0"/>
            </a:endParaRPr>
          </a:p>
        </p:txBody>
      </p:sp>
      <p:sp>
        <p:nvSpPr>
          <p:cNvPr id="4" name="Marcador de número de diapositiva 3"/>
          <p:cNvSpPr>
            <a:spLocks noGrp="1"/>
          </p:cNvSpPr>
          <p:nvPr>
            <p:ph type="sldNum" sz="quarter" idx="5"/>
          </p:nvPr>
        </p:nvSpPr>
        <p:spPr/>
        <p:txBody>
          <a:bodyPr/>
          <a:lstStyle/>
          <a:p>
            <a:fld id="{35C2C890-E6DE-1A45-98C6-E722FA6368DA}" type="slidenum">
              <a:rPr lang="es-CL" smtClean="0"/>
              <a:t>8</a:t>
            </a:fld>
            <a:endParaRPr lang="es-CL"/>
          </a:p>
        </p:txBody>
      </p:sp>
    </p:spTree>
    <p:extLst>
      <p:ext uri="{BB962C8B-B14F-4D97-AF65-F5344CB8AC3E}">
        <p14:creationId xmlns:p14="http://schemas.microsoft.com/office/powerpoint/2010/main" val="3426963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470BE-62AC-2D52-4007-AB2616A967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849E70-2C83-7081-53FC-4A6BCA4DD62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F7F2CC3-D2A9-48C8-C210-68EA6407D38D}"/>
              </a:ext>
            </a:extLst>
          </p:cNvPr>
          <p:cNvSpPr>
            <a:spLocks noGrp="1"/>
          </p:cNvSpPr>
          <p:nvPr>
            <p:ph type="body" idx="1"/>
          </p:nvPr>
        </p:nvSpPr>
        <p:spPr/>
        <p:txBody>
          <a:bodyPr/>
          <a:lstStyle/>
          <a:p>
            <a:pPr marL="0" indent="0" algn="just" eaLnBrk="1" hangingPunct="1">
              <a:lnSpc>
                <a:spcPct val="90000"/>
              </a:lnSpc>
              <a:spcBef>
                <a:spcPct val="0"/>
              </a:spcBef>
              <a:buNone/>
            </a:pPr>
            <a:r>
              <a:rPr lang="es-CL" sz="1200" b="1" dirty="0">
                <a:solidFill>
                  <a:prstClr val="white"/>
                </a:solidFill>
                <a:latin typeface="Calibri"/>
              </a:rPr>
              <a:t>Terminología Estructural</a:t>
            </a:r>
          </a:p>
          <a:p>
            <a:pPr marL="171450" indent="-171450" algn="just" eaLnBrk="1" hangingPunct="1">
              <a:lnSpc>
                <a:spcPct val="90000"/>
              </a:lnSpc>
              <a:spcBef>
                <a:spcPct val="0"/>
              </a:spcBef>
              <a:buFont typeface="Arial" panose="020B0604020202020204" pitchFamily="34" charset="0"/>
              <a:buChar char="•"/>
            </a:pPr>
            <a:r>
              <a:rPr lang="es-CL" sz="1200" b="0" i="0" u="none" strike="noStrike" cap="none" baseline="0" dirty="0">
                <a:solidFill>
                  <a:srgbClr val="000000"/>
                </a:solidFill>
                <a:effectLst/>
                <a:latin typeface="Calibri" panose="020F0502020204030204" pitchFamily="34" charset="0"/>
                <a:cs typeface="Arial"/>
                <a:sym typeface="Arial"/>
              </a:rPr>
              <a:t>Clave</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Ya que en una relación no hay tuplas repetidas, éstas se pueden distinguir unas de otras, es decir, se pueden identificar de modo único. La forma de identificarlas es mediante los valores de sus atributos. </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Clave candidata: conjunto de atributos que identifican en forma única cada tupla de la relación. Es decir columnas cuyos valores no se repiten para esa tabla. </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Clave primaria: clave candidata que se escoge como identificador de las tuplas. Se elige como primaria la candidata que identifique mejor a cada tupla en el contexto de la base de datos.  Por ejemplo un atributo con el RUT sería clave candidata de una tabla de clientes, aunque si en esa relación existe un atributo de código de cliente, este sería mejor candidato para clave principal, porque es mejor identificador para ese contexto. </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Clave alternativa: Cualquier clave candidata que no sea primaria y que también puede identificar de manera única una tupla. Al momento de crear la relación como tabla en la Base de Datos se debe definir una constraints de tipo UNIQUE.  </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Clave externa, ajena o foránea: atributo cuyos valores coinciden con una clave candidata (normalmente primaria) de otra tabla. </a:t>
            </a:r>
          </a:p>
        </p:txBody>
      </p:sp>
      <p:sp>
        <p:nvSpPr>
          <p:cNvPr id="4" name="Marcador de número de diapositiva 3">
            <a:extLst>
              <a:ext uri="{FF2B5EF4-FFF2-40B4-BE49-F238E27FC236}">
                <a16:creationId xmlns:a16="http://schemas.microsoft.com/office/drawing/2014/main" id="{88DDA2C1-1EC6-E177-BBBC-7A6B646BA063}"/>
              </a:ext>
            </a:extLst>
          </p:cNvPr>
          <p:cNvSpPr>
            <a:spLocks noGrp="1"/>
          </p:cNvSpPr>
          <p:nvPr>
            <p:ph type="sldNum" sz="quarter" idx="5"/>
          </p:nvPr>
        </p:nvSpPr>
        <p:spPr/>
        <p:txBody>
          <a:bodyPr/>
          <a:lstStyle/>
          <a:p>
            <a:fld id="{35C2C890-E6DE-1A45-98C6-E722FA6368DA}" type="slidenum">
              <a:rPr lang="es-CL" smtClean="0"/>
              <a:t>9</a:t>
            </a:fld>
            <a:endParaRPr lang="es-CL"/>
          </a:p>
        </p:txBody>
      </p:sp>
    </p:spTree>
    <p:extLst>
      <p:ext uri="{BB962C8B-B14F-4D97-AF65-F5344CB8AC3E}">
        <p14:creationId xmlns:p14="http://schemas.microsoft.com/office/powerpoint/2010/main" val="1555205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1F775-F01C-15C0-B1BA-C93DB5A49B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53B09C-C3C1-264A-DFE5-9FFF6BF9EF8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BEC65E-D969-2054-311E-0023E5A9A946}"/>
              </a:ext>
            </a:extLst>
          </p:cNvPr>
          <p:cNvSpPr>
            <a:spLocks noGrp="1"/>
          </p:cNvSpPr>
          <p:nvPr>
            <p:ph type="body" idx="1"/>
          </p:nvPr>
        </p:nvSpPr>
        <p:spPr/>
        <p:txBody>
          <a:bodyPr/>
          <a:lstStyle/>
          <a:p>
            <a:pPr marL="0" indent="0" algn="just" eaLnBrk="1" hangingPunct="1">
              <a:lnSpc>
                <a:spcPct val="90000"/>
              </a:lnSpc>
              <a:spcBef>
                <a:spcPct val="0"/>
              </a:spcBef>
              <a:buNone/>
            </a:pPr>
            <a:r>
              <a:rPr lang="es-CL" sz="1200" b="1" dirty="0">
                <a:solidFill>
                  <a:prstClr val="white"/>
                </a:solidFill>
                <a:latin typeface="Calibri"/>
              </a:rPr>
              <a:t>Terminología Estructural</a:t>
            </a:r>
          </a:p>
          <a:p>
            <a:pPr marL="171450" indent="-171450" algn="just" eaLnBrk="1" hangingPunct="1">
              <a:lnSpc>
                <a:spcPct val="90000"/>
              </a:lnSpc>
              <a:spcBef>
                <a:spcPct val="0"/>
              </a:spcBef>
              <a:buFont typeface="Arial" panose="020B0604020202020204" pitchFamily="34" charset="0"/>
              <a:buChar char="•"/>
            </a:pPr>
            <a:r>
              <a:rPr lang="es-CL" sz="1200" b="0" i="0" u="none" strike="noStrike" cap="none" baseline="0" dirty="0">
                <a:solidFill>
                  <a:srgbClr val="000000"/>
                </a:solidFill>
                <a:effectLst/>
                <a:latin typeface="Calibri" panose="020F0502020204030204" pitchFamily="34" charset="0"/>
                <a:cs typeface="Arial"/>
                <a:sym typeface="Arial"/>
              </a:rPr>
              <a:t>Restricciones de las Relaciones</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Una restricción es una condición que deben cumplir los datos de la base de datos. </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Las restricciones propias y que son definidas por el hecho de que la base de datos es relacional son:</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No puede haber dos tuplas iguales.</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El orden de las tuplas no es significativo.</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El orden de los atributos no es significativo.</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Cada atributo sólo puede tomar un valor en el dominio en el que está inscrito.</a:t>
            </a:r>
          </a:p>
          <a:p>
            <a:pPr marL="628650" lvl="1" indent="-171450" algn="just" eaLnBrk="1" hangingPunct="1">
              <a:lnSpc>
                <a:spcPct val="90000"/>
              </a:lnSpc>
              <a:spcBef>
                <a:spcPct val="0"/>
              </a:spcBef>
              <a:buFont typeface="Courier New" panose="02070309020205020404" pitchFamily="49" charset="0"/>
              <a:buChar char="o"/>
            </a:pPr>
            <a:r>
              <a:rPr lang="es-CL" sz="1200" b="0" i="0" u="none" strike="noStrike" cap="none" baseline="0" dirty="0">
                <a:solidFill>
                  <a:srgbClr val="000000"/>
                </a:solidFill>
                <a:effectLst/>
                <a:latin typeface="Calibri" panose="020F0502020204030204" pitchFamily="34" charset="0"/>
                <a:cs typeface="Arial"/>
                <a:sym typeface="Arial"/>
              </a:rPr>
              <a:t>Las restricciones incorporadas por los usuarios son:</a:t>
            </a:r>
          </a:p>
          <a:p>
            <a:pPr marL="1085850" lvl="2" indent="-171450" algn="just" eaLnBrk="1" hangingPunct="1">
              <a:lnSpc>
                <a:spcPct val="90000"/>
              </a:lnSpc>
              <a:spcBef>
                <a:spcPct val="0"/>
              </a:spcBef>
              <a:buFont typeface="Arial" panose="020B0604020202020204" pitchFamily="34" charset="0"/>
              <a:buChar char="•"/>
            </a:pPr>
            <a:r>
              <a:rPr lang="es-CL" sz="1200" b="0" i="0" u="none" strike="noStrike" cap="none" baseline="0" dirty="0">
                <a:solidFill>
                  <a:srgbClr val="000000"/>
                </a:solidFill>
                <a:effectLst/>
                <a:latin typeface="Calibri" panose="020F0502020204030204" pitchFamily="34" charset="0"/>
                <a:cs typeface="Arial"/>
                <a:sym typeface="Arial"/>
              </a:rPr>
              <a:t>Clave primaria (PRIMARY KEY): hace que los atributos marcados como clave primaria no puedan tener valores repetidos. Además obliga a que esos atributos deben tener un valor. Si la clave primaria la forman varios atributos, ninguno de ellos podrá estar vacío.</a:t>
            </a:r>
          </a:p>
          <a:p>
            <a:pPr marL="1085850" lvl="2" indent="-171450" algn="just" eaLnBrk="1" hangingPunct="1">
              <a:lnSpc>
                <a:spcPct val="90000"/>
              </a:lnSpc>
              <a:spcBef>
                <a:spcPct val="0"/>
              </a:spcBef>
              <a:buFont typeface="Arial" panose="020B0604020202020204" pitchFamily="34" charset="0"/>
              <a:buChar char="•"/>
            </a:pPr>
            <a:r>
              <a:rPr lang="es-CL" sz="1200" b="0" i="0" u="none" strike="noStrike" cap="none" baseline="0" dirty="0">
                <a:solidFill>
                  <a:srgbClr val="000000"/>
                </a:solidFill>
                <a:effectLst/>
                <a:latin typeface="Calibri" panose="020F0502020204030204" pitchFamily="34" charset="0"/>
                <a:cs typeface="Arial"/>
                <a:sym typeface="Arial"/>
              </a:rPr>
              <a:t>Unicidad (UNIQUE): impide que los valores de los atributos marcados de esta forma puedan repetirse. Esta restricción debe indicarse en todas las claves alternativas.</a:t>
            </a:r>
          </a:p>
          <a:p>
            <a:pPr marL="1085850" lvl="2" indent="-171450" algn="just" eaLnBrk="1" hangingPunct="1">
              <a:lnSpc>
                <a:spcPct val="90000"/>
              </a:lnSpc>
              <a:spcBef>
                <a:spcPct val="0"/>
              </a:spcBef>
              <a:buFont typeface="Arial" panose="020B0604020202020204" pitchFamily="34" charset="0"/>
              <a:buChar char="•"/>
            </a:pPr>
            <a:r>
              <a:rPr lang="es-CL" sz="1200" b="0" i="0" u="none" strike="noStrike" cap="none" baseline="0" dirty="0">
                <a:solidFill>
                  <a:srgbClr val="000000"/>
                </a:solidFill>
                <a:effectLst/>
                <a:latin typeface="Calibri" panose="020F0502020204030204" pitchFamily="34" charset="0"/>
                <a:cs typeface="Arial"/>
                <a:sym typeface="Arial"/>
              </a:rPr>
              <a:t>Obligatoriedad (NOT NULL): obliga que el atributo marcado de esta forma debe tener un valor, es decir impide que pueda contener el valor nulo (</a:t>
            </a:r>
            <a:r>
              <a:rPr lang="es-CL" sz="1200" b="0" i="0" u="none" strike="noStrike" cap="none" baseline="0" dirty="0" err="1">
                <a:solidFill>
                  <a:srgbClr val="000000"/>
                </a:solidFill>
                <a:effectLst/>
                <a:latin typeface="Calibri" panose="020F0502020204030204" pitchFamily="34" charset="0"/>
                <a:cs typeface="Arial"/>
                <a:sym typeface="Arial"/>
              </a:rPr>
              <a:t>null</a:t>
            </a:r>
            <a:r>
              <a:rPr lang="es-CL" sz="1200" b="0" i="0" u="none" strike="noStrike" cap="none" baseline="0" dirty="0">
                <a:solidFill>
                  <a:srgbClr val="000000"/>
                </a:solidFill>
                <a:effectLst/>
                <a:latin typeface="Calibri" panose="020F0502020204030204" pitchFamily="34" charset="0"/>
                <a:cs typeface="Arial"/>
                <a:sym typeface="Arial"/>
              </a:rPr>
              <a:t>). </a:t>
            </a:r>
          </a:p>
          <a:p>
            <a:pPr marL="1085850" lvl="2" indent="-171450" algn="just" eaLnBrk="1" hangingPunct="1">
              <a:lnSpc>
                <a:spcPct val="90000"/>
              </a:lnSpc>
              <a:spcBef>
                <a:spcPct val="0"/>
              </a:spcBef>
              <a:buFont typeface="Arial" panose="020B0604020202020204" pitchFamily="34" charset="0"/>
              <a:buChar char="•"/>
            </a:pPr>
            <a:r>
              <a:rPr lang="es-CL" sz="1200" b="0" i="0" u="none" strike="noStrike" cap="none" baseline="0" dirty="0">
                <a:solidFill>
                  <a:srgbClr val="000000"/>
                </a:solidFill>
                <a:effectLst/>
                <a:latin typeface="Calibri" panose="020F0502020204030204" pitchFamily="34" charset="0"/>
                <a:cs typeface="Arial"/>
                <a:sym typeface="Arial"/>
              </a:rPr>
              <a:t>Integridad referencial (FOREIGN KEY): sirve para indicar una clave externa </a:t>
            </a:r>
            <a:r>
              <a:rPr lang="es-CL" sz="1200" b="0" i="0" u="none" strike="noStrike" cap="none" baseline="0" dirty="0" err="1">
                <a:solidFill>
                  <a:srgbClr val="000000"/>
                </a:solidFill>
                <a:effectLst/>
                <a:latin typeface="Calibri" panose="020F0502020204030204" pitchFamily="34" charset="0"/>
                <a:cs typeface="Arial"/>
                <a:sym typeface="Arial"/>
              </a:rPr>
              <a:t>ó</a:t>
            </a:r>
            <a:r>
              <a:rPr lang="es-CL" sz="1200" b="0" i="0" u="none" strike="noStrike" cap="none" baseline="0" dirty="0">
                <a:solidFill>
                  <a:srgbClr val="000000"/>
                </a:solidFill>
                <a:effectLst/>
                <a:latin typeface="Calibri" panose="020F0502020204030204" pitchFamily="34" charset="0"/>
                <a:cs typeface="Arial"/>
                <a:sym typeface="Arial"/>
              </a:rPr>
              <a:t> foránea. Cuando una clave se marca con integridad referencial no se podrán introducir valores que no estén incluidos en los atributos relacionados con esa clave de la relación “padre”. Esto último causa problemas en las operaciones de borrado y modificación de registros, ya que si se ejecutan esas operaciones sobre la tabla principal quedarán filas en la tabla secundaria con la clave externa sin integridad.</a:t>
            </a:r>
          </a:p>
        </p:txBody>
      </p:sp>
      <p:sp>
        <p:nvSpPr>
          <p:cNvPr id="4" name="Marcador de número de diapositiva 3">
            <a:extLst>
              <a:ext uri="{FF2B5EF4-FFF2-40B4-BE49-F238E27FC236}">
                <a16:creationId xmlns:a16="http://schemas.microsoft.com/office/drawing/2014/main" id="{8E487CE2-5FB6-B489-B8C7-95BF680FFEAD}"/>
              </a:ext>
            </a:extLst>
          </p:cNvPr>
          <p:cNvSpPr>
            <a:spLocks noGrp="1"/>
          </p:cNvSpPr>
          <p:nvPr>
            <p:ph type="sldNum" sz="quarter" idx="5"/>
          </p:nvPr>
        </p:nvSpPr>
        <p:spPr/>
        <p:txBody>
          <a:bodyPr/>
          <a:lstStyle/>
          <a:p>
            <a:fld id="{35C2C890-E6DE-1A45-98C6-E722FA6368DA}" type="slidenum">
              <a:rPr lang="es-CL" smtClean="0"/>
              <a:t>10</a:t>
            </a:fld>
            <a:endParaRPr lang="es-CL"/>
          </a:p>
        </p:txBody>
      </p:sp>
    </p:spTree>
    <p:extLst>
      <p:ext uri="{BB962C8B-B14F-4D97-AF65-F5344CB8AC3E}">
        <p14:creationId xmlns:p14="http://schemas.microsoft.com/office/powerpoint/2010/main" val="998358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15</a:t>
            </a:fld>
            <a:endParaRPr lang="es-CL"/>
          </a:p>
        </p:txBody>
      </p:sp>
    </p:spTree>
    <p:extLst>
      <p:ext uri="{BB962C8B-B14F-4D97-AF65-F5344CB8AC3E}">
        <p14:creationId xmlns:p14="http://schemas.microsoft.com/office/powerpoint/2010/main" val="3426963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16</a:t>
            </a:fld>
            <a:endParaRPr lang="es-CL"/>
          </a:p>
        </p:txBody>
      </p:sp>
    </p:spTree>
    <p:extLst>
      <p:ext uri="{BB962C8B-B14F-4D97-AF65-F5344CB8AC3E}">
        <p14:creationId xmlns:p14="http://schemas.microsoft.com/office/powerpoint/2010/main" val="685087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17</a:t>
            </a:fld>
            <a:endParaRPr lang="es-CL"/>
          </a:p>
        </p:txBody>
      </p:sp>
    </p:spTree>
    <p:extLst>
      <p:ext uri="{BB962C8B-B14F-4D97-AF65-F5344CB8AC3E}">
        <p14:creationId xmlns:p14="http://schemas.microsoft.com/office/powerpoint/2010/main" val="348929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lnSpc>
                <a:spcPct val="80000"/>
              </a:lnSpc>
              <a:spcBef>
                <a:spcPct val="0"/>
              </a:spcBef>
            </a:pPr>
            <a:r>
              <a:rPr lang="es-MX" sz="200" b="1" dirty="0">
                <a:latin typeface="Times New Roman" pitchFamily="18" charset="0"/>
              </a:rPr>
              <a:t>Transformación de Entidad Fuerte</a:t>
            </a:r>
          </a:p>
          <a:p>
            <a:pPr marL="285750" indent="-285750" algn="just" eaLnBrk="1" hangingPunct="1">
              <a:lnSpc>
                <a:spcPct val="80000"/>
              </a:lnSpc>
              <a:spcBef>
                <a:spcPct val="0"/>
              </a:spcBef>
              <a:buFont typeface="Wingdings" panose="05000000000000000000" pitchFamily="2" charset="2"/>
              <a:buChar char="§"/>
            </a:pPr>
            <a:r>
              <a:rPr lang="es-ES" sz="800" dirty="0">
                <a:latin typeface="Times New Roman" pitchFamily="18" charset="0"/>
              </a:rPr>
              <a:t>Toda </a:t>
            </a:r>
            <a:r>
              <a:rPr lang="es-ES" sz="800" b="1" dirty="0">
                <a:latin typeface="Times New Roman" pitchFamily="18" charset="0"/>
              </a:rPr>
              <a:t>Entidad </a:t>
            </a:r>
            <a:r>
              <a:rPr lang="es-ES" sz="800" dirty="0">
                <a:latin typeface="Times New Roman" pitchFamily="18" charset="0"/>
              </a:rPr>
              <a:t>del Modelo E/R </a:t>
            </a:r>
            <a:r>
              <a:rPr lang="es-ES" sz="800" b="1" dirty="0">
                <a:latin typeface="Times New Roman" pitchFamily="18" charset="0"/>
              </a:rPr>
              <a:t>se transforma en Relación </a:t>
            </a:r>
            <a:r>
              <a:rPr lang="es-ES" sz="800" dirty="0">
                <a:latin typeface="Times New Roman" pitchFamily="18" charset="0"/>
              </a:rPr>
              <a:t>o Tabla en el Modelo Relacional.</a:t>
            </a:r>
          </a:p>
          <a:p>
            <a:pPr marL="285750" indent="-285750" algn="just" eaLnBrk="1" hangingPunct="1">
              <a:lnSpc>
                <a:spcPct val="80000"/>
              </a:lnSpc>
              <a:spcBef>
                <a:spcPct val="0"/>
              </a:spcBef>
              <a:buFont typeface="Wingdings" panose="05000000000000000000" pitchFamily="2" charset="2"/>
              <a:buChar char="§"/>
            </a:pPr>
            <a:r>
              <a:rPr lang="es-ES" sz="800" dirty="0">
                <a:latin typeface="Times New Roman" pitchFamily="18" charset="0"/>
              </a:rPr>
              <a:t>En la forma no gráfica del Modelo Relacional, se le debe colocar el nombre de la Relación (que debería ser el mismo nombre de la Entidad).</a:t>
            </a:r>
          </a:p>
          <a:p>
            <a:pPr marL="285750" indent="-285750" algn="just" eaLnBrk="1" hangingPunct="1">
              <a:lnSpc>
                <a:spcPct val="80000"/>
              </a:lnSpc>
              <a:spcBef>
                <a:spcPct val="0"/>
              </a:spcBef>
              <a:buFont typeface="Wingdings" panose="05000000000000000000" pitchFamily="2" charset="2"/>
              <a:buChar char="§"/>
            </a:pPr>
            <a:r>
              <a:rPr lang="es-CL" sz="800" dirty="0">
                <a:latin typeface="Times New Roman" pitchFamily="18" charset="0"/>
              </a:rPr>
              <a:t>Los </a:t>
            </a:r>
            <a:r>
              <a:rPr lang="es-CL" sz="800" b="1" dirty="0">
                <a:latin typeface="Times New Roman" pitchFamily="18" charset="0"/>
              </a:rPr>
              <a:t>atributos de las entidades </a:t>
            </a:r>
            <a:r>
              <a:rPr lang="es-CL" sz="800" dirty="0">
                <a:latin typeface="Times New Roman" pitchFamily="18" charset="0"/>
              </a:rPr>
              <a:t>del Modelo E/R </a:t>
            </a:r>
            <a:r>
              <a:rPr lang="es-CL" sz="800" b="1" dirty="0">
                <a:latin typeface="Times New Roman" pitchFamily="18" charset="0"/>
              </a:rPr>
              <a:t>se </a:t>
            </a:r>
            <a:r>
              <a:rPr lang="es-ES" sz="800" b="1" dirty="0">
                <a:latin typeface="Times New Roman" pitchFamily="18" charset="0"/>
              </a:rPr>
              <a:t>transforman en atributos o columnas de la Relación</a:t>
            </a:r>
            <a:r>
              <a:rPr lang="es-ES" sz="800" dirty="0">
                <a:latin typeface="Times New Roman" pitchFamily="18" charset="0"/>
              </a:rPr>
              <a:t> en el Modelo Relacional. </a:t>
            </a:r>
          </a:p>
          <a:p>
            <a:pPr marL="285750" indent="-285750" algn="just" eaLnBrk="1" hangingPunct="1">
              <a:lnSpc>
                <a:spcPct val="80000"/>
              </a:lnSpc>
              <a:spcBef>
                <a:spcPct val="0"/>
              </a:spcBef>
              <a:buFont typeface="Wingdings" panose="05000000000000000000" pitchFamily="2" charset="2"/>
              <a:buChar char="§"/>
            </a:pPr>
            <a:r>
              <a:rPr lang="es-ES" sz="800" dirty="0">
                <a:latin typeface="Times New Roman" pitchFamily="18" charset="0"/>
              </a:rPr>
              <a:t>En la forma no gráfica del Modelo Relacional, los atributos se colocan entre paréntesis a continuación del nombre de la Relación y separados por coma.</a:t>
            </a:r>
          </a:p>
          <a:p>
            <a:pPr marL="285750" indent="-285750" algn="just" eaLnBrk="1" hangingPunct="1">
              <a:lnSpc>
                <a:spcPct val="80000"/>
              </a:lnSpc>
              <a:spcBef>
                <a:spcPct val="0"/>
              </a:spcBef>
              <a:buFont typeface="Wingdings" panose="05000000000000000000" pitchFamily="2" charset="2"/>
              <a:buChar char="§"/>
            </a:pPr>
            <a:r>
              <a:rPr lang="es-CL" sz="800" dirty="0">
                <a:latin typeface="Times New Roman" pitchFamily="18" charset="0"/>
              </a:rPr>
              <a:t>Los a</a:t>
            </a:r>
            <a:r>
              <a:rPr lang="es-ES" sz="800" b="1" dirty="0">
                <a:latin typeface="Times New Roman" pitchFamily="18" charset="0"/>
              </a:rPr>
              <a:t>tributos Identificadores Únicos</a:t>
            </a:r>
            <a:r>
              <a:rPr lang="es-ES" sz="800" dirty="0">
                <a:latin typeface="Times New Roman" pitchFamily="18" charset="0"/>
              </a:rPr>
              <a:t> </a:t>
            </a:r>
            <a:r>
              <a:rPr lang="es-ES" sz="800" b="1" dirty="0">
                <a:latin typeface="Times New Roman" pitchFamily="18" charset="0"/>
              </a:rPr>
              <a:t>de las Entidades</a:t>
            </a:r>
            <a:r>
              <a:rPr lang="es-ES" sz="800" dirty="0">
                <a:latin typeface="Times New Roman" pitchFamily="18" charset="0"/>
              </a:rPr>
              <a:t> del Modelo E/R</a:t>
            </a:r>
            <a:r>
              <a:rPr lang="es-ES" sz="800" b="1" dirty="0">
                <a:latin typeface="Times New Roman" pitchFamily="18" charset="0"/>
              </a:rPr>
              <a:t> </a:t>
            </a:r>
            <a:r>
              <a:rPr lang="es-ES" sz="800" dirty="0">
                <a:latin typeface="Times New Roman" pitchFamily="18" charset="0"/>
              </a:rPr>
              <a:t> </a:t>
            </a:r>
            <a:r>
              <a:rPr lang="es-ES" sz="800" b="1" dirty="0">
                <a:latin typeface="Times New Roman" pitchFamily="18" charset="0"/>
              </a:rPr>
              <a:t>se transforman en  la Clave Primaria (PK) de la Relación </a:t>
            </a:r>
            <a:r>
              <a:rPr lang="es-ES" sz="800" dirty="0">
                <a:latin typeface="Times New Roman" pitchFamily="18" charset="0"/>
              </a:rPr>
              <a:t>del Modelo Relacional.</a:t>
            </a:r>
          </a:p>
          <a:p>
            <a:pPr marL="285750" indent="-285750" algn="just" eaLnBrk="1" hangingPunct="1">
              <a:lnSpc>
                <a:spcPct val="80000"/>
              </a:lnSpc>
              <a:spcBef>
                <a:spcPct val="0"/>
              </a:spcBef>
              <a:buFont typeface="Wingdings" panose="05000000000000000000" pitchFamily="2" charset="2"/>
              <a:buChar char="§"/>
            </a:pPr>
            <a:r>
              <a:rPr lang="es-CL" sz="800" dirty="0">
                <a:latin typeface="Times New Roman" pitchFamily="18" charset="0"/>
              </a:rPr>
              <a:t>Por lo general el formato del nombre de la clave primaria es: </a:t>
            </a:r>
            <a:r>
              <a:rPr lang="es-CL" sz="800" b="1" dirty="0" err="1">
                <a:latin typeface="Times New Roman" pitchFamily="18" charset="0"/>
              </a:rPr>
              <a:t>PK_</a:t>
            </a:r>
            <a:r>
              <a:rPr lang="es-CL" sz="800" b="1" i="1" dirty="0" err="1">
                <a:latin typeface="Times New Roman" pitchFamily="18" charset="0"/>
              </a:rPr>
              <a:t>nombretabla</a:t>
            </a:r>
            <a:r>
              <a:rPr lang="es-CL" sz="800" dirty="0">
                <a:latin typeface="Times New Roman" pitchFamily="18" charset="0"/>
              </a:rPr>
              <a:t>. </a:t>
            </a:r>
            <a:r>
              <a:rPr lang="es-ES" sz="800" dirty="0">
                <a:latin typeface="Times New Roman" pitchFamily="18" charset="0"/>
              </a:rPr>
              <a:t>En la forma no gráfica la(s) columna(s) que son parte de la clave primaria de la Relación se debe(n) subrayar.</a:t>
            </a:r>
          </a:p>
          <a:p>
            <a:pPr marL="171450" indent="-171450" eaLnBrk="1" hangingPunct="1">
              <a:lnSpc>
                <a:spcPct val="80000"/>
              </a:lnSpc>
              <a:spcBef>
                <a:spcPct val="0"/>
              </a:spcBef>
              <a:buFont typeface="Wingdings" panose="05000000000000000000" pitchFamily="2" charset="2"/>
              <a:buChar char="§"/>
            </a:pPr>
            <a:r>
              <a:rPr lang="es-ES" sz="200" dirty="0">
                <a:latin typeface="Times New Roman" pitchFamily="18" charset="0"/>
              </a:rPr>
              <a:t>   En el </a:t>
            </a:r>
            <a:r>
              <a:rPr lang="es-MX" sz="200" dirty="0">
                <a:latin typeface="Times New Roman" pitchFamily="18" charset="0"/>
              </a:rPr>
              <a:t>Ejemplo, la entidad </a:t>
            </a:r>
            <a:r>
              <a:rPr lang="es-MX" sz="200" b="1" dirty="0">
                <a:latin typeface="Times New Roman" pitchFamily="18" charset="0"/>
              </a:rPr>
              <a:t>EMPLEADO</a:t>
            </a:r>
            <a:r>
              <a:rPr lang="es-MX" sz="200" dirty="0">
                <a:latin typeface="Times New Roman" pitchFamily="18" charset="0"/>
              </a:rPr>
              <a:t> del Modelo E/R </a:t>
            </a:r>
            <a:r>
              <a:rPr lang="es-MX" sz="200" b="1" dirty="0">
                <a:latin typeface="Times New Roman" pitchFamily="18" charset="0"/>
              </a:rPr>
              <a:t>se transforma en la Relación EMPLEADO</a:t>
            </a:r>
            <a:r>
              <a:rPr lang="es-MX" sz="200" dirty="0">
                <a:latin typeface="Times New Roman" pitchFamily="18" charset="0"/>
              </a:rPr>
              <a:t> en el Modelo Relacional. </a:t>
            </a:r>
            <a:r>
              <a:rPr lang="es-MX" sz="200" b="1" dirty="0">
                <a:latin typeface="Times New Roman" pitchFamily="18" charset="0"/>
              </a:rPr>
              <a:t>El atributo identificador único de la entidad se transforma en la Clave Primaria de la Relación</a:t>
            </a:r>
            <a:r>
              <a:rPr lang="es-MX" sz="200" dirty="0">
                <a:latin typeface="Times New Roman" pitchFamily="18" charset="0"/>
              </a:rPr>
              <a:t> (marcada con una </a:t>
            </a:r>
            <a:r>
              <a:rPr lang="es-MX" sz="200" b="1" dirty="0">
                <a:latin typeface="Times New Roman" pitchFamily="18" charset="0"/>
              </a:rPr>
              <a:t>P</a:t>
            </a:r>
            <a:r>
              <a:rPr lang="es-MX" sz="200" dirty="0">
                <a:latin typeface="Times New Roman" pitchFamily="18" charset="0"/>
              </a:rPr>
              <a:t> en el Modelo Relacional gráfico).</a:t>
            </a:r>
            <a:endParaRPr lang="es-MX" sz="700" b="1" dirty="0">
              <a:latin typeface="Times New Roman" pitchFamily="18" charset="0"/>
            </a:endParaRPr>
          </a:p>
        </p:txBody>
      </p:sp>
      <p:sp>
        <p:nvSpPr>
          <p:cNvPr id="4" name="Marcador de número de diapositiva 3"/>
          <p:cNvSpPr>
            <a:spLocks noGrp="1"/>
          </p:cNvSpPr>
          <p:nvPr>
            <p:ph type="sldNum" sz="quarter" idx="5"/>
          </p:nvPr>
        </p:nvSpPr>
        <p:spPr/>
        <p:txBody>
          <a:bodyPr/>
          <a:lstStyle/>
          <a:p>
            <a:fld id="{35C2C890-E6DE-1A45-98C6-E722FA6368DA}" type="slidenum">
              <a:rPr lang="es-CL" smtClean="0"/>
              <a:t>19</a:t>
            </a:fld>
            <a:endParaRPr lang="es-CL"/>
          </a:p>
        </p:txBody>
      </p:sp>
    </p:spTree>
    <p:extLst>
      <p:ext uri="{BB962C8B-B14F-4D97-AF65-F5344CB8AC3E}">
        <p14:creationId xmlns:p14="http://schemas.microsoft.com/office/powerpoint/2010/main" val="266709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sz="1200" b="1" dirty="0"/>
              <a:t>Transformación Relaciones 1:M</a:t>
            </a:r>
          </a:p>
          <a:p>
            <a:pPr marL="171450" indent="-171450">
              <a:buFont typeface="Wingdings" panose="05000000000000000000" pitchFamily="2" charset="2"/>
              <a:buChar char="§"/>
            </a:pPr>
            <a:r>
              <a:rPr lang="es-CL" sz="1200" dirty="0"/>
              <a:t>La Relación del lado </a:t>
            </a:r>
            <a:r>
              <a:rPr lang="es-CL" sz="1200" b="1" dirty="0"/>
              <a:t>muchos (tabla relacionada) </a:t>
            </a:r>
            <a:r>
              <a:rPr lang="es-CL" sz="1200" dirty="0"/>
              <a:t>incluye como clave externa o foránea </a:t>
            </a:r>
            <a:r>
              <a:rPr lang="es-CL" sz="1200" b="1" dirty="0"/>
              <a:t>(FK) </a:t>
            </a:r>
            <a:r>
              <a:rPr lang="es-CL" sz="1200" dirty="0"/>
              <a:t>las columnas que forman la clave primaria de la Relación del lado </a:t>
            </a:r>
            <a:r>
              <a:rPr lang="es-CL" sz="1200" b="1" dirty="0"/>
              <a:t>uno (relación principal)</a:t>
            </a:r>
            <a:r>
              <a:rPr lang="es-CL" sz="1200" dirty="0"/>
              <a:t>. A esta clave foránea se le debe asignar un nombre.</a:t>
            </a:r>
          </a:p>
          <a:p>
            <a:pPr marL="171450" indent="-171450">
              <a:buFont typeface="Wingdings" panose="05000000000000000000" pitchFamily="2" charset="2"/>
              <a:buChar char="§"/>
            </a:pPr>
            <a:r>
              <a:rPr lang="es-CL" sz="1200" dirty="0"/>
              <a:t>Por lo general el formato del nombre de la clave foránea es: </a:t>
            </a:r>
            <a:r>
              <a:rPr lang="es-CL" sz="1200" b="1" i="1" dirty="0" err="1"/>
              <a:t>FK_tablarelacionada_tablaprincipal</a:t>
            </a:r>
            <a:r>
              <a:rPr lang="es-CL" sz="1200" b="1" i="1" dirty="0"/>
              <a:t>.</a:t>
            </a:r>
          </a:p>
          <a:p>
            <a:pPr marL="171450" indent="-171450">
              <a:buFont typeface="Wingdings" panose="05000000000000000000" pitchFamily="2" charset="2"/>
              <a:buChar char="§"/>
            </a:pPr>
            <a:r>
              <a:rPr lang="es-CL" sz="1200" dirty="0"/>
              <a:t>En la forma gráfica del Modelo Relacional, la punta de la flecha indica la </a:t>
            </a:r>
            <a:r>
              <a:rPr lang="es-CL" sz="1200" b="1" dirty="0"/>
              <a:t>tabla principal</a:t>
            </a:r>
            <a:r>
              <a:rPr lang="es-CL" sz="1200" dirty="0"/>
              <a:t> que contiene la(s) columna(s) de clave primaria que con referenciadas por la </a:t>
            </a:r>
            <a:r>
              <a:rPr lang="es-CL" sz="1200" b="1" dirty="0"/>
              <a:t>tabla relacionada</a:t>
            </a:r>
            <a:r>
              <a:rPr lang="es-CL" sz="1200" dirty="0"/>
              <a:t>. La columna clave foráneas además aparece marcada con una </a:t>
            </a:r>
            <a:r>
              <a:rPr lang="es-CL" sz="1200" b="1" dirty="0"/>
              <a:t>F.</a:t>
            </a:r>
          </a:p>
          <a:p>
            <a:pPr marL="171450" indent="-171450">
              <a:buFont typeface="Wingdings" panose="05000000000000000000" pitchFamily="2" charset="2"/>
              <a:buChar char="§"/>
            </a:pPr>
            <a:r>
              <a:rPr lang="es-CL" sz="1200" dirty="0"/>
              <a:t>En la </a:t>
            </a:r>
            <a:r>
              <a:rPr lang="es-CL" sz="1200" b="1" dirty="0"/>
              <a:t>forma no gráfica</a:t>
            </a:r>
            <a:r>
              <a:rPr lang="es-CL" sz="1200" dirty="0"/>
              <a:t>, la(s) columna(s) que conforman la </a:t>
            </a:r>
            <a:r>
              <a:rPr lang="es-CL" sz="1200" b="1" dirty="0"/>
              <a:t>clave</a:t>
            </a:r>
            <a:r>
              <a:rPr lang="es-CL" sz="1200" dirty="0"/>
              <a:t> </a:t>
            </a:r>
            <a:r>
              <a:rPr lang="es-CL" sz="1200" b="1" dirty="0"/>
              <a:t>foránea se marcan con un asterisco </a:t>
            </a:r>
            <a:r>
              <a:rPr lang="es-CL" sz="1200" dirty="0"/>
              <a:t>*.</a:t>
            </a:r>
          </a:p>
          <a:p>
            <a:pPr marL="171450" indent="-171450" algn="just" eaLnBrk="1" hangingPunct="1">
              <a:buFont typeface="Wingdings" panose="05000000000000000000" pitchFamily="2" charset="2"/>
              <a:buChar char="§"/>
            </a:pPr>
            <a:r>
              <a:rPr lang="es-CL" sz="1200" dirty="0">
                <a:latin typeface="Times New Roman" pitchFamily="18" charset="0"/>
              </a:rPr>
              <a:t>En el ejemplo, la columna </a:t>
            </a:r>
            <a:r>
              <a:rPr lang="es-CL" sz="1200" b="1" dirty="0" err="1">
                <a:latin typeface="Times New Roman" pitchFamily="18" charset="0"/>
              </a:rPr>
              <a:t>codigo</a:t>
            </a:r>
            <a:r>
              <a:rPr lang="es-CL" sz="1200" dirty="0">
                <a:latin typeface="Times New Roman" pitchFamily="18" charset="0"/>
              </a:rPr>
              <a:t> de la relación DEPARTAMENTO es incluida como columna de la Relación EMPLEADO y además es Clave Foránea.</a:t>
            </a:r>
            <a:endParaRPr lang="es-ES" sz="1200" dirty="0">
              <a:latin typeface="Times New Roman" pitchFamily="18" charset="0"/>
            </a:endParaRPr>
          </a:p>
        </p:txBody>
      </p:sp>
      <p:sp>
        <p:nvSpPr>
          <p:cNvPr id="4" name="Marcador de número de diapositiva 3"/>
          <p:cNvSpPr>
            <a:spLocks noGrp="1"/>
          </p:cNvSpPr>
          <p:nvPr>
            <p:ph type="sldNum" sz="quarter" idx="5"/>
          </p:nvPr>
        </p:nvSpPr>
        <p:spPr/>
        <p:txBody>
          <a:bodyPr/>
          <a:lstStyle/>
          <a:p>
            <a:fld id="{35C2C890-E6DE-1A45-98C6-E722FA6368DA}" type="slidenum">
              <a:rPr lang="es-CL" smtClean="0"/>
              <a:t>20</a:t>
            </a:fld>
            <a:endParaRPr lang="es-CL"/>
          </a:p>
        </p:txBody>
      </p:sp>
    </p:spTree>
    <p:extLst>
      <p:ext uri="{BB962C8B-B14F-4D97-AF65-F5344CB8AC3E}">
        <p14:creationId xmlns:p14="http://schemas.microsoft.com/office/powerpoint/2010/main" val="3991760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gn="just" eaLnBrk="1" hangingPunct="1">
              <a:spcBef>
                <a:spcPct val="0"/>
              </a:spcBef>
            </a:pPr>
            <a:r>
              <a:rPr lang="es-CL" sz="1200" b="1" dirty="0">
                <a:latin typeface="Times New Roman" pitchFamily="18" charset="0"/>
              </a:rPr>
              <a:t>Transformación Relaciones M:M</a:t>
            </a:r>
            <a:endParaRPr lang="es-CL" sz="1200" dirty="0">
              <a:latin typeface="Times New Roman" pitchFamily="18" charset="0"/>
            </a:endParaRPr>
          </a:p>
          <a:p>
            <a:pPr marL="171450" indent="-171450">
              <a:buFont typeface="Wingdings" panose="05000000000000000000" pitchFamily="2" charset="2"/>
              <a:buChar char="§"/>
            </a:pPr>
            <a:r>
              <a:rPr lang="es-CL" sz="1200" dirty="0"/>
              <a:t>Para las relaciones Muchos a Muchos del modelo E/R que no pudieron ser eliminadas se debe generar una Relación Intermedia en el Modelo Relacional a la cual de le debe asignar un nombre adecuado.</a:t>
            </a:r>
          </a:p>
          <a:p>
            <a:pPr marL="171450" indent="-171450">
              <a:buFont typeface="Wingdings" panose="05000000000000000000" pitchFamily="2" charset="2"/>
              <a:buChar char="§"/>
            </a:pPr>
            <a:r>
              <a:rPr lang="es-CL" sz="1200" dirty="0"/>
              <a:t>La Relación de intersección o intermedia contiene dos claves externas (claves foráneas), cada una referencia a la clave primaria de las tablas originales. En la forma no gráfica, la(s) columna(s) que conforman la clave foránea se marcan con un asterisco *.</a:t>
            </a:r>
          </a:p>
          <a:p>
            <a:pPr marL="171450" indent="-171450">
              <a:buFont typeface="Wingdings" panose="05000000000000000000" pitchFamily="2" charset="2"/>
              <a:buChar char="§"/>
            </a:pPr>
            <a:r>
              <a:rPr lang="es-CL" sz="1200" dirty="0"/>
              <a:t>Ambas claves externas (foráneas) además componen la clave primaria de la Relación intermedia a la cual se le debe asignar un nombre adecuado. En la forma no gráfica se deben subrayar.</a:t>
            </a:r>
            <a:endParaRPr lang="es-CL" sz="1200" b="1" dirty="0">
              <a:latin typeface="Times New Roman" pitchFamily="18" charset="0"/>
            </a:endParaRPr>
          </a:p>
          <a:p>
            <a:pPr marL="171450" indent="-171450">
              <a:buFont typeface="Wingdings" panose="05000000000000000000" pitchFamily="2" charset="2"/>
              <a:buChar char="§"/>
            </a:pPr>
            <a:r>
              <a:rPr lang="es-CL" sz="1200" dirty="0">
                <a:latin typeface="Times New Roman" pitchFamily="18" charset="0"/>
              </a:rPr>
              <a:t>En el ejemplo, se crea la Relación intermedia ASIGNATURA_DICTA con las columnas de claves primarias de las Relaciones ASIGNATURA y PROFESOR (ambas columnas son PK y FK).</a:t>
            </a:r>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21</a:t>
            </a:fld>
            <a:endParaRPr lang="es-CL"/>
          </a:p>
        </p:txBody>
      </p:sp>
    </p:spTree>
    <p:extLst>
      <p:ext uri="{BB962C8B-B14F-4D97-AF65-F5344CB8AC3E}">
        <p14:creationId xmlns:p14="http://schemas.microsoft.com/office/powerpoint/2010/main" val="3061736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nSpc>
                <a:spcPct val="90000"/>
              </a:lnSpc>
            </a:pPr>
            <a:r>
              <a:rPr lang="es-CL" sz="1200" b="1" dirty="0"/>
              <a:t>Transformación Relaciones 1:1</a:t>
            </a:r>
          </a:p>
          <a:p>
            <a:pPr marL="609600" indent="-609600">
              <a:lnSpc>
                <a:spcPct val="90000"/>
              </a:lnSpc>
              <a:buFont typeface="Arial" panose="020B0604020202020204" pitchFamily="34" charset="0"/>
              <a:buChar char="•"/>
            </a:pPr>
            <a:r>
              <a:rPr lang="es-CL" sz="1200" dirty="0"/>
              <a:t>Las relaciones uno a uno en el Modelo E/R son poco comunes. En muchos casos puede implicar que las dos entidades son en realidad una sola y se deben unir.</a:t>
            </a:r>
          </a:p>
          <a:p>
            <a:pPr marL="609600" indent="-609600">
              <a:lnSpc>
                <a:spcPct val="90000"/>
              </a:lnSpc>
              <a:buFont typeface="Arial" panose="020B0604020202020204" pitchFamily="34" charset="0"/>
              <a:buChar char="•"/>
            </a:pPr>
            <a:r>
              <a:rPr lang="es-CL" sz="1200" dirty="0"/>
              <a:t>Si se debe mantener la relación 1:1, se coloca como clave externa o foránea  en una de las Relaciones del Modelo Relacional la(s) columna(s) que conforman la clave primaria de la otra Relación (en principio daría igual en cuál de las Relaciones) .</a:t>
            </a:r>
          </a:p>
          <a:p>
            <a:pPr marL="609600" indent="-609600">
              <a:lnSpc>
                <a:spcPct val="90000"/>
              </a:lnSpc>
              <a:buFont typeface="Arial" panose="020B0604020202020204" pitchFamily="34" charset="0"/>
              <a:buChar char="•"/>
            </a:pPr>
            <a:r>
              <a:rPr lang="es-CL" sz="1200" dirty="0"/>
              <a:t>En el caso de que una entidad participe opcionalmente en la relación, entonces es el identificador de esta entidad el que se colocará como clave externa o foránea en la Relación que representa a la otra entidad.</a:t>
            </a:r>
            <a:endParaRPr lang="es-CL" sz="1200" dirty="0">
              <a:latin typeface="Times New Roman" pitchFamily="18" charset="0"/>
            </a:endParaRPr>
          </a:p>
          <a:p>
            <a:pPr marL="609600" indent="-609600">
              <a:lnSpc>
                <a:spcPct val="90000"/>
              </a:lnSpc>
              <a:buFont typeface="Arial" panose="020B0604020202020204" pitchFamily="34" charset="0"/>
              <a:buChar char="•"/>
            </a:pPr>
            <a:r>
              <a:rPr lang="es-CL" sz="1200" dirty="0">
                <a:latin typeface="Times New Roman" pitchFamily="18" charset="0"/>
              </a:rPr>
              <a:t>En el ejemplo, la relación del EMPLEADO con CONYUGE es opcional, por lo tanto al transformar al Modelo Relacional la clave primaria de EMPLEADO se convierte en una columna más de CONYUGE y además es clave foránea.</a:t>
            </a:r>
          </a:p>
        </p:txBody>
      </p:sp>
      <p:sp>
        <p:nvSpPr>
          <p:cNvPr id="4" name="Marcador de número de diapositiva 3"/>
          <p:cNvSpPr>
            <a:spLocks noGrp="1"/>
          </p:cNvSpPr>
          <p:nvPr>
            <p:ph type="sldNum" sz="quarter" idx="5"/>
          </p:nvPr>
        </p:nvSpPr>
        <p:spPr/>
        <p:txBody>
          <a:bodyPr/>
          <a:lstStyle/>
          <a:p>
            <a:fld id="{35C2C890-E6DE-1A45-98C6-E722FA6368DA}" type="slidenum">
              <a:rPr lang="es-CL" smtClean="0"/>
              <a:t>22</a:t>
            </a:fld>
            <a:endParaRPr lang="es-CL"/>
          </a:p>
        </p:txBody>
      </p:sp>
    </p:spTree>
    <p:extLst>
      <p:ext uri="{BB962C8B-B14F-4D97-AF65-F5344CB8AC3E}">
        <p14:creationId xmlns:p14="http://schemas.microsoft.com/office/powerpoint/2010/main" val="3716399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gn="just" eaLnBrk="1" hangingPunct="1">
              <a:spcBef>
                <a:spcPct val="0"/>
              </a:spcBef>
            </a:pPr>
            <a:r>
              <a:rPr lang="es-CL" sz="1200" b="1" dirty="0">
                <a:latin typeface="Times New Roman" pitchFamily="18" charset="0"/>
              </a:rPr>
              <a:t>Transformación Relaciones Recursivas</a:t>
            </a:r>
          </a:p>
          <a:p>
            <a:pPr marL="171450" indent="-171450" algn="just" eaLnBrk="1" hangingPunct="1">
              <a:spcBef>
                <a:spcPct val="0"/>
              </a:spcBef>
              <a:buFont typeface="Arial" panose="020B0604020202020204" pitchFamily="34" charset="0"/>
              <a:buChar char="•"/>
            </a:pPr>
            <a:r>
              <a:rPr lang="es-CL" sz="1200" dirty="0">
                <a:latin typeface="Times New Roman" pitchFamily="18" charset="0"/>
              </a:rPr>
              <a:t>Las relaciones recursivas se tratan de la misma forma que las otras, sólo que el atributo identificador único puede figurar dos veces en una Relación como resultado de la transformación y además es clave foránea. Por ello, se le debe asignar otro nombre a esa columna. </a:t>
            </a:r>
          </a:p>
          <a:p>
            <a:pPr marL="171450" indent="-171450" algn="just" eaLnBrk="1" hangingPunct="1">
              <a:spcBef>
                <a:spcPct val="0"/>
              </a:spcBef>
              <a:buFont typeface="Arial" panose="020B0604020202020204" pitchFamily="34" charset="0"/>
              <a:buChar char="•"/>
            </a:pPr>
            <a:r>
              <a:rPr lang="es-CL" sz="1200" dirty="0">
                <a:latin typeface="Times New Roman" pitchFamily="18" charset="0"/>
              </a:rPr>
              <a:t>En el ejemplo el atributo rut se transformará en otra columna de la relación </a:t>
            </a:r>
            <a:r>
              <a:rPr lang="es-CL" sz="1200" b="1" dirty="0">
                <a:latin typeface="Times New Roman" pitchFamily="18" charset="0"/>
              </a:rPr>
              <a:t>EMPLEADO</a:t>
            </a:r>
            <a:r>
              <a:rPr lang="es-CL" sz="1200" dirty="0">
                <a:latin typeface="Times New Roman" pitchFamily="18" charset="0"/>
              </a:rPr>
              <a:t> en el Modelo Relacional y además será clave foránea. Por lo tanto, se le asigna el nombre de </a:t>
            </a:r>
            <a:r>
              <a:rPr lang="es-CL" sz="1200" b="1" dirty="0" err="1">
                <a:latin typeface="Times New Roman" pitchFamily="18" charset="0"/>
              </a:rPr>
              <a:t>numrut_jefe</a:t>
            </a:r>
            <a:r>
              <a:rPr lang="es-CL" sz="1200" dirty="0">
                <a:latin typeface="Times New Roman" pitchFamily="18" charset="0"/>
              </a:rPr>
              <a:t>.</a:t>
            </a:r>
          </a:p>
          <a:p>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23</a:t>
            </a:fld>
            <a:endParaRPr lang="es-CL"/>
          </a:p>
        </p:txBody>
      </p:sp>
    </p:spTree>
    <p:extLst>
      <p:ext uri="{BB962C8B-B14F-4D97-AF65-F5344CB8AC3E}">
        <p14:creationId xmlns:p14="http://schemas.microsoft.com/office/powerpoint/2010/main" val="4131674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gn="just" eaLnBrk="1" hangingPunct="1">
              <a:spcBef>
                <a:spcPct val="0"/>
              </a:spcBef>
            </a:pPr>
            <a:r>
              <a:rPr lang="es-CL" sz="1200" b="1" dirty="0">
                <a:latin typeface="Times New Roman" pitchFamily="18" charset="0"/>
              </a:rPr>
              <a:t>Transformación Relaciones de Exclusividad</a:t>
            </a:r>
            <a:endParaRPr lang="es-ES" sz="1200" b="1" dirty="0">
              <a:latin typeface="Times New Roman" pitchFamily="18" charset="0"/>
            </a:endParaRPr>
          </a:p>
          <a:p>
            <a:pPr marL="609600" indent="-609600" algn="just" eaLnBrk="1" hangingPunct="1">
              <a:spcBef>
                <a:spcPct val="0"/>
              </a:spcBef>
              <a:buFont typeface="Wingdings" panose="05000000000000000000" pitchFamily="2" charset="2"/>
              <a:buChar char="§"/>
            </a:pPr>
            <a:r>
              <a:rPr lang="es-ES" sz="1200" dirty="0">
                <a:latin typeface="Times New Roman" pitchFamily="18" charset="0"/>
              </a:rPr>
              <a:t>Los arcos </a:t>
            </a:r>
            <a:r>
              <a:rPr lang="es-ES" sz="1200" b="1" dirty="0">
                <a:latin typeface="Times New Roman" pitchFamily="18" charset="0"/>
              </a:rPr>
              <a:t>representan una columna de clave foránea en la Relación principal</a:t>
            </a:r>
            <a:r>
              <a:rPr lang="es-ES" sz="1200" dirty="0">
                <a:latin typeface="Times New Roman" pitchFamily="18" charset="0"/>
              </a:rPr>
              <a:t>.</a:t>
            </a:r>
          </a:p>
          <a:p>
            <a:pPr marL="609600" indent="-609600" algn="just" eaLnBrk="1" hangingPunct="1">
              <a:spcBef>
                <a:spcPct val="0"/>
              </a:spcBef>
              <a:buFont typeface="Wingdings" panose="05000000000000000000" pitchFamily="2" charset="2"/>
              <a:buChar char="§"/>
            </a:pPr>
            <a:r>
              <a:rPr lang="es-ES" sz="1200" dirty="0">
                <a:latin typeface="Times New Roman" pitchFamily="18" charset="0"/>
              </a:rPr>
              <a:t>El</a:t>
            </a:r>
            <a:r>
              <a:rPr lang="es-MX" sz="1200" dirty="0">
                <a:latin typeface="Times New Roman" pitchFamily="18" charset="0"/>
              </a:rPr>
              <a:t> Diseño de Arco explícito crea una columna clave foránea para cada relación incluida en el arco.</a:t>
            </a:r>
          </a:p>
          <a:p>
            <a:pPr marL="609600" indent="-609600" algn="just" eaLnBrk="1" hangingPunct="1">
              <a:spcBef>
                <a:spcPct val="0"/>
              </a:spcBef>
              <a:buFont typeface="Wingdings" panose="05000000000000000000" pitchFamily="2" charset="2"/>
              <a:buChar char="§"/>
            </a:pPr>
            <a:r>
              <a:rPr lang="es-MX" sz="1200" dirty="0">
                <a:latin typeface="Times New Roman" pitchFamily="18" charset="0"/>
              </a:rPr>
              <a:t>En el ejemplo de la siguiente página, la columna </a:t>
            </a:r>
            <a:r>
              <a:rPr lang="es-MX" sz="1200" b="1" dirty="0" err="1">
                <a:latin typeface="Times New Roman" pitchFamily="18" charset="0"/>
              </a:rPr>
              <a:t>codigo</a:t>
            </a:r>
            <a:r>
              <a:rPr lang="es-MX" sz="1200" dirty="0">
                <a:latin typeface="Times New Roman" pitchFamily="18" charset="0"/>
              </a:rPr>
              <a:t> de la Relación EMPRESA y la columna </a:t>
            </a:r>
            <a:r>
              <a:rPr lang="es-MX" sz="1200" b="1" dirty="0" err="1">
                <a:latin typeface="Times New Roman" pitchFamily="18" charset="0"/>
              </a:rPr>
              <a:t>numrut</a:t>
            </a:r>
            <a:r>
              <a:rPr lang="es-MX" sz="1200" dirty="0">
                <a:latin typeface="Times New Roman" pitchFamily="18" charset="0"/>
              </a:rPr>
              <a:t> de la Relación PERSONA se transforman en columnas de claves foráneas de la Relación CONTRATO.</a:t>
            </a:r>
            <a:endParaRPr lang="es-ES" sz="1200" dirty="0">
              <a:latin typeface="Times New Roman" pitchFamily="18" charset="0"/>
            </a:endParaRPr>
          </a:p>
          <a:p>
            <a:endParaRPr lang="es-CL" dirty="0"/>
          </a:p>
          <a:p>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24</a:t>
            </a:fld>
            <a:endParaRPr lang="es-CL"/>
          </a:p>
        </p:txBody>
      </p:sp>
    </p:spTree>
    <p:extLst>
      <p:ext uri="{BB962C8B-B14F-4D97-AF65-F5344CB8AC3E}">
        <p14:creationId xmlns:p14="http://schemas.microsoft.com/office/powerpoint/2010/main" val="2939495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gn="just" eaLnBrk="1" hangingPunct="1">
              <a:spcBef>
                <a:spcPct val="0"/>
              </a:spcBef>
            </a:pPr>
            <a:r>
              <a:rPr lang="es-CL" b="1" dirty="0">
                <a:latin typeface="Times New Roman" pitchFamily="18" charset="0"/>
              </a:rPr>
              <a:t>Transformación Relaciones de Jerarquías: Diseño de los subtipos y supertipo en una sola Relación.</a:t>
            </a:r>
            <a:endParaRPr lang="es-CL" dirty="0">
              <a:latin typeface="Times New Roman" pitchFamily="18" charset="0"/>
            </a:endParaRPr>
          </a:p>
          <a:p>
            <a:pPr marL="609600" indent="-609600" algn="just" eaLnBrk="1" hangingPunct="1">
              <a:spcBef>
                <a:spcPct val="0"/>
              </a:spcBef>
              <a:buFont typeface="Wingdings" panose="05000000000000000000" pitchFamily="2" charset="2"/>
              <a:buChar char="§"/>
            </a:pPr>
            <a:r>
              <a:rPr lang="es-ES" sz="1800" dirty="0">
                <a:latin typeface="Times New Roman" pitchFamily="18" charset="0"/>
              </a:rPr>
              <a:t>Consiste </a:t>
            </a:r>
            <a:r>
              <a:rPr lang="es-MX" sz="1800" dirty="0">
                <a:latin typeface="Times New Roman" pitchFamily="18" charset="0"/>
              </a:rPr>
              <a:t>en diseñar una tabla para el supertipo con toda la información de los subtipos. En otras palabras la tabla resultante contiene las instancias de todos los subtipos.</a:t>
            </a:r>
          </a:p>
          <a:p>
            <a:pPr marL="609600" indent="-609600" algn="just" eaLnBrk="1" hangingPunct="1">
              <a:spcBef>
                <a:spcPct val="0"/>
              </a:spcBef>
              <a:buFont typeface="Wingdings" panose="05000000000000000000" pitchFamily="2" charset="2"/>
              <a:buChar char="§"/>
            </a:pPr>
            <a:r>
              <a:rPr lang="es-MX" sz="1800" dirty="0">
                <a:latin typeface="Times New Roman" pitchFamily="18" charset="0"/>
              </a:rPr>
              <a:t>Es </a:t>
            </a:r>
            <a:r>
              <a:rPr lang="es-CL" sz="1800" dirty="0">
                <a:latin typeface="Times New Roman" pitchFamily="18" charset="0"/>
              </a:rPr>
              <a:t>apropiado </a:t>
            </a:r>
            <a:r>
              <a:rPr lang="es-MX" sz="1800" dirty="0">
                <a:latin typeface="Times New Roman" pitchFamily="18" charset="0"/>
              </a:rPr>
              <a:t>cuando los subtipos tienen pocos atributos y la consulta de los datos suele incluir datos de distintos subtipos.</a:t>
            </a:r>
          </a:p>
          <a:p>
            <a:pPr marL="609600" indent="-609600" algn="just" eaLnBrk="1" hangingPunct="1">
              <a:spcBef>
                <a:spcPct val="0"/>
              </a:spcBef>
              <a:buFont typeface="Wingdings" panose="05000000000000000000" pitchFamily="2" charset="2"/>
              <a:buChar char="§"/>
            </a:pPr>
            <a:r>
              <a:rPr lang="es-MX" sz="1800" dirty="0">
                <a:latin typeface="Times New Roman" pitchFamily="18" charset="0"/>
              </a:rPr>
              <a:t>Los pasos para este diseño son:</a:t>
            </a:r>
          </a:p>
          <a:p>
            <a:pPr marL="990600" lvl="1" indent="-533400" algn="just" eaLnBrk="1" hangingPunct="1">
              <a:spcBef>
                <a:spcPct val="0"/>
              </a:spcBef>
              <a:buFont typeface="Courier New" panose="02070309020205020404" pitchFamily="49" charset="0"/>
              <a:buChar char="o"/>
            </a:pPr>
            <a:r>
              <a:rPr lang="es-MX" sz="1800" dirty="0">
                <a:latin typeface="Times New Roman" pitchFamily="18" charset="0"/>
              </a:rPr>
              <a:t>Crea</a:t>
            </a:r>
            <a:r>
              <a:rPr lang="es-MX" sz="1600" dirty="0">
                <a:latin typeface="Times New Roman" pitchFamily="18" charset="0"/>
              </a:rPr>
              <a:t>r una Relación o tabla para el Supertipo.</a:t>
            </a:r>
          </a:p>
          <a:p>
            <a:pPr marL="990600" lvl="1" indent="-533400" algn="just" eaLnBrk="1" hangingPunct="1">
              <a:spcBef>
                <a:spcPct val="0"/>
              </a:spcBef>
              <a:buFont typeface="Courier New" panose="02070309020205020404" pitchFamily="49" charset="0"/>
              <a:buChar char="o"/>
            </a:pPr>
            <a:r>
              <a:rPr lang="es-MX" sz="1600" dirty="0">
                <a:latin typeface="Times New Roman" pitchFamily="18" charset="0"/>
              </a:rPr>
              <a:t>Crear una columna “tipo” para identificar a cual subtipo pertenece la fila o tupla.</a:t>
            </a:r>
          </a:p>
          <a:p>
            <a:pPr marL="990600" lvl="1" indent="-533400" algn="just" eaLnBrk="1" hangingPunct="1">
              <a:spcBef>
                <a:spcPct val="0"/>
              </a:spcBef>
              <a:buFont typeface="Courier New" panose="02070309020205020404" pitchFamily="49" charset="0"/>
              <a:buChar char="o"/>
            </a:pPr>
            <a:r>
              <a:rPr lang="es-MX" sz="1600" dirty="0">
                <a:latin typeface="Times New Roman" pitchFamily="18" charset="0"/>
              </a:rPr>
              <a:t>Crear una columna para cada uno de los atributos del supertipo.</a:t>
            </a:r>
          </a:p>
          <a:p>
            <a:pPr marL="990600" lvl="1" indent="-533400" algn="just" eaLnBrk="1" hangingPunct="1">
              <a:spcBef>
                <a:spcPct val="0"/>
              </a:spcBef>
              <a:buFont typeface="Courier New" panose="02070309020205020404" pitchFamily="49" charset="0"/>
              <a:buChar char="o"/>
            </a:pPr>
            <a:r>
              <a:rPr lang="es-MX" sz="1600" dirty="0">
                <a:latin typeface="Times New Roman" pitchFamily="18" charset="0"/>
              </a:rPr>
              <a:t>Crear una columna para cada uno de los atributos de los subtipos.</a:t>
            </a:r>
          </a:p>
          <a:p>
            <a:pPr marL="990600" lvl="1" indent="-533400" algn="just" eaLnBrk="1" hangingPunct="1">
              <a:spcBef>
                <a:spcPct val="0"/>
              </a:spcBef>
              <a:buFont typeface="Courier New" panose="02070309020205020404" pitchFamily="49" charset="0"/>
              <a:buChar char="o"/>
            </a:pPr>
            <a:r>
              <a:rPr lang="es-MX" sz="1600" dirty="0">
                <a:latin typeface="Times New Roman" pitchFamily="18" charset="0"/>
              </a:rPr>
              <a:t>Crear columnas claves foráneas para cada una de las relaciones del supertipo.</a:t>
            </a:r>
          </a:p>
          <a:p>
            <a:pPr marL="990600" lvl="1" indent="-533400" algn="just" eaLnBrk="1" hangingPunct="1">
              <a:spcBef>
                <a:spcPct val="0"/>
              </a:spcBef>
              <a:buFont typeface="Courier New" panose="02070309020205020404" pitchFamily="49" charset="0"/>
              <a:buChar char="o"/>
            </a:pPr>
            <a:r>
              <a:rPr lang="es-MX" sz="1600" dirty="0">
                <a:latin typeface="Times New Roman" pitchFamily="18" charset="0"/>
              </a:rPr>
              <a:t>Crear columnas claves foráneas para cada una de las relaciones de los subtipos.</a:t>
            </a:r>
            <a:endParaRPr lang="es-CL" b="1" dirty="0">
              <a:latin typeface="Times New Roman" pitchFamily="18" charset="0"/>
            </a:endParaRPr>
          </a:p>
          <a:p>
            <a:pPr marL="609600" indent="-609600" algn="just" eaLnBrk="1" hangingPunct="1">
              <a:spcBef>
                <a:spcPct val="0"/>
              </a:spcBef>
              <a:buFont typeface="Wingdings" panose="05000000000000000000" pitchFamily="2" charset="2"/>
              <a:buChar char="§"/>
            </a:pPr>
            <a:r>
              <a:rPr lang="es-CL" dirty="0">
                <a:latin typeface="Times New Roman" pitchFamily="18" charset="0"/>
              </a:rPr>
              <a:t>En el ejemplo, se crea la Relación VEHICULO con los atributos del supertipo y subtipos. Además, se crea la columna </a:t>
            </a:r>
            <a:r>
              <a:rPr lang="es-CL" b="1" dirty="0" err="1">
                <a:latin typeface="Times New Roman" pitchFamily="18" charset="0"/>
              </a:rPr>
              <a:t>tipo_vehiculo</a:t>
            </a:r>
            <a:r>
              <a:rPr lang="es-CL" dirty="0">
                <a:latin typeface="Times New Roman" pitchFamily="18" charset="0"/>
              </a:rPr>
              <a:t> para poder saber si la información que se almacenará será de un camión o remolque.</a:t>
            </a:r>
          </a:p>
          <a:p>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25</a:t>
            </a:fld>
            <a:endParaRPr lang="es-CL"/>
          </a:p>
        </p:txBody>
      </p:sp>
    </p:spTree>
    <p:extLst>
      <p:ext uri="{BB962C8B-B14F-4D97-AF65-F5344CB8AC3E}">
        <p14:creationId xmlns:p14="http://schemas.microsoft.com/office/powerpoint/2010/main" val="1681547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3BE10-9F61-DE5A-BF64-7927B513B8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24D8BC-E6B5-DF2A-8941-9D7FD80997B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D0D032-C342-CFDA-F8B9-55B19FD160E4}"/>
              </a:ext>
            </a:extLst>
          </p:cNvPr>
          <p:cNvSpPr>
            <a:spLocks noGrp="1"/>
          </p:cNvSpPr>
          <p:nvPr>
            <p:ph type="body" idx="1"/>
          </p:nvPr>
        </p:nvSpPr>
        <p:spPr/>
        <p:txBody>
          <a:bodyPr/>
          <a:lstStyle/>
          <a:p>
            <a:pPr marL="609600" indent="-609600" algn="just" eaLnBrk="1" hangingPunct="1">
              <a:spcBef>
                <a:spcPct val="0"/>
              </a:spcBef>
            </a:pPr>
            <a:r>
              <a:rPr lang="es-CL" sz="1000" b="1" dirty="0">
                <a:latin typeface="Times New Roman" pitchFamily="18" charset="0"/>
              </a:rPr>
              <a:t>Transformación Relaciones de Jerarquías: </a:t>
            </a:r>
            <a:r>
              <a:rPr lang="es-ES" sz="1800" b="1" dirty="0">
                <a:latin typeface="Times New Roman" pitchFamily="18" charset="0"/>
              </a:rPr>
              <a:t>Diseño de los subtipos en Relaciones separadas.</a:t>
            </a:r>
          </a:p>
          <a:p>
            <a:pPr marL="609600" indent="-609600" algn="just" eaLnBrk="1" hangingPunct="1">
              <a:spcBef>
                <a:spcPct val="0"/>
              </a:spcBef>
              <a:buFont typeface="Wingdings" panose="05000000000000000000" pitchFamily="2" charset="2"/>
              <a:buChar char="§"/>
            </a:pPr>
            <a:r>
              <a:rPr lang="es-ES" sz="1600" dirty="0">
                <a:latin typeface="Times New Roman" pitchFamily="18" charset="0"/>
              </a:rPr>
              <a:t>Consiste e</a:t>
            </a:r>
            <a:r>
              <a:rPr lang="es-MX" sz="1600" dirty="0">
                <a:latin typeface="Times New Roman" pitchFamily="18" charset="0"/>
              </a:rPr>
              <a:t>n convertir los subtipos en Relaciones diferentes, una para cada subtipo.</a:t>
            </a:r>
            <a:r>
              <a:rPr lang="es-ES" sz="1600" dirty="0">
                <a:latin typeface="Times New Roman" pitchFamily="18" charset="0"/>
              </a:rPr>
              <a:t> </a:t>
            </a:r>
            <a:r>
              <a:rPr lang="es-CL" sz="1600" dirty="0">
                <a:latin typeface="Times New Roman" pitchFamily="18" charset="0"/>
              </a:rPr>
              <a:t>Cada </a:t>
            </a:r>
            <a:r>
              <a:rPr lang="es-MX" sz="1600" dirty="0">
                <a:latin typeface="Times New Roman" pitchFamily="18" charset="0"/>
              </a:rPr>
              <a:t>tabla tendrá instancias solo de ese subtipo.</a:t>
            </a:r>
          </a:p>
          <a:p>
            <a:pPr marL="609600" indent="-609600" algn="just" eaLnBrk="1" hangingPunct="1">
              <a:spcBef>
                <a:spcPct val="0"/>
              </a:spcBef>
              <a:buFont typeface="Wingdings" panose="05000000000000000000" pitchFamily="2" charset="2"/>
              <a:buChar char="§"/>
            </a:pPr>
            <a:r>
              <a:rPr lang="es-MX" sz="1600" dirty="0">
                <a:latin typeface="Times New Roman" pitchFamily="18" charset="0"/>
              </a:rPr>
              <a:t>Se usa este diseño cuando los subtipos tienen muchos atributos y relaciones específicas.</a:t>
            </a:r>
          </a:p>
          <a:p>
            <a:pPr marL="609600" indent="-609600" algn="just" eaLnBrk="1" hangingPunct="1">
              <a:spcBef>
                <a:spcPct val="0"/>
              </a:spcBef>
              <a:buFont typeface="Wingdings" panose="05000000000000000000" pitchFamily="2" charset="2"/>
              <a:buChar char="§"/>
            </a:pPr>
            <a:r>
              <a:rPr lang="es-MX" sz="1600" dirty="0">
                <a:latin typeface="Times New Roman" pitchFamily="18" charset="0"/>
              </a:rPr>
              <a:t>Los pasos para este diseño son:</a:t>
            </a:r>
          </a:p>
          <a:p>
            <a:pPr marL="990600" lvl="1" indent="-533400" algn="just" eaLnBrk="1" hangingPunct="1">
              <a:spcBef>
                <a:spcPct val="0"/>
              </a:spcBef>
              <a:buFont typeface="Courier New" panose="02070309020205020404" pitchFamily="49" charset="0"/>
              <a:buChar char="o"/>
            </a:pPr>
            <a:r>
              <a:rPr lang="es-MX" sz="1600" dirty="0">
                <a:latin typeface="Times New Roman" pitchFamily="18" charset="0"/>
              </a:rPr>
              <a:t>Cr</a:t>
            </a:r>
            <a:r>
              <a:rPr lang="es-MX" sz="1400" dirty="0">
                <a:latin typeface="Times New Roman" pitchFamily="18" charset="0"/>
              </a:rPr>
              <a:t>ear una Relación o tabla para cada subtipo.</a:t>
            </a:r>
          </a:p>
          <a:p>
            <a:pPr marL="990600" lvl="1" indent="-533400" algn="just" eaLnBrk="1" hangingPunct="1">
              <a:spcBef>
                <a:spcPct val="0"/>
              </a:spcBef>
              <a:buFont typeface="Courier New" panose="02070309020205020404" pitchFamily="49" charset="0"/>
              <a:buChar char="o"/>
            </a:pPr>
            <a:r>
              <a:rPr lang="es-MX" sz="1400" dirty="0">
                <a:latin typeface="Times New Roman" pitchFamily="18" charset="0"/>
              </a:rPr>
              <a:t>En cada tabla de un subtipo crear las columnas para los atributos del supertipo.</a:t>
            </a:r>
          </a:p>
          <a:p>
            <a:pPr marL="990600" lvl="1" indent="-533400" algn="just" eaLnBrk="1" hangingPunct="1">
              <a:spcBef>
                <a:spcPct val="0"/>
              </a:spcBef>
              <a:buFont typeface="Courier New" panose="02070309020205020404" pitchFamily="49" charset="0"/>
              <a:buChar char="o"/>
            </a:pPr>
            <a:r>
              <a:rPr lang="es-MX" sz="1400" dirty="0">
                <a:latin typeface="Times New Roman" pitchFamily="18" charset="0"/>
              </a:rPr>
              <a:t>En cada tabla de un subtipo crear columnas claves foráneas para cada relación del subtipo.</a:t>
            </a:r>
          </a:p>
          <a:p>
            <a:pPr marL="990600" lvl="1" indent="-533400" algn="just" eaLnBrk="1" hangingPunct="1">
              <a:spcBef>
                <a:spcPct val="0"/>
              </a:spcBef>
              <a:buFont typeface="Courier New" panose="02070309020205020404" pitchFamily="49" charset="0"/>
              <a:buChar char="o"/>
            </a:pPr>
            <a:r>
              <a:rPr lang="es-MX" sz="1400" dirty="0">
                <a:latin typeface="Times New Roman" pitchFamily="18" charset="0"/>
              </a:rPr>
              <a:t>En cada tabla de un subtipo crear columnas claves foráneas para cada relación del supertipo.</a:t>
            </a:r>
          </a:p>
          <a:p>
            <a:pPr marL="609600" indent="-609600" algn="just" eaLnBrk="1" hangingPunct="1">
              <a:spcBef>
                <a:spcPct val="0"/>
              </a:spcBef>
              <a:buFont typeface="Wingdings" panose="05000000000000000000" pitchFamily="2" charset="2"/>
              <a:buChar char="§"/>
            </a:pPr>
            <a:r>
              <a:rPr lang="es-CL" sz="1000" dirty="0">
                <a:latin typeface="Times New Roman" pitchFamily="18" charset="0"/>
              </a:rPr>
              <a:t>En el ejemplo, se crea las Relaciones CAMION y REMOLQUE cada una con sus atributos y además con los atributos del supertipo incluyendo su clave primaria.</a:t>
            </a:r>
            <a:endParaRPr lang="es-CL" dirty="0"/>
          </a:p>
        </p:txBody>
      </p:sp>
      <p:sp>
        <p:nvSpPr>
          <p:cNvPr id="4" name="Marcador de número de diapositiva 3">
            <a:extLst>
              <a:ext uri="{FF2B5EF4-FFF2-40B4-BE49-F238E27FC236}">
                <a16:creationId xmlns:a16="http://schemas.microsoft.com/office/drawing/2014/main" id="{DEC3BCDA-3B20-E2D6-0105-3F4F5742256A}"/>
              </a:ext>
            </a:extLst>
          </p:cNvPr>
          <p:cNvSpPr>
            <a:spLocks noGrp="1"/>
          </p:cNvSpPr>
          <p:nvPr>
            <p:ph type="sldNum" sz="quarter" idx="5"/>
          </p:nvPr>
        </p:nvSpPr>
        <p:spPr/>
        <p:txBody>
          <a:bodyPr/>
          <a:lstStyle/>
          <a:p>
            <a:fld id="{35C2C890-E6DE-1A45-98C6-E722FA6368DA}" type="slidenum">
              <a:rPr lang="es-CL" smtClean="0"/>
              <a:t>26</a:t>
            </a:fld>
            <a:endParaRPr lang="es-CL"/>
          </a:p>
        </p:txBody>
      </p:sp>
    </p:spTree>
    <p:extLst>
      <p:ext uri="{BB962C8B-B14F-4D97-AF65-F5344CB8AC3E}">
        <p14:creationId xmlns:p14="http://schemas.microsoft.com/office/powerpoint/2010/main" val="2257274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5EDAD-C7B0-EF8C-C4D9-136B038CF3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BF171B-DC34-4732-BB6A-9141E321E23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E9F5C8-E6D7-700F-4A2F-CA9E6823FFF1}"/>
              </a:ext>
            </a:extLst>
          </p:cNvPr>
          <p:cNvSpPr>
            <a:spLocks noGrp="1"/>
          </p:cNvSpPr>
          <p:nvPr>
            <p:ph type="body" idx="1"/>
          </p:nvPr>
        </p:nvSpPr>
        <p:spPr/>
        <p:txBody>
          <a:bodyPr/>
          <a:lstStyle/>
          <a:p>
            <a:pPr marL="609600" indent="-609600" algn="just" eaLnBrk="1" hangingPunct="1">
              <a:spcBef>
                <a:spcPct val="0"/>
              </a:spcBef>
            </a:pPr>
            <a:r>
              <a:rPr lang="es-ES" sz="2000" b="1" dirty="0">
                <a:latin typeface="Times New Roman" pitchFamily="18" charset="0"/>
              </a:rPr>
              <a:t>Transformación de Relaciones de Jerarquías: Diseño del supertipo y los subtipos en Relaciones separadas.</a:t>
            </a:r>
            <a:endParaRPr lang="es-ES" sz="2000" dirty="0">
              <a:latin typeface="Times New Roman" pitchFamily="18" charset="0"/>
            </a:endParaRPr>
          </a:p>
          <a:p>
            <a:pPr marL="609600" indent="-609600" algn="just" eaLnBrk="1" hangingPunct="1">
              <a:spcBef>
                <a:spcPct val="0"/>
              </a:spcBef>
              <a:buFont typeface="Wingdings" panose="05000000000000000000" pitchFamily="2" charset="2"/>
              <a:buChar char="§"/>
            </a:pPr>
            <a:r>
              <a:rPr lang="es-CL" sz="2000" dirty="0">
                <a:latin typeface="Times New Roman" pitchFamily="18" charset="0"/>
              </a:rPr>
              <a:t>C</a:t>
            </a:r>
            <a:r>
              <a:rPr lang="es-ES" sz="1800" dirty="0" err="1">
                <a:latin typeface="Times New Roman" pitchFamily="18" charset="0"/>
              </a:rPr>
              <a:t>onsiste</a:t>
            </a:r>
            <a:r>
              <a:rPr lang="es-ES" sz="1800" dirty="0">
                <a:latin typeface="Times New Roman" pitchFamily="18" charset="0"/>
              </a:rPr>
              <a:t> </a:t>
            </a:r>
            <a:r>
              <a:rPr lang="es-MX" sz="1800" dirty="0">
                <a:latin typeface="Times New Roman" pitchFamily="18" charset="0"/>
              </a:rPr>
              <a:t>en convertir el supertipo y sus subtipos asociados en tablas diferentes.</a:t>
            </a:r>
          </a:p>
          <a:p>
            <a:pPr marL="609600" indent="-609600" algn="just" eaLnBrk="1" hangingPunct="1">
              <a:spcBef>
                <a:spcPct val="0"/>
              </a:spcBef>
              <a:buFont typeface="Wingdings" panose="05000000000000000000" pitchFamily="2" charset="2"/>
              <a:buChar char="§"/>
            </a:pPr>
            <a:r>
              <a:rPr lang="es-MX" sz="1800" dirty="0">
                <a:latin typeface="Times New Roman" pitchFamily="18" charset="0"/>
              </a:rPr>
              <a:t>Cada tabla tendrá como columnas los atributos de cada entidad.</a:t>
            </a:r>
          </a:p>
          <a:p>
            <a:pPr marL="609600" indent="-609600" algn="just" eaLnBrk="1" hangingPunct="1">
              <a:spcBef>
                <a:spcPct val="0"/>
              </a:spcBef>
              <a:buFont typeface="Wingdings" panose="05000000000000000000" pitchFamily="2" charset="2"/>
              <a:buChar char="§"/>
            </a:pPr>
            <a:r>
              <a:rPr lang="es-MX" sz="1800" dirty="0">
                <a:latin typeface="Times New Roman" pitchFamily="18" charset="0"/>
              </a:rPr>
              <a:t>Los pasos para este diseño son:</a:t>
            </a:r>
          </a:p>
          <a:p>
            <a:pPr marL="990600" lvl="1" indent="-533400" algn="just" eaLnBrk="1" hangingPunct="1">
              <a:spcBef>
                <a:spcPct val="0"/>
              </a:spcBef>
              <a:buFont typeface="Courier New" panose="02070309020205020404" pitchFamily="49" charset="0"/>
              <a:buChar char="o"/>
            </a:pPr>
            <a:r>
              <a:rPr lang="es-MX" sz="1800" dirty="0">
                <a:latin typeface="Times New Roman" pitchFamily="18" charset="0"/>
              </a:rPr>
              <a:t>C</a:t>
            </a:r>
            <a:r>
              <a:rPr lang="es-MX" sz="1600" dirty="0">
                <a:latin typeface="Times New Roman" pitchFamily="18" charset="0"/>
              </a:rPr>
              <a:t>rear una tabla para el supertipo con sus propias columnas y clave principal. </a:t>
            </a:r>
          </a:p>
          <a:p>
            <a:pPr marL="990600" lvl="1" indent="-533400" algn="just" eaLnBrk="1" hangingPunct="1">
              <a:spcBef>
                <a:spcPct val="0"/>
              </a:spcBef>
              <a:buFont typeface="Courier New" panose="02070309020205020404" pitchFamily="49" charset="0"/>
              <a:buChar char="o"/>
            </a:pPr>
            <a:r>
              <a:rPr lang="es-MX" sz="1600" dirty="0">
                <a:latin typeface="Times New Roman" pitchFamily="18" charset="0"/>
              </a:rPr>
              <a:t>En cada tabla de los subtipos crear las columnas para los atributos que cada entidad del subtipo posee.</a:t>
            </a:r>
          </a:p>
          <a:p>
            <a:pPr marL="990600" lvl="1" indent="-533400" algn="just" eaLnBrk="1" hangingPunct="1">
              <a:spcBef>
                <a:spcPct val="0"/>
              </a:spcBef>
              <a:buFont typeface="Courier New" panose="02070309020205020404" pitchFamily="49" charset="0"/>
              <a:buChar char="o"/>
            </a:pPr>
            <a:r>
              <a:rPr lang="es-MX" sz="1600" dirty="0">
                <a:latin typeface="Times New Roman" pitchFamily="18" charset="0"/>
              </a:rPr>
              <a:t>En cada tabla de los subtipos las columnas de la clave principal del supertipo se crean como clave externa o foránea y además como clave primaria.</a:t>
            </a:r>
          </a:p>
          <a:p>
            <a:pPr marL="609600" indent="-609600" algn="just" eaLnBrk="1" hangingPunct="1">
              <a:spcBef>
                <a:spcPct val="0"/>
              </a:spcBef>
              <a:buFont typeface="Wingdings" panose="05000000000000000000" pitchFamily="2" charset="2"/>
              <a:buChar char="§"/>
            </a:pPr>
            <a:r>
              <a:rPr lang="es-CL" dirty="0">
                <a:latin typeface="Times New Roman" pitchFamily="18" charset="0"/>
              </a:rPr>
              <a:t>En el ejemplo, se crean las Relaciones VEHICULO, CAMION y REMOLQUE cada unos con sus propios atributos. Los subtipos además hereden los atributos de clave primaria del supertipo que además se transforma en clave foránea.</a:t>
            </a:r>
          </a:p>
        </p:txBody>
      </p:sp>
      <p:sp>
        <p:nvSpPr>
          <p:cNvPr id="4" name="Marcador de número de diapositiva 3">
            <a:extLst>
              <a:ext uri="{FF2B5EF4-FFF2-40B4-BE49-F238E27FC236}">
                <a16:creationId xmlns:a16="http://schemas.microsoft.com/office/drawing/2014/main" id="{A5DF0459-ED85-28B2-FBE2-FF173D5E56B5}"/>
              </a:ext>
            </a:extLst>
          </p:cNvPr>
          <p:cNvSpPr>
            <a:spLocks noGrp="1"/>
          </p:cNvSpPr>
          <p:nvPr>
            <p:ph type="sldNum" sz="quarter" idx="5"/>
          </p:nvPr>
        </p:nvSpPr>
        <p:spPr/>
        <p:txBody>
          <a:bodyPr/>
          <a:lstStyle/>
          <a:p>
            <a:fld id="{35C2C890-E6DE-1A45-98C6-E722FA6368DA}" type="slidenum">
              <a:rPr lang="es-CL" smtClean="0"/>
              <a:t>27</a:t>
            </a:fld>
            <a:endParaRPr lang="es-CL"/>
          </a:p>
        </p:txBody>
      </p:sp>
    </p:spTree>
    <p:extLst>
      <p:ext uri="{BB962C8B-B14F-4D97-AF65-F5344CB8AC3E}">
        <p14:creationId xmlns:p14="http://schemas.microsoft.com/office/powerpoint/2010/main" val="1744460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39.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42.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8749511" cy="1169551"/>
          </a:xfrm>
        </p:spPr>
        <p:txBody>
          <a:bodyPr/>
          <a:lstStyle/>
          <a:p>
            <a:r>
              <a:rPr lang="es-CL" sz="3800" spc="-10" dirty="0"/>
              <a:t>BDY1101</a:t>
            </a:r>
            <a:br>
              <a:rPr lang="es-CL" sz="3800" spc="-10" dirty="0"/>
            </a:br>
            <a:r>
              <a:rPr lang="es-ES" sz="3800" b="0" dirty="0"/>
              <a:t>Construyendo un MR normalizado</a:t>
            </a:r>
            <a:endParaRPr lang="es-CL" sz="3800" dirty="0"/>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9617262" y="7026177"/>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ES" sz="3000" dirty="0"/>
              <a:t>Clave Primaria(PK)</a:t>
            </a:r>
            <a:endParaRPr lang="es-CL" sz="3000" dirty="0"/>
          </a:p>
        </p:txBody>
      </p:sp>
      <p:sp>
        <p:nvSpPr>
          <p:cNvPr id="13" name="Título 1">
            <a:extLst>
              <a:ext uri="{FF2B5EF4-FFF2-40B4-BE49-F238E27FC236}">
                <a16:creationId xmlns:a16="http://schemas.microsoft.com/office/drawing/2014/main" id="{EE8DCEDB-0701-9E4F-B841-31F2AEF95FCF}"/>
              </a:ext>
            </a:extLst>
          </p:cNvPr>
          <p:cNvSpPr txBox="1">
            <a:spLocks/>
          </p:cNvSpPr>
          <p:nvPr/>
        </p:nvSpPr>
        <p:spPr>
          <a:xfrm>
            <a:off x="14771968" y="478248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Modelo Relacional</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15" name="Título 1">
            <a:extLst>
              <a:ext uri="{FF2B5EF4-FFF2-40B4-BE49-F238E27FC236}">
                <a16:creationId xmlns:a16="http://schemas.microsoft.com/office/drawing/2014/main" id="{AC1579C5-4858-4D42-8518-8DA881E7E42D}"/>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7" name="Título 1">
            <a:extLst>
              <a:ext uri="{FF2B5EF4-FFF2-40B4-BE49-F238E27FC236}">
                <a16:creationId xmlns:a16="http://schemas.microsoft.com/office/drawing/2014/main" id="{B7BC9C2C-1609-FF42-8176-8EB1FA8D8551}"/>
              </a:ext>
            </a:extLst>
          </p:cNvPr>
          <p:cNvSpPr txBox="1">
            <a:spLocks/>
          </p:cNvSpPr>
          <p:nvPr/>
        </p:nvSpPr>
        <p:spPr>
          <a:xfrm>
            <a:off x="14779065" y="7026177"/>
            <a:ext cx="4183903"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r>
              <a:rPr lang="es-ES" sz="3000" dirty="0"/>
              <a:t>Clave Foránea(FK)</a:t>
            </a:r>
            <a:endParaRPr lang="es-CL" sz="3000" dirty="0"/>
          </a:p>
        </p:txBody>
      </p:sp>
      <p:sp>
        <p:nvSpPr>
          <p:cNvPr id="19" name="Título 1">
            <a:extLst>
              <a:ext uri="{FF2B5EF4-FFF2-40B4-BE49-F238E27FC236}">
                <a16:creationId xmlns:a16="http://schemas.microsoft.com/office/drawing/2014/main" id="{20BE2EF9-7124-C94F-B2CA-C7A9C485A48E}"/>
              </a:ext>
            </a:extLst>
          </p:cNvPr>
          <p:cNvSpPr txBox="1">
            <a:spLocks/>
          </p:cNvSpPr>
          <p:nvPr/>
        </p:nvSpPr>
        <p:spPr>
          <a:xfrm>
            <a:off x="14656174"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ES" sz="3000" dirty="0" err="1"/>
              <a:t>MLógico</a:t>
            </a:r>
            <a:endParaRPr lang="es-CL" sz="3000" dirty="0"/>
          </a:p>
        </p:txBody>
      </p:sp>
      <p:sp>
        <p:nvSpPr>
          <p:cNvPr id="2" name="Título 1">
            <a:extLst>
              <a:ext uri="{FF2B5EF4-FFF2-40B4-BE49-F238E27FC236}">
                <a16:creationId xmlns:a16="http://schemas.microsoft.com/office/drawing/2014/main" id="{65ED382E-07F7-9660-AACF-A4FFC7FDC8AB}"/>
              </a:ext>
            </a:extLst>
          </p:cNvPr>
          <p:cNvSpPr txBox="1">
            <a:spLocks/>
          </p:cNvSpPr>
          <p:nvPr/>
        </p:nvSpPr>
        <p:spPr>
          <a:xfrm>
            <a:off x="9617262" y="9269865"/>
            <a:ext cx="5616388"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a:t>MER a MR</a:t>
            </a:r>
            <a:endParaRPr lang="es-CL" sz="3000" dirty="0"/>
          </a:p>
        </p:txBody>
      </p:sp>
      <p:sp>
        <p:nvSpPr>
          <p:cNvPr id="4" name="Título 1">
            <a:extLst>
              <a:ext uri="{FF2B5EF4-FFF2-40B4-BE49-F238E27FC236}">
                <a16:creationId xmlns:a16="http://schemas.microsoft.com/office/drawing/2014/main" id="{ACE03C48-53C3-04BF-BDBF-E6D851204CE4}"/>
              </a:ext>
            </a:extLst>
          </p:cNvPr>
          <p:cNvSpPr txBox="1">
            <a:spLocks/>
          </p:cNvSpPr>
          <p:nvPr/>
        </p:nvSpPr>
        <p:spPr>
          <a:xfrm>
            <a:off x="9518650" y="8507865"/>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05</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8D9A-2C1C-F3A0-25C0-28B705E7118C}"/>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280C33DE-B863-D5BC-16C5-CE7C5F68997E}"/>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01</a:t>
            </a:r>
          </a:p>
        </p:txBody>
      </p:sp>
      <p:sp>
        <p:nvSpPr>
          <p:cNvPr id="4" name="Título 1">
            <a:extLst>
              <a:ext uri="{FF2B5EF4-FFF2-40B4-BE49-F238E27FC236}">
                <a16:creationId xmlns:a16="http://schemas.microsoft.com/office/drawing/2014/main" id="{A6D966B3-C8C7-72BD-E558-6BD727873E16}"/>
              </a:ext>
            </a:extLst>
          </p:cNvPr>
          <p:cNvSpPr txBox="1">
            <a:spLocks/>
          </p:cNvSpPr>
          <p:nvPr/>
        </p:nvSpPr>
        <p:spPr>
          <a:xfrm>
            <a:off x="1517650" y="7712075"/>
            <a:ext cx="8305800" cy="738664"/>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MODELO LÓGICO</a:t>
            </a:r>
          </a:p>
        </p:txBody>
      </p:sp>
    </p:spTree>
    <p:extLst>
      <p:ext uri="{BB962C8B-B14F-4D97-AF65-F5344CB8AC3E}">
        <p14:creationId xmlns:p14="http://schemas.microsoft.com/office/powerpoint/2010/main" val="229466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DB213-89C4-4D23-A6A0-FDAC0FF0100D}"/>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88A9BFF8-4BD8-77A1-0704-C41512B10878}"/>
              </a:ext>
            </a:extLst>
          </p:cNvPr>
          <p:cNvSpPr>
            <a:spLocks noGrp="1"/>
          </p:cNvSpPr>
          <p:nvPr>
            <p:ph type="body" sz="quarter" idx="10"/>
          </p:nvPr>
        </p:nvSpPr>
        <p:spPr/>
        <p:txBody>
          <a:bodyPr/>
          <a:lstStyle/>
          <a:p>
            <a:r>
              <a:rPr lang="es-MX" dirty="0"/>
              <a:t>MODELO LÓGICO</a:t>
            </a:r>
            <a:endParaRPr lang="es-CL" dirty="0"/>
          </a:p>
        </p:txBody>
      </p:sp>
      <p:pic>
        <p:nvPicPr>
          <p:cNvPr id="13" name="Imagen 12">
            <a:extLst>
              <a:ext uri="{FF2B5EF4-FFF2-40B4-BE49-F238E27FC236}">
                <a16:creationId xmlns:a16="http://schemas.microsoft.com/office/drawing/2014/main" id="{805E4EFB-E592-4F65-7197-E922FECAE515}"/>
              </a:ext>
            </a:extLst>
          </p:cNvPr>
          <p:cNvPicPr>
            <a:picLocks noChangeAspect="1"/>
          </p:cNvPicPr>
          <p:nvPr/>
        </p:nvPicPr>
        <p:blipFill>
          <a:blip r:embed="rId3"/>
          <a:stretch>
            <a:fillRect/>
          </a:stretch>
        </p:blipFill>
        <p:spPr>
          <a:xfrm>
            <a:off x="738806" y="1692275"/>
            <a:ext cx="14761840" cy="8473022"/>
          </a:xfrm>
          <a:prstGeom prst="rect">
            <a:avLst/>
          </a:prstGeom>
        </p:spPr>
      </p:pic>
      <p:sp>
        <p:nvSpPr>
          <p:cNvPr id="3" name="Rectangle: Rounded Corners 2">
            <a:extLst>
              <a:ext uri="{FF2B5EF4-FFF2-40B4-BE49-F238E27FC236}">
                <a16:creationId xmlns:a16="http://schemas.microsoft.com/office/drawing/2014/main" id="{1C181BC0-BC35-8E2B-E402-73313D326961}"/>
              </a:ext>
            </a:extLst>
          </p:cNvPr>
          <p:cNvSpPr/>
          <p:nvPr/>
        </p:nvSpPr>
        <p:spPr>
          <a:xfrm>
            <a:off x="13252450" y="8245475"/>
            <a:ext cx="5791200" cy="2514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2400" b="1" dirty="0"/>
              <a:t>En palabras simples: ¡es nuestro diagrama lógico!, que se genera a través del diseño conceptual, la fase previa a realizar nuestro MERE.</a:t>
            </a:r>
          </a:p>
        </p:txBody>
      </p:sp>
    </p:spTree>
    <p:extLst>
      <p:ext uri="{BB962C8B-B14F-4D97-AF65-F5344CB8AC3E}">
        <p14:creationId xmlns:p14="http://schemas.microsoft.com/office/powerpoint/2010/main" val="979410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4413250" y="7559675"/>
            <a:ext cx="10134600" cy="1015663"/>
          </a:xfrm>
        </p:spPr>
        <p:txBody>
          <a:bodyPr/>
          <a:lstStyle/>
          <a:p>
            <a:pPr algn="r"/>
            <a:r>
              <a:rPr lang="es-CL" sz="6600" dirty="0"/>
              <a:t>MODELO RELACIONAL</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02</a:t>
            </a:r>
          </a:p>
        </p:txBody>
      </p:sp>
    </p:spTree>
    <p:extLst>
      <p:ext uri="{BB962C8B-B14F-4D97-AF65-F5344CB8AC3E}">
        <p14:creationId xmlns:p14="http://schemas.microsoft.com/office/powerpoint/2010/main" val="3117571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sz="4800" dirty="0"/>
              <a:t>MODELO RELACIONAL</a:t>
            </a:r>
            <a:endParaRPr lang="es-CL" dirty="0"/>
          </a:p>
        </p:txBody>
      </p:sp>
      <p:sp>
        <p:nvSpPr>
          <p:cNvPr id="4" name="CuadroTexto 3">
            <a:extLst>
              <a:ext uri="{FF2B5EF4-FFF2-40B4-BE49-F238E27FC236}">
                <a16:creationId xmlns:a16="http://schemas.microsoft.com/office/drawing/2014/main" id="{49CAB5BC-5A14-4039-B5DE-FC66EF176185}"/>
              </a:ext>
            </a:extLst>
          </p:cNvPr>
          <p:cNvSpPr txBox="1"/>
          <p:nvPr/>
        </p:nvSpPr>
        <p:spPr>
          <a:xfrm>
            <a:off x="603250" y="2301875"/>
            <a:ext cx="16459200" cy="5144998"/>
          </a:xfrm>
          <a:prstGeom prst="rect">
            <a:avLst/>
          </a:prstGeom>
          <a:noFill/>
        </p:spPr>
        <p:txBody>
          <a:bodyPr wrap="square">
            <a:spAutoFit/>
          </a:bodyPr>
          <a:lstStyle/>
          <a:p>
            <a:pPr algn="just" rtl="0" fontAlgn="base">
              <a:spcBef>
                <a:spcPts val="1000"/>
              </a:spcBef>
              <a:spcAft>
                <a:spcPts val="0"/>
              </a:spcAft>
            </a:pPr>
            <a:r>
              <a:rPr lang="es-ES" sz="4000" b="0" i="0" u="none" strike="noStrike" dirty="0">
                <a:solidFill>
                  <a:srgbClr val="818990"/>
                </a:solidFill>
                <a:effectLst/>
                <a:latin typeface="Calibri" panose="020F0502020204030204" pitchFamily="34" charset="0"/>
              </a:rPr>
              <a:t>Modelo o </a:t>
            </a:r>
            <a:r>
              <a:rPr lang="es-ES" sz="4000" dirty="0">
                <a:solidFill>
                  <a:srgbClr val="818990"/>
                </a:solidFill>
                <a:latin typeface="Calibri" panose="020F0502020204030204" pitchFamily="34" charset="0"/>
              </a:rPr>
              <a:t>c</a:t>
            </a:r>
            <a:r>
              <a:rPr lang="es-ES" sz="4000" b="0" i="0" u="none" strike="noStrike" dirty="0">
                <a:solidFill>
                  <a:srgbClr val="818990"/>
                </a:solidFill>
                <a:effectLst/>
                <a:latin typeface="Calibri" panose="020F0502020204030204" pitchFamily="34" charset="0"/>
              </a:rPr>
              <a:t>onjunto de una o más </a:t>
            </a:r>
            <a:r>
              <a:rPr lang="es-ES" sz="4000" b="1" i="0" u="none" strike="noStrike" dirty="0">
                <a:solidFill>
                  <a:srgbClr val="818990"/>
                </a:solidFill>
                <a:effectLst/>
                <a:latin typeface="Calibri" panose="020F0502020204030204" pitchFamily="34" charset="0"/>
              </a:rPr>
              <a:t>tablas</a:t>
            </a:r>
            <a:r>
              <a:rPr lang="es-ES" sz="4000" b="0" i="0" u="none" strike="noStrike" dirty="0">
                <a:solidFill>
                  <a:srgbClr val="818990"/>
                </a:solidFill>
                <a:effectLst/>
                <a:latin typeface="Calibri" panose="020F0502020204030204" pitchFamily="34" charset="0"/>
              </a:rPr>
              <a:t> estructuradas en registros (líneas) y campos (columnas), que se unen entre sí por un campo en común. Al campo que une dos tablas se le denomina ID, identificador o clave. A esta manera de construir bases de datos se le denomina modelo relacional. </a:t>
            </a:r>
          </a:p>
          <a:p>
            <a:pPr algn="just" rtl="0" fontAlgn="base">
              <a:spcBef>
                <a:spcPts val="1000"/>
              </a:spcBef>
              <a:spcAft>
                <a:spcPts val="0"/>
              </a:spcAft>
            </a:pPr>
            <a:r>
              <a:rPr lang="es-ES" sz="4000" b="0" i="0" u="none" strike="noStrike" dirty="0">
                <a:solidFill>
                  <a:srgbClr val="818990"/>
                </a:solidFill>
                <a:effectLst/>
                <a:latin typeface="Calibri" panose="020F0502020204030204" pitchFamily="34" charset="0"/>
              </a:rPr>
              <a:t>Las bases de datos relacionales pasan por un proceso al que se le conoce como normalización de una base de datos, el cual vimos en la clase anterior, el cual es entendido como el proceso necesario para que una base de datos sea utilizada de manera óptima. </a:t>
            </a:r>
          </a:p>
        </p:txBody>
      </p:sp>
      <p:sp>
        <p:nvSpPr>
          <p:cNvPr id="6" name="Rectangle: Rounded Corners 5">
            <a:extLst>
              <a:ext uri="{FF2B5EF4-FFF2-40B4-BE49-F238E27FC236}">
                <a16:creationId xmlns:a16="http://schemas.microsoft.com/office/drawing/2014/main" id="{2E332F85-E38D-A138-FACE-E6FA23588173}"/>
              </a:ext>
            </a:extLst>
          </p:cNvPr>
          <p:cNvSpPr/>
          <p:nvPr/>
        </p:nvSpPr>
        <p:spPr>
          <a:xfrm>
            <a:off x="3909359" y="9193484"/>
            <a:ext cx="4953000" cy="1269669"/>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2400" b="1" dirty="0"/>
              <a:t>Ahora nuestras entidades se pasan a llamar TABLAS</a:t>
            </a:r>
          </a:p>
        </p:txBody>
      </p:sp>
      <p:sp>
        <p:nvSpPr>
          <p:cNvPr id="7" name="Rectangle: Rounded Corners 6">
            <a:extLst>
              <a:ext uri="{FF2B5EF4-FFF2-40B4-BE49-F238E27FC236}">
                <a16:creationId xmlns:a16="http://schemas.microsoft.com/office/drawing/2014/main" id="{EEEA9EF4-39AF-92ED-A24F-635FE05C0942}"/>
              </a:ext>
            </a:extLst>
          </p:cNvPr>
          <p:cNvSpPr/>
          <p:nvPr/>
        </p:nvSpPr>
        <p:spPr>
          <a:xfrm>
            <a:off x="9137650" y="7940675"/>
            <a:ext cx="5105400" cy="126967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2400" b="1" dirty="0"/>
              <a:t>Estos campos en común, serán nuestras PRIMARY KEY Y FOREIGN KEY</a:t>
            </a:r>
          </a:p>
        </p:txBody>
      </p:sp>
    </p:spTree>
    <p:extLst>
      <p:ext uri="{BB962C8B-B14F-4D97-AF65-F5344CB8AC3E}">
        <p14:creationId xmlns:p14="http://schemas.microsoft.com/office/powerpoint/2010/main" val="214962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sz="4800" dirty="0"/>
              <a:t>MODELO RELACIONAL</a:t>
            </a:r>
            <a:endParaRPr lang="es-CL" dirty="0"/>
          </a:p>
        </p:txBody>
      </p:sp>
      <p:sp>
        <p:nvSpPr>
          <p:cNvPr id="4" name="CuadroTexto 3">
            <a:extLst>
              <a:ext uri="{FF2B5EF4-FFF2-40B4-BE49-F238E27FC236}">
                <a16:creationId xmlns:a16="http://schemas.microsoft.com/office/drawing/2014/main" id="{49CAB5BC-5A14-4039-B5DE-FC66EF176185}"/>
              </a:ext>
            </a:extLst>
          </p:cNvPr>
          <p:cNvSpPr txBox="1"/>
          <p:nvPr/>
        </p:nvSpPr>
        <p:spPr>
          <a:xfrm>
            <a:off x="1212850" y="1768475"/>
            <a:ext cx="16459200" cy="9120445"/>
          </a:xfrm>
          <a:prstGeom prst="rect">
            <a:avLst/>
          </a:prstGeom>
          <a:noFill/>
        </p:spPr>
        <p:txBody>
          <a:bodyPr wrap="square">
            <a:spAutoFit/>
          </a:bodyPr>
          <a:lstStyle/>
          <a:p>
            <a:pPr algn="just" rtl="0" fontAlgn="base">
              <a:spcBef>
                <a:spcPts val="1000"/>
              </a:spcBef>
              <a:spcAft>
                <a:spcPts val="0"/>
              </a:spcAft>
            </a:pPr>
            <a:r>
              <a:rPr lang="es-ES" sz="4000" b="1" i="0" u="none" strike="noStrike" dirty="0">
                <a:solidFill>
                  <a:schemeClr val="tx1"/>
                </a:solidFill>
                <a:effectLst/>
                <a:latin typeface="Calibri" panose="020F0502020204030204" pitchFamily="34" charset="0"/>
              </a:rPr>
              <a:t>CARACTERISTICAS DE UN MODEL</a:t>
            </a:r>
            <a:r>
              <a:rPr lang="es-ES" sz="4000" b="1" dirty="0">
                <a:solidFill>
                  <a:schemeClr val="tx1"/>
                </a:solidFill>
                <a:latin typeface="Calibri" panose="020F0502020204030204" pitchFamily="34" charset="0"/>
              </a:rPr>
              <a:t>O RELACIONAL</a:t>
            </a:r>
          </a:p>
          <a:p>
            <a:pPr algn="just" rtl="0" fontAlgn="base">
              <a:spcBef>
                <a:spcPts val="1000"/>
              </a:spcBef>
              <a:spcAft>
                <a:spcPts val="0"/>
              </a:spcAft>
            </a:pPr>
            <a:endParaRPr lang="es-ES" sz="4000" b="1" i="0" u="none" strike="noStrike" dirty="0">
              <a:solidFill>
                <a:schemeClr val="tx1"/>
              </a:solidFill>
              <a:effectLst/>
              <a:latin typeface="Calibri" panose="020F0502020204030204" pitchFamily="34" charset="0"/>
            </a:endParaRPr>
          </a:p>
          <a:p>
            <a:pPr marL="571500" indent="-5715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Una base de datos se compone de varias tablas y relaciones.</a:t>
            </a:r>
          </a:p>
          <a:p>
            <a:pPr marL="571500" lvl="1" indent="-571500" algn="just" rtl="0" fontAlgn="base">
              <a:spcBef>
                <a:spcPts val="1000"/>
              </a:spcBef>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No pueden existir dos tablas con el mismo nombre, ni atributos de la misma tabla u otra con el mismo nombre.</a:t>
            </a:r>
          </a:p>
          <a:p>
            <a:pPr marL="571500" lvl="1" indent="-571500" algn="just" rtl="0" fontAlgn="base">
              <a:spcBef>
                <a:spcPts val="1000"/>
              </a:spcBef>
              <a:buFont typeface="Arial" panose="020B0604020202020204" pitchFamily="34" charset="0"/>
              <a:buChar char="•"/>
            </a:pPr>
            <a:r>
              <a:rPr lang="es-ES" sz="4000" dirty="0">
                <a:solidFill>
                  <a:srgbClr val="818990"/>
                </a:solidFill>
                <a:latin typeface="Calibri" panose="020F0502020204030204" pitchFamily="34" charset="0"/>
              </a:rPr>
              <a:t>Una tabla, atributo o </a:t>
            </a:r>
            <a:r>
              <a:rPr lang="es-ES" sz="4000" dirty="0" err="1">
                <a:solidFill>
                  <a:srgbClr val="818990"/>
                </a:solidFill>
                <a:latin typeface="Calibri" panose="020F0502020204030204" pitchFamily="34" charset="0"/>
              </a:rPr>
              <a:t>constraint’s</a:t>
            </a:r>
            <a:r>
              <a:rPr lang="es-ES" sz="4000" dirty="0">
                <a:solidFill>
                  <a:srgbClr val="818990"/>
                </a:solidFill>
                <a:latin typeface="Calibri" panose="020F0502020204030204" pitchFamily="34" charset="0"/>
              </a:rPr>
              <a:t> no puede tener mas de 30 caracteres como nombre.</a:t>
            </a:r>
            <a:endParaRPr lang="es-ES" sz="4000" b="0" i="0" u="none" strike="noStrike" dirty="0">
              <a:solidFill>
                <a:srgbClr val="818990"/>
              </a:solidFill>
              <a:effectLst/>
              <a:latin typeface="Calibri" panose="020F0502020204030204" pitchFamily="34" charset="0"/>
            </a:endParaRPr>
          </a:p>
          <a:p>
            <a:pPr marL="571500" indent="-5715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Cada tabla es a su vez un conjunto de campos (columnas) y registros (filas).</a:t>
            </a:r>
          </a:p>
          <a:p>
            <a:pPr marL="571500" indent="-571500" algn="just" rtl="0" fontAlgn="base">
              <a:spcBef>
                <a:spcPts val="1000"/>
              </a:spcBef>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Las claves primarias es la clave principal de un registro dentro de una tabla.</a:t>
            </a:r>
          </a:p>
          <a:p>
            <a:pPr marL="571500" indent="-5715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La relación entre una tabla padre y tabla hijo es por medio de las claves primarias y claves foráneas (o ajenas).</a:t>
            </a:r>
          </a:p>
          <a:p>
            <a:pPr marL="571500" indent="-5715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Las claves ajenas se colocan en la tabla hija, contienen el mismo valor que la clave primaria del registro padre.</a:t>
            </a:r>
          </a:p>
        </p:txBody>
      </p:sp>
    </p:spTree>
    <p:extLst>
      <p:ext uri="{BB962C8B-B14F-4D97-AF65-F5344CB8AC3E}">
        <p14:creationId xmlns:p14="http://schemas.microsoft.com/office/powerpoint/2010/main" val="3732216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TERMINOLOGÍA</a:t>
            </a:r>
            <a:endParaRPr lang="es-CL" dirty="0"/>
          </a:p>
        </p:txBody>
      </p:sp>
      <p:pic>
        <p:nvPicPr>
          <p:cNvPr id="6" name="Imagen 5">
            <a:extLst>
              <a:ext uri="{FF2B5EF4-FFF2-40B4-BE49-F238E27FC236}">
                <a16:creationId xmlns:a16="http://schemas.microsoft.com/office/drawing/2014/main" id="{47888785-8019-1225-93DF-4EAEF1DF3E39}"/>
              </a:ext>
            </a:extLst>
          </p:cNvPr>
          <p:cNvPicPr>
            <a:picLocks noChangeAspect="1"/>
          </p:cNvPicPr>
          <p:nvPr/>
        </p:nvPicPr>
        <p:blipFill>
          <a:blip r:embed="rId3"/>
          <a:stretch>
            <a:fillRect/>
          </a:stretch>
        </p:blipFill>
        <p:spPr>
          <a:xfrm>
            <a:off x="641123" y="2454275"/>
            <a:ext cx="18821854" cy="6858000"/>
          </a:xfrm>
          <a:prstGeom prst="rect">
            <a:avLst/>
          </a:prstGeom>
        </p:spPr>
      </p:pic>
    </p:spTree>
    <p:extLst>
      <p:ext uri="{BB962C8B-B14F-4D97-AF65-F5344CB8AC3E}">
        <p14:creationId xmlns:p14="http://schemas.microsoft.com/office/powerpoint/2010/main" val="717399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44B65-502D-720C-84FA-17B727B0FCE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C95D730-8B30-568B-42CD-72455BEEF555}"/>
              </a:ext>
            </a:extLst>
          </p:cNvPr>
          <p:cNvSpPr>
            <a:spLocks noGrp="1"/>
          </p:cNvSpPr>
          <p:nvPr>
            <p:ph type="body" sz="quarter" idx="10"/>
          </p:nvPr>
        </p:nvSpPr>
        <p:spPr/>
        <p:txBody>
          <a:bodyPr/>
          <a:lstStyle/>
          <a:p>
            <a:r>
              <a:rPr lang="es-MX" dirty="0"/>
              <a:t>CLAVES DE LAS RELACIONES</a:t>
            </a:r>
            <a:endParaRPr lang="es-CL" dirty="0"/>
          </a:p>
        </p:txBody>
      </p:sp>
      <p:pic>
        <p:nvPicPr>
          <p:cNvPr id="4" name="Imagen 3">
            <a:extLst>
              <a:ext uri="{FF2B5EF4-FFF2-40B4-BE49-F238E27FC236}">
                <a16:creationId xmlns:a16="http://schemas.microsoft.com/office/drawing/2014/main" id="{8343444F-8A62-444D-BB2C-72D56CC0BDC8}"/>
              </a:ext>
            </a:extLst>
          </p:cNvPr>
          <p:cNvPicPr>
            <a:picLocks noChangeAspect="1"/>
          </p:cNvPicPr>
          <p:nvPr/>
        </p:nvPicPr>
        <p:blipFill rotWithShape="1">
          <a:blip r:embed="rId3"/>
          <a:srcRect t="2447" r="1125"/>
          <a:stretch/>
        </p:blipFill>
        <p:spPr>
          <a:xfrm>
            <a:off x="3355583" y="1463675"/>
            <a:ext cx="13392935" cy="9328170"/>
          </a:xfrm>
          <a:prstGeom prst="rect">
            <a:avLst/>
          </a:prstGeom>
        </p:spPr>
      </p:pic>
    </p:spTree>
    <p:extLst>
      <p:ext uri="{BB962C8B-B14F-4D97-AF65-F5344CB8AC3E}">
        <p14:creationId xmlns:p14="http://schemas.microsoft.com/office/powerpoint/2010/main" val="86179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99D63-1052-B047-38BD-29590EC133CD}"/>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3F6E274-28F1-DCD7-50C5-E841072759D1}"/>
              </a:ext>
            </a:extLst>
          </p:cNvPr>
          <p:cNvSpPr>
            <a:spLocks noGrp="1"/>
          </p:cNvSpPr>
          <p:nvPr>
            <p:ph type="body" sz="quarter" idx="10"/>
          </p:nvPr>
        </p:nvSpPr>
        <p:spPr/>
        <p:txBody>
          <a:bodyPr/>
          <a:lstStyle/>
          <a:p>
            <a:r>
              <a:rPr lang="es-MX" dirty="0"/>
              <a:t>RESTRICCIONES DE LAS RELACIONES</a:t>
            </a:r>
            <a:endParaRPr lang="es-CL" dirty="0"/>
          </a:p>
        </p:txBody>
      </p:sp>
      <p:pic>
        <p:nvPicPr>
          <p:cNvPr id="5" name="Imagen 4">
            <a:extLst>
              <a:ext uri="{FF2B5EF4-FFF2-40B4-BE49-F238E27FC236}">
                <a16:creationId xmlns:a16="http://schemas.microsoft.com/office/drawing/2014/main" id="{48BAC925-084F-8034-DA06-861B6336183F}"/>
              </a:ext>
            </a:extLst>
          </p:cNvPr>
          <p:cNvPicPr>
            <a:picLocks noChangeAspect="1"/>
          </p:cNvPicPr>
          <p:nvPr/>
        </p:nvPicPr>
        <p:blipFill>
          <a:blip r:embed="rId3"/>
          <a:stretch>
            <a:fillRect/>
          </a:stretch>
        </p:blipFill>
        <p:spPr>
          <a:xfrm>
            <a:off x="2182780" y="1768475"/>
            <a:ext cx="15738541" cy="8382000"/>
          </a:xfrm>
          <a:prstGeom prst="rect">
            <a:avLst/>
          </a:prstGeom>
        </p:spPr>
      </p:pic>
    </p:spTree>
    <p:extLst>
      <p:ext uri="{BB962C8B-B14F-4D97-AF65-F5344CB8AC3E}">
        <p14:creationId xmlns:p14="http://schemas.microsoft.com/office/powerpoint/2010/main" val="1368602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03</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738664"/>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CLAVE PRIMARIA</a:t>
            </a:r>
          </a:p>
        </p:txBody>
      </p:sp>
    </p:spTree>
    <p:extLst>
      <p:ext uri="{BB962C8B-B14F-4D97-AF65-F5344CB8AC3E}">
        <p14:creationId xmlns:p14="http://schemas.microsoft.com/office/powerpoint/2010/main" val="4010160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sz="4800" dirty="0"/>
              <a:t>CLAVE PRIMARIA</a:t>
            </a:r>
            <a:endParaRPr lang="es-CL" dirty="0"/>
          </a:p>
        </p:txBody>
      </p:sp>
      <p:sp>
        <p:nvSpPr>
          <p:cNvPr id="4" name="CuadroTexto 3">
            <a:extLst>
              <a:ext uri="{FF2B5EF4-FFF2-40B4-BE49-F238E27FC236}">
                <a16:creationId xmlns:a16="http://schemas.microsoft.com/office/drawing/2014/main" id="{49CAB5BC-5A14-4039-B5DE-FC66EF176185}"/>
              </a:ext>
            </a:extLst>
          </p:cNvPr>
          <p:cNvSpPr txBox="1"/>
          <p:nvPr/>
        </p:nvSpPr>
        <p:spPr>
          <a:xfrm>
            <a:off x="1113946" y="2069852"/>
            <a:ext cx="10157304" cy="7679025"/>
          </a:xfrm>
          <a:prstGeom prst="rect">
            <a:avLst/>
          </a:prstGeom>
          <a:noFill/>
        </p:spPr>
        <p:txBody>
          <a:bodyPr wrap="square">
            <a:spAutoFit/>
          </a:bodyPr>
          <a:lstStyle/>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Una clave primaria o PRIMARY KEY(PK) es un campo que identifica un solo registro (fila) en una tabla.</a:t>
            </a:r>
            <a:endParaRPr lang="es-ES" sz="3600" dirty="0">
              <a:solidFill>
                <a:srgbClr val="818990"/>
              </a:solidFill>
              <a:latin typeface="Calibri" panose="020F0502020204030204" pitchFamily="34" charset="0"/>
            </a:endParaRPr>
          </a:p>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En el ejemplo, la tabla PERSONA tiene un campo </a:t>
            </a:r>
            <a:r>
              <a:rPr lang="es-ES" sz="3600" b="1" i="0" u="none" strike="noStrike" dirty="0">
                <a:solidFill>
                  <a:srgbClr val="818990"/>
                </a:solidFill>
                <a:effectLst/>
                <a:latin typeface="Calibri" panose="020F0502020204030204" pitchFamily="34" charset="0"/>
              </a:rPr>
              <a:t>run</a:t>
            </a:r>
            <a:r>
              <a:rPr lang="es-ES" sz="3600" i="0" u="none" strike="noStrike" dirty="0">
                <a:solidFill>
                  <a:srgbClr val="818990"/>
                </a:solidFill>
                <a:effectLst/>
                <a:latin typeface="Calibri" panose="020F0502020204030204" pitchFamily="34" charset="0"/>
              </a:rPr>
              <a:t> qu</a:t>
            </a:r>
            <a:r>
              <a:rPr lang="es-ES" sz="3600" dirty="0">
                <a:solidFill>
                  <a:srgbClr val="818990"/>
                </a:solidFill>
                <a:latin typeface="Calibri" panose="020F0502020204030204" pitchFamily="34" charset="0"/>
              </a:rPr>
              <a:t>e es la clave primaria. </a:t>
            </a:r>
          </a:p>
          <a:p>
            <a:pPr algn="just" rtl="0" fontAlgn="base">
              <a:spcBef>
                <a:spcPts val="1000"/>
              </a:spcBef>
              <a:spcAft>
                <a:spcPts val="0"/>
              </a:spcAft>
            </a:pPr>
            <a:r>
              <a:rPr lang="es-ES" sz="3600" dirty="0">
                <a:solidFill>
                  <a:srgbClr val="818990"/>
                </a:solidFill>
                <a:latin typeface="Calibri" panose="020F0502020204030204" pitchFamily="34" charset="0"/>
              </a:rPr>
              <a:t>Los campos </a:t>
            </a:r>
            <a:r>
              <a:rPr lang="es-ES" sz="3600" b="0" i="0" u="none" strike="noStrike" dirty="0" err="1">
                <a:solidFill>
                  <a:srgbClr val="818990"/>
                </a:solidFill>
                <a:effectLst/>
                <a:latin typeface="Calibri" panose="020F0502020204030204" pitchFamily="34" charset="0"/>
              </a:rPr>
              <a:t>dv</a:t>
            </a:r>
            <a:r>
              <a:rPr lang="es-ES" sz="3600" b="0" i="0" u="none" strike="noStrike" dirty="0">
                <a:solidFill>
                  <a:srgbClr val="818990"/>
                </a:solidFill>
                <a:effectLst/>
                <a:latin typeface="Calibri" panose="020F0502020204030204" pitchFamily="34" charset="0"/>
              </a:rPr>
              <a:t> (digito verificador), nombre, apellido y dirección pueden tener registros duplicados, por ejemplo, en el caso de un padre e hijo que vivan en la misma casa y que se llamen igual. Sin embargo, el número del </a:t>
            </a:r>
            <a:r>
              <a:rPr lang="es-ES" sz="3600" b="1" i="0" u="none" strike="noStrike" dirty="0">
                <a:solidFill>
                  <a:srgbClr val="818990"/>
                </a:solidFill>
                <a:effectLst/>
                <a:latin typeface="Calibri" panose="020F0502020204030204" pitchFamily="34" charset="0"/>
              </a:rPr>
              <a:t>run NO </a:t>
            </a:r>
            <a:r>
              <a:rPr lang="es-ES" sz="3600" i="0" u="none" strike="noStrike" dirty="0">
                <a:solidFill>
                  <a:srgbClr val="818990"/>
                </a:solidFill>
                <a:effectLst/>
                <a:latin typeface="Calibri" panose="020F0502020204030204" pitchFamily="34" charset="0"/>
              </a:rPr>
              <a:t>puede ser duplicado.</a:t>
            </a:r>
          </a:p>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La tabla solo puede tener una clave primaria</a:t>
            </a:r>
            <a:r>
              <a:rPr lang="es-ES" sz="3600" dirty="0">
                <a:solidFill>
                  <a:srgbClr val="818990"/>
                </a:solidFill>
                <a:latin typeface="Calibri" panose="020F0502020204030204" pitchFamily="34" charset="0"/>
              </a:rPr>
              <a:t>, s</a:t>
            </a:r>
            <a:r>
              <a:rPr lang="es-ES" sz="3600" b="0" i="0" u="none" strike="noStrike" dirty="0">
                <a:solidFill>
                  <a:srgbClr val="818990"/>
                </a:solidFill>
                <a:effectLst/>
                <a:latin typeface="Calibri" panose="020F0502020204030204" pitchFamily="34" charset="0"/>
              </a:rPr>
              <a:t>us valores no pueden repetirse ni ser nulos. Al definir un campo como clave primaria, automáticamente Oracle lo convierte a "</a:t>
            </a:r>
            <a:r>
              <a:rPr lang="es-ES" sz="3600" b="0" i="0" u="none" strike="noStrike" dirty="0" err="1">
                <a:solidFill>
                  <a:srgbClr val="818990"/>
                </a:solidFill>
                <a:effectLst/>
                <a:latin typeface="Calibri" panose="020F0502020204030204" pitchFamily="34" charset="0"/>
              </a:rPr>
              <a:t>not</a:t>
            </a:r>
            <a:r>
              <a:rPr lang="es-ES" sz="3600" b="0" i="0" u="none" strike="noStrike" dirty="0">
                <a:solidFill>
                  <a:srgbClr val="818990"/>
                </a:solidFill>
                <a:effectLst/>
                <a:latin typeface="Calibri" panose="020F0502020204030204" pitchFamily="34" charset="0"/>
              </a:rPr>
              <a:t> </a:t>
            </a:r>
            <a:r>
              <a:rPr lang="es-ES" sz="3600" b="0" i="0" u="none" strike="noStrike" dirty="0" err="1">
                <a:solidFill>
                  <a:srgbClr val="818990"/>
                </a:solidFill>
                <a:effectLst/>
                <a:latin typeface="Calibri" panose="020F0502020204030204" pitchFamily="34" charset="0"/>
              </a:rPr>
              <a:t>null</a:t>
            </a:r>
            <a:r>
              <a:rPr lang="es-ES" sz="3600" b="0" i="0" u="none" strike="noStrike" dirty="0">
                <a:solidFill>
                  <a:srgbClr val="818990"/>
                </a:solidFill>
                <a:effectLst/>
                <a:latin typeface="Calibri" panose="020F0502020204030204" pitchFamily="34" charset="0"/>
              </a:rPr>
              <a:t>“.</a:t>
            </a:r>
          </a:p>
        </p:txBody>
      </p:sp>
      <p:pic>
        <p:nvPicPr>
          <p:cNvPr id="7" name="Imagen 6">
            <a:extLst>
              <a:ext uri="{FF2B5EF4-FFF2-40B4-BE49-F238E27FC236}">
                <a16:creationId xmlns:a16="http://schemas.microsoft.com/office/drawing/2014/main" id="{92272440-0147-A4AB-8841-32943A1472DC}"/>
              </a:ext>
            </a:extLst>
          </p:cNvPr>
          <p:cNvPicPr>
            <a:picLocks noChangeAspect="1"/>
          </p:cNvPicPr>
          <p:nvPr/>
        </p:nvPicPr>
        <p:blipFill>
          <a:blip r:embed="rId2"/>
          <a:stretch>
            <a:fillRect/>
          </a:stretch>
        </p:blipFill>
        <p:spPr>
          <a:xfrm>
            <a:off x="11499850" y="3146741"/>
            <a:ext cx="7852130" cy="5708334"/>
          </a:xfrm>
          <a:prstGeom prst="rect">
            <a:avLst/>
          </a:prstGeom>
        </p:spPr>
      </p:pic>
    </p:spTree>
    <p:extLst>
      <p:ext uri="{BB962C8B-B14F-4D97-AF65-F5344CB8AC3E}">
        <p14:creationId xmlns:p14="http://schemas.microsoft.com/office/powerpoint/2010/main" val="3598780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sz="4800" dirty="0"/>
              <a:t>CLAVE PRIMARIA</a:t>
            </a:r>
            <a:endParaRPr lang="es-CL" dirty="0"/>
          </a:p>
        </p:txBody>
      </p:sp>
      <p:sp>
        <p:nvSpPr>
          <p:cNvPr id="4" name="CuadroTexto 3">
            <a:extLst>
              <a:ext uri="{FF2B5EF4-FFF2-40B4-BE49-F238E27FC236}">
                <a16:creationId xmlns:a16="http://schemas.microsoft.com/office/drawing/2014/main" id="{49CAB5BC-5A14-4039-B5DE-FC66EF176185}"/>
              </a:ext>
            </a:extLst>
          </p:cNvPr>
          <p:cNvSpPr txBox="1"/>
          <p:nvPr/>
        </p:nvSpPr>
        <p:spPr>
          <a:xfrm>
            <a:off x="1113946" y="2069852"/>
            <a:ext cx="17624904" cy="5529719"/>
          </a:xfrm>
          <a:prstGeom prst="rect">
            <a:avLst/>
          </a:prstGeom>
          <a:noFill/>
        </p:spPr>
        <p:txBody>
          <a:bodyPr wrap="square">
            <a:spAutoFit/>
          </a:bodyPr>
          <a:lstStyle/>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En ocasiones una clave primaria debe componerse por más de un campo. Se conocen como claves primarias compuestas y las que tienen solo un campo se conocen com</a:t>
            </a:r>
            <a:r>
              <a:rPr lang="es-ES" sz="3200" dirty="0">
                <a:solidFill>
                  <a:srgbClr val="818990"/>
                </a:solidFill>
                <a:latin typeface="Calibri" panose="020F0502020204030204" pitchFamily="34" charset="0"/>
              </a:rPr>
              <a:t>o claves primarias simples.</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En el ejemplo, la tabla ARRIENDO tiene un campo </a:t>
            </a:r>
            <a:r>
              <a:rPr lang="es-ES" sz="3200" b="1" i="0" u="none" strike="noStrike" dirty="0" err="1">
                <a:solidFill>
                  <a:srgbClr val="818990"/>
                </a:solidFill>
                <a:effectLst/>
                <a:latin typeface="Calibri" panose="020F0502020204030204" pitchFamily="34" charset="0"/>
              </a:rPr>
              <a:t>numero_departamento</a:t>
            </a:r>
            <a:r>
              <a:rPr lang="es-ES" sz="3200" i="0" u="none" strike="noStrike" dirty="0">
                <a:solidFill>
                  <a:srgbClr val="818990"/>
                </a:solidFill>
                <a:effectLst/>
                <a:latin typeface="Calibri" panose="020F0502020204030204" pitchFamily="34" charset="0"/>
              </a:rPr>
              <a:t> qu</a:t>
            </a:r>
            <a:r>
              <a:rPr lang="es-ES" sz="3200" dirty="0">
                <a:solidFill>
                  <a:srgbClr val="818990"/>
                </a:solidFill>
                <a:latin typeface="Calibri" panose="020F0502020204030204" pitchFamily="34" charset="0"/>
              </a:rPr>
              <a:t>e es la clave primaria. Consideremos el departamento 103 que fue arrendado en enero 2020. Si ese departamento vuelve a arrendarse en marzo 2023 generaría un error de clave primaria duplicada ya que el numero 103 se estaría repitiendo. </a:t>
            </a:r>
          </a:p>
          <a:p>
            <a:pPr algn="just" rtl="0" fontAlgn="base">
              <a:spcBef>
                <a:spcPts val="1000"/>
              </a:spcBef>
              <a:spcAft>
                <a:spcPts val="0"/>
              </a:spcAft>
            </a:pPr>
            <a:r>
              <a:rPr lang="es-ES" sz="3200" dirty="0">
                <a:solidFill>
                  <a:srgbClr val="818990"/>
                </a:solidFill>
                <a:latin typeface="Calibri" panose="020F0502020204030204" pitchFamily="34" charset="0"/>
              </a:rPr>
              <a:t>Para solucionar esa situación, se une el campo </a:t>
            </a:r>
            <a:r>
              <a:rPr lang="es-ES" sz="3200" b="1" dirty="0" err="1">
                <a:solidFill>
                  <a:srgbClr val="818990"/>
                </a:solidFill>
                <a:latin typeface="Calibri" panose="020F0502020204030204" pitchFamily="34" charset="0"/>
              </a:rPr>
              <a:t>fecha_inicio_arriendo</a:t>
            </a:r>
            <a:r>
              <a:rPr lang="es-ES" sz="3200" b="1" dirty="0">
                <a:solidFill>
                  <a:srgbClr val="818990"/>
                </a:solidFill>
                <a:latin typeface="Calibri" panose="020F0502020204030204" pitchFamily="34" charset="0"/>
              </a:rPr>
              <a:t> </a:t>
            </a:r>
            <a:r>
              <a:rPr lang="es-ES" sz="3200" dirty="0">
                <a:solidFill>
                  <a:srgbClr val="818990"/>
                </a:solidFill>
                <a:latin typeface="Calibri" panose="020F0502020204030204" pitchFamily="34" charset="0"/>
              </a:rPr>
              <a:t>a la clave primaria haciendo así único el registro.</a:t>
            </a:r>
          </a:p>
          <a:p>
            <a:pPr algn="just" rtl="0" fontAlgn="base">
              <a:spcBef>
                <a:spcPts val="1000"/>
              </a:spcBef>
              <a:spcAft>
                <a:spcPts val="0"/>
              </a:spcAft>
            </a:pPr>
            <a:r>
              <a:rPr lang="es-ES" sz="3200" dirty="0">
                <a:solidFill>
                  <a:srgbClr val="818990"/>
                </a:solidFill>
                <a:latin typeface="Calibri" panose="020F0502020204030204" pitchFamily="34" charset="0"/>
              </a:rPr>
              <a:t>103 – enero 2020</a:t>
            </a:r>
          </a:p>
          <a:p>
            <a:pPr algn="just" rtl="0" fontAlgn="base">
              <a:spcBef>
                <a:spcPts val="1000"/>
              </a:spcBef>
              <a:spcAft>
                <a:spcPts val="0"/>
              </a:spcAft>
            </a:pPr>
            <a:r>
              <a:rPr lang="es-ES" sz="3200" dirty="0">
                <a:solidFill>
                  <a:srgbClr val="818990"/>
                </a:solidFill>
                <a:latin typeface="Calibri" panose="020F0502020204030204" pitchFamily="34" charset="0"/>
              </a:rPr>
              <a:t>103 – marzo 2023</a:t>
            </a:r>
          </a:p>
        </p:txBody>
      </p:sp>
      <p:pic>
        <p:nvPicPr>
          <p:cNvPr id="7" name="Imagen 6">
            <a:extLst>
              <a:ext uri="{FF2B5EF4-FFF2-40B4-BE49-F238E27FC236}">
                <a16:creationId xmlns:a16="http://schemas.microsoft.com/office/drawing/2014/main" id="{92272440-0147-A4AB-8841-32943A1472D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80050" y="6035675"/>
            <a:ext cx="9906000" cy="3960462"/>
          </a:xfrm>
          <a:prstGeom prst="rect">
            <a:avLst/>
          </a:prstGeom>
        </p:spPr>
      </p:pic>
    </p:spTree>
    <p:extLst>
      <p:ext uri="{BB962C8B-B14F-4D97-AF65-F5344CB8AC3E}">
        <p14:creationId xmlns:p14="http://schemas.microsoft.com/office/powerpoint/2010/main" val="3357996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4413250" y="7559675"/>
            <a:ext cx="10134600" cy="1015663"/>
          </a:xfrm>
        </p:spPr>
        <p:txBody>
          <a:bodyPr/>
          <a:lstStyle/>
          <a:p>
            <a:pPr algn="r"/>
            <a:r>
              <a:rPr lang="es-CL" sz="6600" dirty="0"/>
              <a:t>CLAVE FORÁNEA</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2198860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CLAVE FORÁNEA</a:t>
            </a:r>
            <a:endParaRPr lang="es-CL" dirty="0"/>
          </a:p>
        </p:txBody>
      </p:sp>
      <p:sp>
        <p:nvSpPr>
          <p:cNvPr id="5" name="CuadroTexto 4">
            <a:extLst>
              <a:ext uri="{FF2B5EF4-FFF2-40B4-BE49-F238E27FC236}">
                <a16:creationId xmlns:a16="http://schemas.microsoft.com/office/drawing/2014/main" id="{31C263AC-F93E-F08A-4BEF-4BB03FA670DD}"/>
              </a:ext>
            </a:extLst>
          </p:cNvPr>
          <p:cNvSpPr txBox="1"/>
          <p:nvPr/>
        </p:nvSpPr>
        <p:spPr>
          <a:xfrm>
            <a:off x="831850" y="1961277"/>
            <a:ext cx="18440400" cy="4780796"/>
          </a:xfrm>
          <a:prstGeom prst="rect">
            <a:avLst/>
          </a:prstGeom>
          <a:noFill/>
        </p:spPr>
        <p:txBody>
          <a:bodyPr wrap="square">
            <a:spAutoFit/>
          </a:bodyPr>
          <a:lstStyle/>
          <a:p>
            <a:pPr algn="just" rtl="0" fontAlgn="base">
              <a:spcBef>
                <a:spcPts val="1000"/>
              </a:spcBef>
              <a:spcAft>
                <a:spcPts val="0"/>
              </a:spcAft>
            </a:pPr>
            <a:r>
              <a:rPr lang="es-ES" sz="3600" dirty="0">
                <a:solidFill>
                  <a:srgbClr val="818990"/>
                </a:solidFill>
                <a:latin typeface="Calibri" panose="020F0502020204030204" pitchFamily="34" charset="0"/>
              </a:rPr>
              <a:t>La clave foránea o FOREIGN KEY, es un</a:t>
            </a:r>
            <a:r>
              <a:rPr lang="es-ES" sz="3600" b="0" i="0" u="none" strike="noStrike" dirty="0">
                <a:solidFill>
                  <a:srgbClr val="818990"/>
                </a:solidFill>
                <a:effectLst/>
                <a:latin typeface="Calibri" panose="020F0502020204030204" pitchFamily="34" charset="0"/>
              </a:rPr>
              <a:t> campo que es la clave primaria de otra entidad ajena de dond</a:t>
            </a:r>
            <a:r>
              <a:rPr lang="es-ES" sz="3600" dirty="0">
                <a:solidFill>
                  <a:srgbClr val="818990"/>
                </a:solidFill>
                <a:latin typeface="Calibri" panose="020F0502020204030204" pitchFamily="34" charset="0"/>
              </a:rPr>
              <a:t>e se encuentra, </a:t>
            </a:r>
            <a:r>
              <a:rPr lang="es-ES" sz="3600" b="0" i="0" u="none" strike="noStrike" dirty="0">
                <a:solidFill>
                  <a:srgbClr val="818990"/>
                </a:solidFill>
                <a:effectLst/>
                <a:latin typeface="Calibri" panose="020F0502020204030204" pitchFamily="34" charset="0"/>
              </a:rPr>
              <a:t>sirve para enlazar </a:t>
            </a:r>
            <a:r>
              <a:rPr lang="es-ES" sz="3600" dirty="0">
                <a:solidFill>
                  <a:srgbClr val="818990"/>
                </a:solidFill>
                <a:latin typeface="Calibri" panose="020F0502020204030204" pitchFamily="34" charset="0"/>
              </a:rPr>
              <a:t>los valores de ambas tablas, si estos se encuentran relacionados.</a:t>
            </a:r>
            <a:endParaRPr lang="es-ES" sz="3600" b="0" i="0" u="none" strike="noStrike" dirty="0">
              <a:solidFill>
                <a:srgbClr val="818990"/>
              </a:solidFill>
              <a:effectLst/>
              <a:latin typeface="Calibri" panose="020F0502020204030204" pitchFamily="34" charset="0"/>
            </a:endParaRPr>
          </a:p>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Las claves foráneas y las claves primarias deben ser del mismo tipo para poder enlazarse. Si modificamos una, debemos modificar la otra para que los valores se correspondan, si no se pierde el vinculo y concordancia.</a:t>
            </a:r>
          </a:p>
          <a:p>
            <a:pPr algn="just" rtl="0" fontAlgn="base">
              <a:spcBef>
                <a:spcPts val="1000"/>
              </a:spcBef>
              <a:spcAft>
                <a:spcPts val="0"/>
              </a:spcAft>
            </a:pPr>
            <a:r>
              <a:rPr lang="es-ES" sz="3600" dirty="0">
                <a:solidFill>
                  <a:srgbClr val="818990"/>
                </a:solidFill>
                <a:latin typeface="Calibri" panose="020F0502020204030204" pitchFamily="34" charset="0"/>
              </a:rPr>
              <a:t>En el caso de ejemplo, un cliente puede realizar varios arriendos, cada arriendo recibe como clave foránea la clave primaria de CLIENTE para su vinculo y registros.</a:t>
            </a:r>
            <a:endParaRPr lang="es-ES" sz="3600" b="0" i="0" u="none" strike="noStrike" dirty="0">
              <a:solidFill>
                <a:srgbClr val="818990"/>
              </a:solidFill>
              <a:effectLst/>
              <a:latin typeface="Calibri" panose="020F0502020204030204" pitchFamily="34" charset="0"/>
            </a:endParaRPr>
          </a:p>
        </p:txBody>
      </p:sp>
      <p:pic>
        <p:nvPicPr>
          <p:cNvPr id="8" name="Imagen 7">
            <a:extLst>
              <a:ext uri="{FF2B5EF4-FFF2-40B4-BE49-F238E27FC236}">
                <a16:creationId xmlns:a16="http://schemas.microsoft.com/office/drawing/2014/main" id="{C064BC51-540C-D27D-C552-4CA74EF5FD65}"/>
              </a:ext>
            </a:extLst>
          </p:cNvPr>
          <p:cNvPicPr>
            <a:picLocks noChangeAspect="1"/>
          </p:cNvPicPr>
          <p:nvPr/>
        </p:nvPicPr>
        <p:blipFill>
          <a:blip r:embed="rId3"/>
          <a:stretch>
            <a:fillRect/>
          </a:stretch>
        </p:blipFill>
        <p:spPr>
          <a:xfrm>
            <a:off x="3727450" y="6757948"/>
            <a:ext cx="14711710" cy="4117986"/>
          </a:xfrm>
          <a:prstGeom prst="rect">
            <a:avLst/>
          </a:prstGeom>
        </p:spPr>
      </p:pic>
    </p:spTree>
    <p:extLst>
      <p:ext uri="{BB962C8B-B14F-4D97-AF65-F5344CB8AC3E}">
        <p14:creationId xmlns:p14="http://schemas.microsoft.com/office/powerpoint/2010/main" val="2243986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TRASPASO DE PK SEGÚN EL TIPO DE RELACIÓN</a:t>
            </a:r>
            <a:endParaRPr lang="es-CL" dirty="0"/>
          </a:p>
        </p:txBody>
      </p:sp>
      <p:sp>
        <p:nvSpPr>
          <p:cNvPr id="3" name="Rectangle: Rounded Corners 2">
            <a:extLst>
              <a:ext uri="{FF2B5EF4-FFF2-40B4-BE49-F238E27FC236}">
                <a16:creationId xmlns:a16="http://schemas.microsoft.com/office/drawing/2014/main" id="{4DF5B2A5-FF20-935E-C796-E97770E7D19F}"/>
              </a:ext>
            </a:extLst>
          </p:cNvPr>
          <p:cNvSpPr/>
          <p:nvPr/>
        </p:nvSpPr>
        <p:spPr>
          <a:xfrm>
            <a:off x="2432050" y="2225675"/>
            <a:ext cx="17297400" cy="22479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i="0" dirty="0">
                <a:effectLst/>
                <a:latin typeface="fkGroteskNeue"/>
              </a:rPr>
              <a:t>En una relación 1:1, la PK de la tabla FUERTE se traslada completamente como PK y FK a la tabla DEBIL. Por ejemplo, un Alumno tiene un solo Registro, la PK "</a:t>
            </a:r>
            <a:r>
              <a:rPr lang="es-ES" sz="3200" b="1" i="0" dirty="0" err="1">
                <a:effectLst/>
                <a:latin typeface="fkGroteskNeue"/>
              </a:rPr>
              <a:t>id_alumno</a:t>
            </a:r>
            <a:r>
              <a:rPr lang="es-ES" sz="3200" b="1" i="0" dirty="0">
                <a:effectLst/>
                <a:latin typeface="fkGroteskNeue"/>
              </a:rPr>
              <a:t>" de la tabla ALUMNO se copia como PK (y FK) en REGISTRO_ALUMNO</a:t>
            </a:r>
            <a:r>
              <a:rPr lang="es-ES" sz="3200" b="1" dirty="0">
                <a:latin typeface="fkGroteskNeue"/>
              </a:rPr>
              <a:t>, para este proceso se tiene que identificar la entidad DEBIL Y FUERTE previamente.</a:t>
            </a:r>
            <a:endParaRPr lang="es-CL" sz="3200" b="1" dirty="0"/>
          </a:p>
        </p:txBody>
      </p:sp>
      <p:sp>
        <p:nvSpPr>
          <p:cNvPr id="7" name="Hexagon 6">
            <a:extLst>
              <a:ext uri="{FF2B5EF4-FFF2-40B4-BE49-F238E27FC236}">
                <a16:creationId xmlns:a16="http://schemas.microsoft.com/office/drawing/2014/main" id="{5052AA4E-1E0D-99D0-A22F-D32979D01B57}"/>
              </a:ext>
            </a:extLst>
          </p:cNvPr>
          <p:cNvSpPr/>
          <p:nvPr/>
        </p:nvSpPr>
        <p:spPr>
          <a:xfrm>
            <a:off x="420949" y="2564746"/>
            <a:ext cx="1974868" cy="1571625"/>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5400" dirty="0"/>
              <a:t>1:1</a:t>
            </a:r>
          </a:p>
        </p:txBody>
      </p:sp>
      <p:sp>
        <p:nvSpPr>
          <p:cNvPr id="10" name="Hexagon 9">
            <a:extLst>
              <a:ext uri="{FF2B5EF4-FFF2-40B4-BE49-F238E27FC236}">
                <a16:creationId xmlns:a16="http://schemas.microsoft.com/office/drawing/2014/main" id="{4B490CB0-070E-8179-A2FE-C68302020AD2}"/>
              </a:ext>
            </a:extLst>
          </p:cNvPr>
          <p:cNvSpPr/>
          <p:nvPr/>
        </p:nvSpPr>
        <p:spPr>
          <a:xfrm>
            <a:off x="17754582" y="5235574"/>
            <a:ext cx="1974868" cy="1571625"/>
          </a:xfrm>
          <a:prstGeom prst="hexagon">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5400" dirty="0"/>
              <a:t>1:N</a:t>
            </a:r>
          </a:p>
        </p:txBody>
      </p:sp>
      <p:sp>
        <p:nvSpPr>
          <p:cNvPr id="11" name="Rectangle: Rounded Corners 10">
            <a:extLst>
              <a:ext uri="{FF2B5EF4-FFF2-40B4-BE49-F238E27FC236}">
                <a16:creationId xmlns:a16="http://schemas.microsoft.com/office/drawing/2014/main" id="{D22418CD-3661-870E-08D2-952DFD082AF0}"/>
              </a:ext>
            </a:extLst>
          </p:cNvPr>
          <p:cNvSpPr/>
          <p:nvPr/>
        </p:nvSpPr>
        <p:spPr>
          <a:xfrm>
            <a:off x="420949" y="4898371"/>
            <a:ext cx="17297400" cy="224790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i="0" dirty="0">
                <a:effectLst/>
                <a:latin typeface="fkGroteskNeue"/>
              </a:rPr>
              <a:t>En una relación 1:N, la PK de la entidad que esta hacia el  "1" se traslada como FK hacia la entidad que esta hacia el "N“ de la relación, donde puede repetirse. Por ejemplo, una Carrera (PK: </a:t>
            </a:r>
            <a:r>
              <a:rPr lang="es-ES" sz="3200" b="1" i="0" dirty="0" err="1">
                <a:effectLst/>
                <a:latin typeface="fkGroteskNeue"/>
              </a:rPr>
              <a:t>id_carrera</a:t>
            </a:r>
            <a:r>
              <a:rPr lang="es-ES" sz="3200" b="1" i="0" dirty="0">
                <a:effectLst/>
                <a:latin typeface="fkGroteskNeue"/>
              </a:rPr>
              <a:t>) se relaciona con muchos Alumnos, así que </a:t>
            </a:r>
            <a:r>
              <a:rPr lang="es-ES" sz="3200" b="1" i="0" dirty="0" err="1">
                <a:effectLst/>
                <a:latin typeface="fkGroteskNeue"/>
              </a:rPr>
              <a:t>id_carrera</a:t>
            </a:r>
            <a:r>
              <a:rPr lang="es-ES" sz="3200" b="1" i="0" dirty="0">
                <a:effectLst/>
                <a:latin typeface="fkGroteskNeue"/>
              </a:rPr>
              <a:t> va como FK en la tabla Alumnos y se repite por cada alumno inscrito.</a:t>
            </a:r>
          </a:p>
        </p:txBody>
      </p:sp>
      <p:sp>
        <p:nvSpPr>
          <p:cNvPr id="13" name="Rectangle: Rounded Corners 12">
            <a:extLst>
              <a:ext uri="{FF2B5EF4-FFF2-40B4-BE49-F238E27FC236}">
                <a16:creationId xmlns:a16="http://schemas.microsoft.com/office/drawing/2014/main" id="{CB4249D8-AD9D-E0A8-B7C2-D4133FD9211C}"/>
              </a:ext>
            </a:extLst>
          </p:cNvPr>
          <p:cNvSpPr/>
          <p:nvPr/>
        </p:nvSpPr>
        <p:spPr>
          <a:xfrm>
            <a:off x="2398432" y="7466293"/>
            <a:ext cx="17297400" cy="251366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200" b="1" dirty="0"/>
              <a:t>En las relaciones N:N, se crea una tabla intermedia que recibe las PK de ambas tablas como FK combinadas, conocido como TABLA DE ROMPIMIENTO, formando su PK compuesta, es decir, ambas PK recibidas desde las dos tablas en la TABLA DE ROMPIMIENTO, se consideran PK y FK compuesta a la vez. Por ejemplo, Asesores y Clientes: la tabla Atención recibe </a:t>
            </a:r>
            <a:r>
              <a:rPr lang="es-ES" sz="3200" b="1" dirty="0" err="1"/>
              <a:t>id_asesor</a:t>
            </a:r>
            <a:r>
              <a:rPr lang="es-ES" sz="3200" b="1" dirty="0"/>
              <a:t> (PK/FK) e </a:t>
            </a:r>
            <a:r>
              <a:rPr lang="es-ES" sz="3200" b="1" dirty="0" err="1"/>
              <a:t>id_cliente</a:t>
            </a:r>
            <a:r>
              <a:rPr lang="es-ES" sz="3200" b="1" dirty="0"/>
              <a:t> (PK/FK),  y más datos como </a:t>
            </a:r>
            <a:r>
              <a:rPr lang="es-ES" sz="3200" b="1" dirty="0" err="1"/>
              <a:t>fecha_atención</a:t>
            </a:r>
            <a:r>
              <a:rPr lang="es-ES" sz="3200" b="1" dirty="0"/>
              <a:t>.</a:t>
            </a:r>
          </a:p>
        </p:txBody>
      </p:sp>
      <p:sp>
        <p:nvSpPr>
          <p:cNvPr id="14" name="Hexagon 13">
            <a:extLst>
              <a:ext uri="{FF2B5EF4-FFF2-40B4-BE49-F238E27FC236}">
                <a16:creationId xmlns:a16="http://schemas.microsoft.com/office/drawing/2014/main" id="{CFCE46E2-DC19-8E20-2B79-BEEE4887BDED}"/>
              </a:ext>
            </a:extLst>
          </p:cNvPr>
          <p:cNvSpPr/>
          <p:nvPr/>
        </p:nvSpPr>
        <p:spPr>
          <a:xfrm>
            <a:off x="396670" y="7757924"/>
            <a:ext cx="1974868" cy="1571625"/>
          </a:xfrm>
          <a:prstGeom prst="hexagon">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5400" dirty="0"/>
              <a:t>N:N</a:t>
            </a:r>
          </a:p>
        </p:txBody>
      </p:sp>
    </p:spTree>
    <p:extLst>
      <p:ext uri="{BB962C8B-B14F-4D97-AF65-F5344CB8AC3E}">
        <p14:creationId xmlns:p14="http://schemas.microsoft.com/office/powerpoint/2010/main" val="1008499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IMPORTANCIA DE LA FOREIGN KEY</a:t>
            </a:r>
            <a:endParaRPr lang="es-CL" dirty="0"/>
          </a:p>
        </p:txBody>
      </p:sp>
      <p:sp>
        <p:nvSpPr>
          <p:cNvPr id="4" name="CuadroTexto 4">
            <a:extLst>
              <a:ext uri="{FF2B5EF4-FFF2-40B4-BE49-F238E27FC236}">
                <a16:creationId xmlns:a16="http://schemas.microsoft.com/office/drawing/2014/main" id="{6EA02619-FCF9-98AC-AEC4-24E976BABBE7}"/>
              </a:ext>
            </a:extLst>
          </p:cNvPr>
          <p:cNvSpPr txBox="1"/>
          <p:nvPr/>
        </p:nvSpPr>
        <p:spPr>
          <a:xfrm>
            <a:off x="831850" y="1961277"/>
            <a:ext cx="18440400" cy="5888792"/>
          </a:xfrm>
          <a:prstGeom prst="rect">
            <a:avLst/>
          </a:prstGeom>
          <a:noFill/>
        </p:spPr>
        <p:txBody>
          <a:bodyPr wrap="square">
            <a:spAutoFit/>
          </a:bodyPr>
          <a:lstStyle/>
          <a:p>
            <a:pPr algn="just" rtl="0" fontAlgn="base">
              <a:spcBef>
                <a:spcPts val="1000"/>
              </a:spcBef>
              <a:spcAft>
                <a:spcPts val="0"/>
              </a:spcAft>
            </a:pPr>
            <a:r>
              <a:rPr lang="es-ES" sz="3600" dirty="0">
                <a:solidFill>
                  <a:srgbClr val="818990"/>
                </a:solidFill>
                <a:latin typeface="Calibri" panose="020F0502020204030204" pitchFamily="34" charset="0"/>
              </a:rPr>
              <a:t>La clave foránea o FOREIGN KEY, nos permitirá poder obtener los datos de dos o mas entidades de forma simultanea a través de código SQL, es decir, podemos realizar una consulta a múltiples tablas a la vez.</a:t>
            </a:r>
            <a:endParaRPr lang="es-ES" sz="3600" b="0" i="0" u="none" strike="noStrike" dirty="0">
              <a:solidFill>
                <a:srgbClr val="818990"/>
              </a:solidFill>
              <a:effectLst/>
              <a:latin typeface="Calibri" panose="020F0502020204030204" pitchFamily="34" charset="0"/>
            </a:endParaRPr>
          </a:p>
          <a:p>
            <a:pPr algn="just" rtl="0" fontAlgn="base">
              <a:spcBef>
                <a:spcPts val="1000"/>
              </a:spcBef>
              <a:spcAft>
                <a:spcPts val="0"/>
              </a:spcAft>
            </a:pPr>
            <a:r>
              <a:rPr lang="es-ES" sz="3600" dirty="0">
                <a:solidFill>
                  <a:srgbClr val="818990"/>
                </a:solidFill>
                <a:latin typeface="Calibri" panose="020F0502020204030204" pitchFamily="34" charset="0"/>
              </a:rPr>
              <a:t>Supongamos que necesitamos saber el cuantos arriendos ha realizado un cliente y sus fechas, para poder obtener dicha información, se requiere saber los datos del CLIENTE como el run, para identificar a dicho cliente, y que ARRIENDOS a realizado, para este caso debemos solicitar el run(PK) de la tabla CLIENTE, y la </a:t>
            </a:r>
            <a:r>
              <a:rPr lang="es-ES" sz="3600" dirty="0" err="1">
                <a:solidFill>
                  <a:srgbClr val="818990"/>
                </a:solidFill>
                <a:latin typeface="Calibri" panose="020F0502020204030204" pitchFamily="34" charset="0"/>
              </a:rPr>
              <a:t>fecha_inicio</a:t>
            </a:r>
            <a:r>
              <a:rPr lang="es-ES" sz="3600" dirty="0">
                <a:solidFill>
                  <a:srgbClr val="818990"/>
                </a:solidFill>
                <a:latin typeface="Calibri" panose="020F0502020204030204" pitchFamily="34" charset="0"/>
              </a:rPr>
              <a:t> y </a:t>
            </a:r>
            <a:r>
              <a:rPr lang="es-ES" sz="3600" dirty="0" err="1">
                <a:solidFill>
                  <a:srgbClr val="818990"/>
                </a:solidFill>
                <a:latin typeface="Calibri" panose="020F0502020204030204" pitchFamily="34" charset="0"/>
              </a:rPr>
              <a:t>fecha_termino</a:t>
            </a:r>
            <a:r>
              <a:rPr lang="es-ES" sz="3600" dirty="0">
                <a:solidFill>
                  <a:srgbClr val="818990"/>
                </a:solidFill>
                <a:latin typeface="Calibri" panose="020F0502020204030204" pitchFamily="34" charset="0"/>
              </a:rPr>
              <a:t> de ARRIENDO, para realizar dicha unión, podemos detectar que ARRIENDO tiene como clave foránea el run de CLIENTE, a través de este parámetro en común, realizaremos la unión y solicitud.</a:t>
            </a:r>
          </a:p>
          <a:p>
            <a:pPr algn="just" rtl="0" fontAlgn="base">
              <a:spcBef>
                <a:spcPts val="1000"/>
              </a:spcBef>
              <a:spcAft>
                <a:spcPts val="0"/>
              </a:spcAft>
            </a:pPr>
            <a:endParaRPr lang="es-ES" sz="3600" b="0" i="0" u="none" strike="noStrike" dirty="0">
              <a:solidFill>
                <a:srgbClr val="818990"/>
              </a:solidFill>
              <a:effectLst/>
              <a:latin typeface="Calibri" panose="020F0502020204030204" pitchFamily="34" charset="0"/>
            </a:endParaRPr>
          </a:p>
        </p:txBody>
      </p:sp>
      <p:pic>
        <p:nvPicPr>
          <p:cNvPr id="5" name="Imagen 7">
            <a:extLst>
              <a:ext uri="{FF2B5EF4-FFF2-40B4-BE49-F238E27FC236}">
                <a16:creationId xmlns:a16="http://schemas.microsoft.com/office/drawing/2014/main" id="{0CB33A33-F562-203B-7AF2-05A41584BD1C}"/>
              </a:ext>
            </a:extLst>
          </p:cNvPr>
          <p:cNvPicPr>
            <a:picLocks noChangeAspect="1"/>
          </p:cNvPicPr>
          <p:nvPr/>
        </p:nvPicPr>
        <p:blipFill>
          <a:blip r:embed="rId3"/>
          <a:stretch>
            <a:fillRect/>
          </a:stretch>
        </p:blipFill>
        <p:spPr>
          <a:xfrm>
            <a:off x="4489450" y="7254875"/>
            <a:ext cx="13187710" cy="3691400"/>
          </a:xfrm>
          <a:prstGeom prst="rect">
            <a:avLst/>
          </a:prstGeom>
        </p:spPr>
      </p:pic>
    </p:spTree>
    <p:extLst>
      <p:ext uri="{BB962C8B-B14F-4D97-AF65-F5344CB8AC3E}">
        <p14:creationId xmlns:p14="http://schemas.microsoft.com/office/powerpoint/2010/main" val="4237872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222250" y="7407275"/>
            <a:ext cx="10393528" cy="1015663"/>
          </a:xfrm>
        </p:spPr>
        <p:txBody>
          <a:bodyPr/>
          <a:lstStyle/>
          <a:p>
            <a:r>
              <a:rPr lang="es-CL" sz="6600" dirty="0"/>
              <a:t>MER a MR</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9089872" y="6188075"/>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latin typeface="Arial Black" panose="020B0604020202020204" pitchFamily="34" charset="0"/>
                <a:cs typeface="Arial Black" panose="020B0604020202020204" pitchFamily="34" charset="0"/>
              </a:rPr>
              <a:t>05</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MX" dirty="0"/>
              <a:t>MER A MR – ENTIDAD FUERTE</a:t>
            </a:r>
            <a:endParaRPr lang="es-CL" dirty="0"/>
          </a:p>
        </p:txBody>
      </p:sp>
      <p:pic>
        <p:nvPicPr>
          <p:cNvPr id="7" name="Imagen 6">
            <a:extLst>
              <a:ext uri="{FF2B5EF4-FFF2-40B4-BE49-F238E27FC236}">
                <a16:creationId xmlns:a16="http://schemas.microsoft.com/office/drawing/2014/main" id="{8DB8D35F-03E6-2F58-7CF8-81B96517D6DA}"/>
              </a:ext>
            </a:extLst>
          </p:cNvPr>
          <p:cNvPicPr>
            <a:picLocks noChangeAspect="1"/>
          </p:cNvPicPr>
          <p:nvPr/>
        </p:nvPicPr>
        <p:blipFill rotWithShape="1">
          <a:blip r:embed="rId3">
            <a:extLst>
              <a:ext uri="{28A0092B-C50C-407E-A947-70E740481C1C}">
                <a14:useLocalDpi xmlns:a14="http://schemas.microsoft.com/office/drawing/2010/main" val="0"/>
              </a:ext>
            </a:extLst>
          </a:blip>
          <a:srcRect l="-2408" r="-845"/>
          <a:stretch/>
        </p:blipFill>
        <p:spPr>
          <a:xfrm>
            <a:off x="1631950" y="2931714"/>
            <a:ext cx="6743700" cy="4399361"/>
          </a:xfrm>
          <a:prstGeom prst="rect">
            <a:avLst/>
          </a:prstGeom>
        </p:spPr>
      </p:pic>
      <p:pic>
        <p:nvPicPr>
          <p:cNvPr id="9" name="Imagen 8">
            <a:extLst>
              <a:ext uri="{FF2B5EF4-FFF2-40B4-BE49-F238E27FC236}">
                <a16:creationId xmlns:a16="http://schemas.microsoft.com/office/drawing/2014/main" id="{C082F99B-7D14-0904-0849-64C0994D7EA2}"/>
              </a:ext>
            </a:extLst>
          </p:cNvPr>
          <p:cNvPicPr>
            <a:picLocks noChangeAspect="1"/>
          </p:cNvPicPr>
          <p:nvPr/>
        </p:nvPicPr>
        <p:blipFill rotWithShape="1">
          <a:blip r:embed="rId4">
            <a:extLst>
              <a:ext uri="{28A0092B-C50C-407E-A947-70E740481C1C}">
                <a14:useLocalDpi xmlns:a14="http://schemas.microsoft.com/office/drawing/2010/main" val="0"/>
              </a:ext>
            </a:extLst>
          </a:blip>
          <a:srcRect t="2892" b="2788"/>
          <a:stretch/>
        </p:blipFill>
        <p:spPr>
          <a:xfrm>
            <a:off x="10333929" y="2781161"/>
            <a:ext cx="7490521" cy="4854714"/>
          </a:xfrm>
          <a:prstGeom prst="rect">
            <a:avLst/>
          </a:prstGeom>
        </p:spPr>
      </p:pic>
      <p:sp>
        <p:nvSpPr>
          <p:cNvPr id="11" name="CuadroTexto 10">
            <a:extLst>
              <a:ext uri="{FF2B5EF4-FFF2-40B4-BE49-F238E27FC236}">
                <a16:creationId xmlns:a16="http://schemas.microsoft.com/office/drawing/2014/main" id="{2415F69F-B384-2256-B1AD-4DE9A0D0C01A}"/>
              </a:ext>
            </a:extLst>
          </p:cNvPr>
          <p:cNvSpPr txBox="1"/>
          <p:nvPr/>
        </p:nvSpPr>
        <p:spPr>
          <a:xfrm>
            <a:off x="3346450" y="2149475"/>
            <a:ext cx="33528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sp>
        <p:nvSpPr>
          <p:cNvPr id="12" name="CuadroTexto 11">
            <a:extLst>
              <a:ext uri="{FF2B5EF4-FFF2-40B4-BE49-F238E27FC236}">
                <a16:creationId xmlns:a16="http://schemas.microsoft.com/office/drawing/2014/main" id="{28EFBF95-316F-203F-2A61-9CAEA5975620}"/>
              </a:ext>
            </a:extLst>
          </p:cNvPr>
          <p:cNvSpPr txBox="1"/>
          <p:nvPr/>
        </p:nvSpPr>
        <p:spPr>
          <a:xfrm>
            <a:off x="12315129" y="2149475"/>
            <a:ext cx="41910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a:t>
            </a:r>
          </a:p>
        </p:txBody>
      </p:sp>
      <p:sp>
        <p:nvSpPr>
          <p:cNvPr id="13" name="Flecha: a la derecha 12">
            <a:extLst>
              <a:ext uri="{FF2B5EF4-FFF2-40B4-BE49-F238E27FC236}">
                <a16:creationId xmlns:a16="http://schemas.microsoft.com/office/drawing/2014/main" id="{FC5286DD-7359-A0B0-E5D3-37DF70DB1326}"/>
              </a:ext>
            </a:extLst>
          </p:cNvPr>
          <p:cNvSpPr/>
          <p:nvPr/>
        </p:nvSpPr>
        <p:spPr>
          <a:xfrm>
            <a:off x="8744576" y="4687411"/>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Imagen 4">
            <a:extLst>
              <a:ext uri="{FF2B5EF4-FFF2-40B4-BE49-F238E27FC236}">
                <a16:creationId xmlns:a16="http://schemas.microsoft.com/office/drawing/2014/main" id="{1D5F268C-F8CB-2924-1B8F-94444202203F}"/>
              </a:ext>
            </a:extLst>
          </p:cNvPr>
          <p:cNvPicPr>
            <a:picLocks noChangeAspect="1"/>
          </p:cNvPicPr>
          <p:nvPr/>
        </p:nvPicPr>
        <p:blipFill>
          <a:blip r:embed="rId5"/>
          <a:stretch>
            <a:fillRect/>
          </a:stretch>
        </p:blipFill>
        <p:spPr>
          <a:xfrm>
            <a:off x="3457870" y="9144151"/>
            <a:ext cx="13188360" cy="1311124"/>
          </a:xfrm>
          <a:prstGeom prst="rect">
            <a:avLst/>
          </a:prstGeom>
        </p:spPr>
      </p:pic>
      <p:sp>
        <p:nvSpPr>
          <p:cNvPr id="6" name="CuadroTexto 5">
            <a:extLst>
              <a:ext uri="{FF2B5EF4-FFF2-40B4-BE49-F238E27FC236}">
                <a16:creationId xmlns:a16="http://schemas.microsoft.com/office/drawing/2014/main" id="{1D208195-4CAE-FA8F-D325-CEDF6EB3D081}"/>
              </a:ext>
            </a:extLst>
          </p:cNvPr>
          <p:cNvSpPr txBox="1"/>
          <p:nvPr/>
        </p:nvSpPr>
        <p:spPr>
          <a:xfrm>
            <a:off x="6680200" y="8451989"/>
            <a:ext cx="67437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 NO Grafico</a:t>
            </a:r>
          </a:p>
        </p:txBody>
      </p:sp>
      <p:sp>
        <p:nvSpPr>
          <p:cNvPr id="8" name="Flecha: a la derecha 7">
            <a:extLst>
              <a:ext uri="{FF2B5EF4-FFF2-40B4-BE49-F238E27FC236}">
                <a16:creationId xmlns:a16="http://schemas.microsoft.com/office/drawing/2014/main" id="{2893A2B4-2962-436B-F295-64D493F577D2}"/>
              </a:ext>
            </a:extLst>
          </p:cNvPr>
          <p:cNvSpPr/>
          <p:nvPr/>
        </p:nvSpPr>
        <p:spPr>
          <a:xfrm rot="8047926">
            <a:off x="13502352" y="7982522"/>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067811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MX" dirty="0"/>
              <a:t>MER A MR – RELACIÓN 1:M</a:t>
            </a:r>
            <a:endParaRPr lang="es-CL" dirty="0"/>
          </a:p>
        </p:txBody>
      </p:sp>
      <p:sp>
        <p:nvSpPr>
          <p:cNvPr id="11" name="CuadroTexto 10">
            <a:extLst>
              <a:ext uri="{FF2B5EF4-FFF2-40B4-BE49-F238E27FC236}">
                <a16:creationId xmlns:a16="http://schemas.microsoft.com/office/drawing/2014/main" id="{2415F69F-B384-2256-B1AD-4DE9A0D0C01A}"/>
              </a:ext>
            </a:extLst>
          </p:cNvPr>
          <p:cNvSpPr txBox="1"/>
          <p:nvPr/>
        </p:nvSpPr>
        <p:spPr>
          <a:xfrm>
            <a:off x="16645518" y="2900948"/>
            <a:ext cx="1976863"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sp>
        <p:nvSpPr>
          <p:cNvPr id="12" name="CuadroTexto 11">
            <a:extLst>
              <a:ext uri="{FF2B5EF4-FFF2-40B4-BE49-F238E27FC236}">
                <a16:creationId xmlns:a16="http://schemas.microsoft.com/office/drawing/2014/main" id="{28EFBF95-316F-203F-2A61-9CAEA5975620}"/>
              </a:ext>
            </a:extLst>
          </p:cNvPr>
          <p:cNvSpPr txBox="1"/>
          <p:nvPr/>
        </p:nvSpPr>
        <p:spPr>
          <a:xfrm>
            <a:off x="15585888" y="6262559"/>
            <a:ext cx="41910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a:t>
            </a:r>
          </a:p>
        </p:txBody>
      </p:sp>
      <p:pic>
        <p:nvPicPr>
          <p:cNvPr id="4" name="Imagen 3">
            <a:extLst>
              <a:ext uri="{FF2B5EF4-FFF2-40B4-BE49-F238E27FC236}">
                <a16:creationId xmlns:a16="http://schemas.microsoft.com/office/drawing/2014/main" id="{CE7482F3-33B0-6330-D91E-4272428D42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59303" y="1611381"/>
            <a:ext cx="12942958" cy="3182695"/>
          </a:xfrm>
          <a:prstGeom prst="rect">
            <a:avLst/>
          </a:prstGeom>
        </p:spPr>
      </p:pic>
      <p:pic>
        <p:nvPicPr>
          <p:cNvPr id="6" name="Imagen 5">
            <a:extLst>
              <a:ext uri="{FF2B5EF4-FFF2-40B4-BE49-F238E27FC236}">
                <a16:creationId xmlns:a16="http://schemas.microsoft.com/office/drawing/2014/main" id="{F29DEA7E-B78A-8153-AF8C-AB016C6180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080882" y="5108264"/>
            <a:ext cx="12505006" cy="2956848"/>
          </a:xfrm>
          <a:prstGeom prst="rect">
            <a:avLst/>
          </a:prstGeom>
        </p:spPr>
      </p:pic>
      <p:sp>
        <p:nvSpPr>
          <p:cNvPr id="13" name="Flecha: a la derecha 12">
            <a:extLst>
              <a:ext uri="{FF2B5EF4-FFF2-40B4-BE49-F238E27FC236}">
                <a16:creationId xmlns:a16="http://schemas.microsoft.com/office/drawing/2014/main" id="{FC5286DD-7359-A0B0-E5D3-37DF70DB1326}"/>
              </a:ext>
            </a:extLst>
          </p:cNvPr>
          <p:cNvSpPr/>
          <p:nvPr/>
        </p:nvSpPr>
        <p:spPr>
          <a:xfrm rot="5400000">
            <a:off x="8745092" y="7412906"/>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9DF00EC6-092F-EBE4-05C8-E50BDA989424}"/>
              </a:ext>
            </a:extLst>
          </p:cNvPr>
          <p:cNvSpPr txBox="1"/>
          <p:nvPr/>
        </p:nvSpPr>
        <p:spPr>
          <a:xfrm>
            <a:off x="12985750" y="9007475"/>
            <a:ext cx="67437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 NO Grafico</a:t>
            </a:r>
          </a:p>
        </p:txBody>
      </p:sp>
      <p:pic>
        <p:nvPicPr>
          <p:cNvPr id="7" name="Imagen 6">
            <a:extLst>
              <a:ext uri="{FF2B5EF4-FFF2-40B4-BE49-F238E27FC236}">
                <a16:creationId xmlns:a16="http://schemas.microsoft.com/office/drawing/2014/main" id="{3ED13AC5-1C1A-BEF8-94C9-42917A3C4402}"/>
              </a:ext>
            </a:extLst>
          </p:cNvPr>
          <p:cNvPicPr>
            <a:picLocks noChangeAspect="1"/>
          </p:cNvPicPr>
          <p:nvPr/>
        </p:nvPicPr>
        <p:blipFill>
          <a:blip r:embed="rId5"/>
          <a:stretch>
            <a:fillRect/>
          </a:stretch>
        </p:blipFill>
        <p:spPr>
          <a:xfrm>
            <a:off x="1517650" y="8788263"/>
            <a:ext cx="11549136" cy="1286012"/>
          </a:xfrm>
          <a:prstGeom prst="rect">
            <a:avLst/>
          </a:prstGeom>
        </p:spPr>
      </p:pic>
      <p:sp>
        <p:nvSpPr>
          <p:cNvPr id="8" name="Flecha: a la derecha 7">
            <a:extLst>
              <a:ext uri="{FF2B5EF4-FFF2-40B4-BE49-F238E27FC236}">
                <a16:creationId xmlns:a16="http://schemas.microsoft.com/office/drawing/2014/main" id="{D3A6B42F-84AC-CACC-3B5F-6ADF6A17C171}"/>
              </a:ext>
            </a:extLst>
          </p:cNvPr>
          <p:cNvSpPr/>
          <p:nvPr/>
        </p:nvSpPr>
        <p:spPr>
          <a:xfrm rot="5400000">
            <a:off x="8738945" y="4329969"/>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45066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MX" dirty="0"/>
              <a:t>MER A MR – RELACIÓN M:N</a:t>
            </a:r>
            <a:endParaRPr lang="es-CL" dirty="0"/>
          </a:p>
        </p:txBody>
      </p:sp>
      <p:sp>
        <p:nvSpPr>
          <p:cNvPr id="11" name="CuadroTexto 10">
            <a:extLst>
              <a:ext uri="{FF2B5EF4-FFF2-40B4-BE49-F238E27FC236}">
                <a16:creationId xmlns:a16="http://schemas.microsoft.com/office/drawing/2014/main" id="{2415F69F-B384-2256-B1AD-4DE9A0D0C01A}"/>
              </a:ext>
            </a:extLst>
          </p:cNvPr>
          <p:cNvSpPr txBox="1"/>
          <p:nvPr/>
        </p:nvSpPr>
        <p:spPr>
          <a:xfrm>
            <a:off x="15233650" y="3825875"/>
            <a:ext cx="1976863"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sp>
        <p:nvSpPr>
          <p:cNvPr id="12" name="CuadroTexto 11">
            <a:extLst>
              <a:ext uri="{FF2B5EF4-FFF2-40B4-BE49-F238E27FC236}">
                <a16:creationId xmlns:a16="http://schemas.microsoft.com/office/drawing/2014/main" id="{28EFBF95-316F-203F-2A61-9CAEA5975620}"/>
              </a:ext>
            </a:extLst>
          </p:cNvPr>
          <p:cNvSpPr txBox="1"/>
          <p:nvPr/>
        </p:nvSpPr>
        <p:spPr>
          <a:xfrm>
            <a:off x="2789673" y="7650469"/>
            <a:ext cx="41910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a:t>
            </a:r>
          </a:p>
        </p:txBody>
      </p:sp>
      <p:pic>
        <p:nvPicPr>
          <p:cNvPr id="4" name="Imagen 3">
            <a:extLst>
              <a:ext uri="{FF2B5EF4-FFF2-40B4-BE49-F238E27FC236}">
                <a16:creationId xmlns:a16="http://schemas.microsoft.com/office/drawing/2014/main" id="{CE7482F3-33B0-6330-D91E-4272428D42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32050" y="1580291"/>
            <a:ext cx="14312185" cy="3340726"/>
          </a:xfrm>
          <a:prstGeom prst="rect">
            <a:avLst/>
          </a:prstGeom>
        </p:spPr>
      </p:pic>
      <p:sp>
        <p:nvSpPr>
          <p:cNvPr id="13" name="Flecha: a la derecha 12">
            <a:extLst>
              <a:ext uri="{FF2B5EF4-FFF2-40B4-BE49-F238E27FC236}">
                <a16:creationId xmlns:a16="http://schemas.microsoft.com/office/drawing/2014/main" id="{FC5286DD-7359-A0B0-E5D3-37DF70DB1326}"/>
              </a:ext>
            </a:extLst>
          </p:cNvPr>
          <p:cNvSpPr/>
          <p:nvPr/>
        </p:nvSpPr>
        <p:spPr>
          <a:xfrm rot="5400000">
            <a:off x="8945154" y="7946306"/>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9" name="Imagen 8">
            <a:extLst>
              <a:ext uri="{FF2B5EF4-FFF2-40B4-BE49-F238E27FC236}">
                <a16:creationId xmlns:a16="http://schemas.microsoft.com/office/drawing/2014/main" id="{18B39280-CE6F-6208-AA7A-AE8534B424CF}"/>
              </a:ext>
            </a:extLst>
          </p:cNvPr>
          <p:cNvPicPr>
            <a:picLocks noChangeAspect="1"/>
          </p:cNvPicPr>
          <p:nvPr/>
        </p:nvPicPr>
        <p:blipFill>
          <a:blip r:embed="rId4"/>
          <a:stretch>
            <a:fillRect/>
          </a:stretch>
        </p:blipFill>
        <p:spPr>
          <a:xfrm>
            <a:off x="6685643" y="9134508"/>
            <a:ext cx="10224407" cy="1854167"/>
          </a:xfrm>
          <a:prstGeom prst="rect">
            <a:avLst/>
          </a:prstGeom>
        </p:spPr>
      </p:pic>
      <p:pic>
        <p:nvPicPr>
          <p:cNvPr id="14" name="Imagen 13">
            <a:extLst>
              <a:ext uri="{FF2B5EF4-FFF2-40B4-BE49-F238E27FC236}">
                <a16:creationId xmlns:a16="http://schemas.microsoft.com/office/drawing/2014/main" id="{E0D966F4-C5DB-A914-E258-72768DCFCBFC}"/>
              </a:ext>
            </a:extLst>
          </p:cNvPr>
          <p:cNvPicPr>
            <a:picLocks noChangeAspect="1"/>
          </p:cNvPicPr>
          <p:nvPr/>
        </p:nvPicPr>
        <p:blipFill rotWithShape="1">
          <a:blip r:embed="rId5"/>
          <a:srcRect l="3956" t="1" r="4365" b="15045"/>
          <a:stretch/>
        </p:blipFill>
        <p:spPr>
          <a:xfrm>
            <a:off x="222250" y="9617076"/>
            <a:ext cx="6400800" cy="914399"/>
          </a:xfrm>
          <a:prstGeom prst="rect">
            <a:avLst/>
          </a:prstGeom>
        </p:spPr>
      </p:pic>
      <p:sp>
        <p:nvSpPr>
          <p:cNvPr id="15" name="Flecha: a la derecha 14">
            <a:extLst>
              <a:ext uri="{FF2B5EF4-FFF2-40B4-BE49-F238E27FC236}">
                <a16:creationId xmlns:a16="http://schemas.microsoft.com/office/drawing/2014/main" id="{FE506C64-7A1E-23A0-23A4-DB3F9C3892E6}"/>
              </a:ext>
            </a:extLst>
          </p:cNvPr>
          <p:cNvSpPr/>
          <p:nvPr/>
        </p:nvSpPr>
        <p:spPr>
          <a:xfrm rot="5400000">
            <a:off x="8896305" y="3686362"/>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6" name="CuadroTexto 15">
            <a:extLst>
              <a:ext uri="{FF2B5EF4-FFF2-40B4-BE49-F238E27FC236}">
                <a16:creationId xmlns:a16="http://schemas.microsoft.com/office/drawing/2014/main" id="{9BB86111-8FE2-AE28-8C6E-6F202B15B2C4}"/>
              </a:ext>
            </a:extLst>
          </p:cNvPr>
          <p:cNvSpPr txBox="1"/>
          <p:nvPr/>
        </p:nvSpPr>
        <p:spPr>
          <a:xfrm>
            <a:off x="16417028" y="2795643"/>
            <a:ext cx="1976863"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pic>
        <p:nvPicPr>
          <p:cNvPr id="6" name="Picture 5">
            <a:extLst>
              <a:ext uri="{FF2B5EF4-FFF2-40B4-BE49-F238E27FC236}">
                <a16:creationId xmlns:a16="http://schemas.microsoft.com/office/drawing/2014/main" id="{7A52F8C3-BCE8-8AF3-4305-8349F43712BF}"/>
              </a:ext>
            </a:extLst>
          </p:cNvPr>
          <p:cNvPicPr>
            <a:picLocks noChangeAspect="1"/>
          </p:cNvPicPr>
          <p:nvPr/>
        </p:nvPicPr>
        <p:blipFill>
          <a:blip r:embed="rId6"/>
          <a:stretch>
            <a:fillRect/>
          </a:stretch>
        </p:blipFill>
        <p:spPr>
          <a:xfrm>
            <a:off x="543773" y="4840141"/>
            <a:ext cx="18186436" cy="2876879"/>
          </a:xfrm>
          <a:prstGeom prst="rect">
            <a:avLst/>
          </a:prstGeom>
        </p:spPr>
      </p:pic>
    </p:spTree>
    <p:extLst>
      <p:ext uri="{BB962C8B-B14F-4D97-AF65-F5344CB8AC3E}">
        <p14:creationId xmlns:p14="http://schemas.microsoft.com/office/powerpoint/2010/main" val="2015838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MX" dirty="0"/>
              <a:t>MER A MR – RELACIÓN 1:1</a:t>
            </a:r>
            <a:endParaRPr lang="es-CL" dirty="0"/>
          </a:p>
        </p:txBody>
      </p:sp>
      <p:sp>
        <p:nvSpPr>
          <p:cNvPr id="11" name="CuadroTexto 10">
            <a:extLst>
              <a:ext uri="{FF2B5EF4-FFF2-40B4-BE49-F238E27FC236}">
                <a16:creationId xmlns:a16="http://schemas.microsoft.com/office/drawing/2014/main" id="{2415F69F-B384-2256-B1AD-4DE9A0D0C01A}"/>
              </a:ext>
            </a:extLst>
          </p:cNvPr>
          <p:cNvSpPr txBox="1"/>
          <p:nvPr/>
        </p:nvSpPr>
        <p:spPr>
          <a:xfrm>
            <a:off x="17446065" y="3153226"/>
            <a:ext cx="1976863"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sp>
        <p:nvSpPr>
          <p:cNvPr id="12" name="CuadroTexto 11">
            <a:extLst>
              <a:ext uri="{FF2B5EF4-FFF2-40B4-BE49-F238E27FC236}">
                <a16:creationId xmlns:a16="http://schemas.microsoft.com/office/drawing/2014/main" id="{28EFBF95-316F-203F-2A61-9CAEA5975620}"/>
              </a:ext>
            </a:extLst>
          </p:cNvPr>
          <p:cNvSpPr txBox="1"/>
          <p:nvPr/>
        </p:nvSpPr>
        <p:spPr>
          <a:xfrm>
            <a:off x="12605124" y="8501132"/>
            <a:ext cx="41910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a:t>
            </a:r>
          </a:p>
        </p:txBody>
      </p:sp>
      <p:pic>
        <p:nvPicPr>
          <p:cNvPr id="5" name="Imagen 4">
            <a:extLst>
              <a:ext uri="{FF2B5EF4-FFF2-40B4-BE49-F238E27FC236}">
                <a16:creationId xmlns:a16="http://schemas.microsoft.com/office/drawing/2014/main" id="{BEE1F78A-B424-2828-B514-D6540EACB6EE}"/>
              </a:ext>
            </a:extLst>
          </p:cNvPr>
          <p:cNvPicPr>
            <a:picLocks noChangeAspect="1"/>
          </p:cNvPicPr>
          <p:nvPr/>
        </p:nvPicPr>
        <p:blipFill>
          <a:blip r:embed="rId3"/>
          <a:stretch>
            <a:fillRect/>
          </a:stretch>
        </p:blipFill>
        <p:spPr>
          <a:xfrm>
            <a:off x="2437521" y="2158684"/>
            <a:ext cx="15344575" cy="3183374"/>
          </a:xfrm>
          <a:prstGeom prst="rect">
            <a:avLst/>
          </a:prstGeom>
        </p:spPr>
      </p:pic>
      <p:pic>
        <p:nvPicPr>
          <p:cNvPr id="8" name="Imagen 7">
            <a:extLst>
              <a:ext uri="{FF2B5EF4-FFF2-40B4-BE49-F238E27FC236}">
                <a16:creationId xmlns:a16="http://schemas.microsoft.com/office/drawing/2014/main" id="{F0A5643F-9EDA-49CF-22D6-899612EF15FF}"/>
              </a:ext>
            </a:extLst>
          </p:cNvPr>
          <p:cNvPicPr>
            <a:picLocks noChangeAspect="1"/>
          </p:cNvPicPr>
          <p:nvPr/>
        </p:nvPicPr>
        <p:blipFill>
          <a:blip r:embed="rId4"/>
          <a:stretch>
            <a:fillRect/>
          </a:stretch>
        </p:blipFill>
        <p:spPr>
          <a:xfrm>
            <a:off x="2979050" y="5481581"/>
            <a:ext cx="14261515" cy="3183374"/>
          </a:xfrm>
          <a:prstGeom prst="rect">
            <a:avLst/>
          </a:prstGeom>
        </p:spPr>
      </p:pic>
      <p:pic>
        <p:nvPicPr>
          <p:cNvPr id="10" name="Imagen 9">
            <a:extLst>
              <a:ext uri="{FF2B5EF4-FFF2-40B4-BE49-F238E27FC236}">
                <a16:creationId xmlns:a16="http://schemas.microsoft.com/office/drawing/2014/main" id="{8D203190-87FF-5775-F3AE-ED2C73924A91}"/>
              </a:ext>
            </a:extLst>
          </p:cNvPr>
          <p:cNvPicPr>
            <a:picLocks noChangeAspect="1"/>
          </p:cNvPicPr>
          <p:nvPr/>
        </p:nvPicPr>
        <p:blipFill>
          <a:blip r:embed="rId5"/>
          <a:stretch>
            <a:fillRect/>
          </a:stretch>
        </p:blipFill>
        <p:spPr>
          <a:xfrm>
            <a:off x="380336" y="9715582"/>
            <a:ext cx="16453514" cy="1349293"/>
          </a:xfrm>
          <a:prstGeom prst="rect">
            <a:avLst/>
          </a:prstGeom>
        </p:spPr>
      </p:pic>
      <p:pic>
        <p:nvPicPr>
          <p:cNvPr id="14" name="Imagen 13">
            <a:extLst>
              <a:ext uri="{FF2B5EF4-FFF2-40B4-BE49-F238E27FC236}">
                <a16:creationId xmlns:a16="http://schemas.microsoft.com/office/drawing/2014/main" id="{B608FB11-C3BC-A5B7-49BE-0D4D45C1D646}"/>
              </a:ext>
            </a:extLst>
          </p:cNvPr>
          <p:cNvPicPr>
            <a:picLocks noChangeAspect="1"/>
          </p:cNvPicPr>
          <p:nvPr/>
        </p:nvPicPr>
        <p:blipFill rotWithShape="1">
          <a:blip r:embed="rId6"/>
          <a:srcRect l="3956" t="1" r="4365" b="15045"/>
          <a:stretch/>
        </p:blipFill>
        <p:spPr>
          <a:xfrm>
            <a:off x="222250" y="8855075"/>
            <a:ext cx="6400800" cy="914399"/>
          </a:xfrm>
          <a:prstGeom prst="rect">
            <a:avLst/>
          </a:prstGeom>
        </p:spPr>
      </p:pic>
      <p:sp>
        <p:nvSpPr>
          <p:cNvPr id="15" name="Rectángulo 14">
            <a:extLst>
              <a:ext uri="{FF2B5EF4-FFF2-40B4-BE49-F238E27FC236}">
                <a16:creationId xmlns:a16="http://schemas.microsoft.com/office/drawing/2014/main" id="{DB3DFAB1-493D-DBE4-0D71-6436E6ADD5B7}"/>
              </a:ext>
            </a:extLst>
          </p:cNvPr>
          <p:cNvSpPr/>
          <p:nvPr/>
        </p:nvSpPr>
        <p:spPr>
          <a:xfrm>
            <a:off x="10356850" y="4215433"/>
            <a:ext cx="1524000" cy="12106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6" name="Flecha: a la derecha 15">
            <a:extLst>
              <a:ext uri="{FF2B5EF4-FFF2-40B4-BE49-F238E27FC236}">
                <a16:creationId xmlns:a16="http://schemas.microsoft.com/office/drawing/2014/main" id="{7CF2D934-0504-7F0F-F9D1-F11DEADD2DF2}"/>
              </a:ext>
            </a:extLst>
          </p:cNvPr>
          <p:cNvSpPr/>
          <p:nvPr/>
        </p:nvSpPr>
        <p:spPr>
          <a:xfrm rot="5400000">
            <a:off x="9273290" y="8174906"/>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7" name="Flecha: a la derecha 16">
            <a:extLst>
              <a:ext uri="{FF2B5EF4-FFF2-40B4-BE49-F238E27FC236}">
                <a16:creationId xmlns:a16="http://schemas.microsoft.com/office/drawing/2014/main" id="{28171A09-C104-DD1A-7E1B-47BB68683A28}"/>
              </a:ext>
            </a:extLst>
          </p:cNvPr>
          <p:cNvSpPr/>
          <p:nvPr/>
        </p:nvSpPr>
        <p:spPr>
          <a:xfrm rot="5400000">
            <a:off x="9372071" y="4593506"/>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Rectángulo 16">
            <a:extLst>
              <a:ext uri="{FF2B5EF4-FFF2-40B4-BE49-F238E27FC236}">
                <a16:creationId xmlns:a16="http://schemas.microsoft.com/office/drawing/2014/main" id="{67749AD3-DC3E-E134-1931-D11A0AF048B9}"/>
              </a:ext>
            </a:extLst>
          </p:cNvPr>
          <p:cNvSpPr/>
          <p:nvPr/>
        </p:nvSpPr>
        <p:spPr>
          <a:xfrm>
            <a:off x="10433240" y="7852401"/>
            <a:ext cx="1524000" cy="12106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467427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MX" dirty="0"/>
              <a:t>MER A MR – RELACIÓN RECURSIVA</a:t>
            </a:r>
            <a:endParaRPr lang="es-CL" dirty="0"/>
          </a:p>
        </p:txBody>
      </p:sp>
      <p:sp>
        <p:nvSpPr>
          <p:cNvPr id="13" name="Flecha: a la derecha 12">
            <a:extLst>
              <a:ext uri="{FF2B5EF4-FFF2-40B4-BE49-F238E27FC236}">
                <a16:creationId xmlns:a16="http://schemas.microsoft.com/office/drawing/2014/main" id="{FC5286DD-7359-A0B0-E5D3-37DF70DB1326}"/>
              </a:ext>
            </a:extLst>
          </p:cNvPr>
          <p:cNvSpPr/>
          <p:nvPr/>
        </p:nvSpPr>
        <p:spPr>
          <a:xfrm>
            <a:off x="9573496" y="4611211"/>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Imagen 4">
            <a:extLst>
              <a:ext uri="{FF2B5EF4-FFF2-40B4-BE49-F238E27FC236}">
                <a16:creationId xmlns:a16="http://schemas.microsoft.com/office/drawing/2014/main" id="{B9CC63F3-2B2B-64CC-2D14-950BE4CB7277}"/>
              </a:ext>
            </a:extLst>
          </p:cNvPr>
          <p:cNvPicPr>
            <a:picLocks noChangeAspect="1"/>
          </p:cNvPicPr>
          <p:nvPr/>
        </p:nvPicPr>
        <p:blipFill>
          <a:blip r:embed="rId3"/>
          <a:stretch>
            <a:fillRect/>
          </a:stretch>
        </p:blipFill>
        <p:spPr>
          <a:xfrm>
            <a:off x="11347450" y="2301875"/>
            <a:ext cx="8305800" cy="5569544"/>
          </a:xfrm>
          <a:prstGeom prst="rect">
            <a:avLst/>
          </a:prstGeom>
        </p:spPr>
      </p:pic>
      <p:sp>
        <p:nvSpPr>
          <p:cNvPr id="12" name="CuadroTexto 11">
            <a:extLst>
              <a:ext uri="{FF2B5EF4-FFF2-40B4-BE49-F238E27FC236}">
                <a16:creationId xmlns:a16="http://schemas.microsoft.com/office/drawing/2014/main" id="{28EFBF95-316F-203F-2A61-9CAEA5975620}"/>
              </a:ext>
            </a:extLst>
          </p:cNvPr>
          <p:cNvSpPr txBox="1"/>
          <p:nvPr/>
        </p:nvSpPr>
        <p:spPr>
          <a:xfrm>
            <a:off x="14166850" y="1692275"/>
            <a:ext cx="41910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a:t>
            </a:r>
          </a:p>
        </p:txBody>
      </p:sp>
      <p:pic>
        <p:nvPicPr>
          <p:cNvPr id="7" name="Imagen 6">
            <a:extLst>
              <a:ext uri="{FF2B5EF4-FFF2-40B4-BE49-F238E27FC236}">
                <a16:creationId xmlns:a16="http://schemas.microsoft.com/office/drawing/2014/main" id="{CE7482F3-33B0-6330-D91E-4272428D427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441450" y="2149475"/>
            <a:ext cx="7773571" cy="5791200"/>
          </a:xfrm>
          <a:prstGeom prst="rect">
            <a:avLst/>
          </a:prstGeom>
        </p:spPr>
      </p:pic>
      <p:sp>
        <p:nvSpPr>
          <p:cNvPr id="11" name="CuadroTexto 10">
            <a:extLst>
              <a:ext uri="{FF2B5EF4-FFF2-40B4-BE49-F238E27FC236}">
                <a16:creationId xmlns:a16="http://schemas.microsoft.com/office/drawing/2014/main" id="{2415F69F-B384-2256-B1AD-4DE9A0D0C01A}"/>
              </a:ext>
            </a:extLst>
          </p:cNvPr>
          <p:cNvSpPr txBox="1"/>
          <p:nvPr/>
        </p:nvSpPr>
        <p:spPr>
          <a:xfrm>
            <a:off x="8058776" y="2301875"/>
            <a:ext cx="1383674"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sp>
        <p:nvSpPr>
          <p:cNvPr id="8" name="Rectángulo 7">
            <a:extLst>
              <a:ext uri="{FF2B5EF4-FFF2-40B4-BE49-F238E27FC236}">
                <a16:creationId xmlns:a16="http://schemas.microsoft.com/office/drawing/2014/main" id="{D7AE4CAA-4F96-BFD7-8BC4-F0D21B34A276}"/>
              </a:ext>
            </a:extLst>
          </p:cNvPr>
          <p:cNvSpPr/>
          <p:nvPr/>
        </p:nvSpPr>
        <p:spPr>
          <a:xfrm>
            <a:off x="8909050" y="4633023"/>
            <a:ext cx="578966" cy="269805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L"/>
          </a:p>
        </p:txBody>
      </p:sp>
      <p:pic>
        <p:nvPicPr>
          <p:cNvPr id="4" name="Imagen 3">
            <a:extLst>
              <a:ext uri="{FF2B5EF4-FFF2-40B4-BE49-F238E27FC236}">
                <a16:creationId xmlns:a16="http://schemas.microsoft.com/office/drawing/2014/main" id="{0767B003-2741-1756-D365-B284A35F1918}"/>
              </a:ext>
            </a:extLst>
          </p:cNvPr>
          <p:cNvPicPr>
            <a:picLocks noChangeAspect="1"/>
          </p:cNvPicPr>
          <p:nvPr/>
        </p:nvPicPr>
        <p:blipFill>
          <a:blip r:embed="rId5"/>
          <a:stretch>
            <a:fillRect/>
          </a:stretch>
        </p:blipFill>
        <p:spPr>
          <a:xfrm>
            <a:off x="1524475" y="9083675"/>
            <a:ext cx="16909575" cy="914400"/>
          </a:xfrm>
          <a:prstGeom prst="rect">
            <a:avLst/>
          </a:prstGeom>
        </p:spPr>
      </p:pic>
      <p:pic>
        <p:nvPicPr>
          <p:cNvPr id="6" name="Imagen 5">
            <a:extLst>
              <a:ext uri="{FF2B5EF4-FFF2-40B4-BE49-F238E27FC236}">
                <a16:creationId xmlns:a16="http://schemas.microsoft.com/office/drawing/2014/main" id="{DDED1144-5E5F-EDC4-4CD2-FD2A158E808B}"/>
              </a:ext>
            </a:extLst>
          </p:cNvPr>
          <p:cNvPicPr>
            <a:picLocks noChangeAspect="1"/>
          </p:cNvPicPr>
          <p:nvPr/>
        </p:nvPicPr>
        <p:blipFill rotWithShape="1">
          <a:blip r:embed="rId6"/>
          <a:srcRect l="3956" t="1" r="4365" b="15045"/>
          <a:stretch/>
        </p:blipFill>
        <p:spPr>
          <a:xfrm>
            <a:off x="6851650" y="8245476"/>
            <a:ext cx="6400800" cy="914399"/>
          </a:xfrm>
          <a:prstGeom prst="rect">
            <a:avLst/>
          </a:prstGeom>
        </p:spPr>
      </p:pic>
      <p:sp>
        <p:nvSpPr>
          <p:cNvPr id="10" name="Flecha: a la derecha 9">
            <a:extLst>
              <a:ext uri="{FF2B5EF4-FFF2-40B4-BE49-F238E27FC236}">
                <a16:creationId xmlns:a16="http://schemas.microsoft.com/office/drawing/2014/main" id="{9EA88067-48D0-7413-7EB2-A4D83B54F309}"/>
              </a:ext>
            </a:extLst>
          </p:cNvPr>
          <p:cNvSpPr/>
          <p:nvPr/>
        </p:nvSpPr>
        <p:spPr>
          <a:xfrm rot="5400000">
            <a:off x="2871545" y="7501180"/>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533362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432050" y="714594"/>
            <a:ext cx="16988263" cy="738664"/>
          </a:xfrm>
        </p:spPr>
        <p:txBody>
          <a:bodyPr/>
          <a:lstStyle/>
          <a:p>
            <a:r>
              <a:rPr lang="es-MX" dirty="0"/>
              <a:t>MER A MR – RELACIONES DE EXCLUSIVIDAD</a:t>
            </a:r>
            <a:endParaRPr lang="es-CL" dirty="0"/>
          </a:p>
        </p:txBody>
      </p:sp>
      <p:pic>
        <p:nvPicPr>
          <p:cNvPr id="8" name="Imagen 7">
            <a:extLst>
              <a:ext uri="{FF2B5EF4-FFF2-40B4-BE49-F238E27FC236}">
                <a16:creationId xmlns:a16="http://schemas.microsoft.com/office/drawing/2014/main" id="{703E7D41-2594-CF3B-6EA3-ED9799521734}"/>
              </a:ext>
            </a:extLst>
          </p:cNvPr>
          <p:cNvPicPr>
            <a:picLocks noChangeAspect="1"/>
          </p:cNvPicPr>
          <p:nvPr/>
        </p:nvPicPr>
        <p:blipFill rotWithShape="1">
          <a:blip r:embed="rId3"/>
          <a:srcRect l="1641"/>
          <a:stretch/>
        </p:blipFill>
        <p:spPr>
          <a:xfrm>
            <a:off x="69850" y="2436765"/>
            <a:ext cx="9139015" cy="5122910"/>
          </a:xfrm>
          <a:prstGeom prst="rect">
            <a:avLst/>
          </a:prstGeom>
        </p:spPr>
      </p:pic>
      <p:pic>
        <p:nvPicPr>
          <p:cNvPr id="10" name="Imagen 9">
            <a:extLst>
              <a:ext uri="{FF2B5EF4-FFF2-40B4-BE49-F238E27FC236}">
                <a16:creationId xmlns:a16="http://schemas.microsoft.com/office/drawing/2014/main" id="{5B4DDFA4-82DD-F451-A63F-78674B48EBE2}"/>
              </a:ext>
            </a:extLst>
          </p:cNvPr>
          <p:cNvPicPr>
            <a:picLocks noChangeAspect="1"/>
          </p:cNvPicPr>
          <p:nvPr/>
        </p:nvPicPr>
        <p:blipFill>
          <a:blip r:embed="rId4"/>
          <a:stretch>
            <a:fillRect/>
          </a:stretch>
        </p:blipFill>
        <p:spPr>
          <a:xfrm>
            <a:off x="10183116" y="2436764"/>
            <a:ext cx="9851134" cy="5275311"/>
          </a:xfrm>
          <a:prstGeom prst="rect">
            <a:avLst/>
          </a:prstGeom>
        </p:spPr>
      </p:pic>
      <p:sp>
        <p:nvSpPr>
          <p:cNvPr id="14" name="Flecha: a la derecha 13">
            <a:extLst>
              <a:ext uri="{FF2B5EF4-FFF2-40B4-BE49-F238E27FC236}">
                <a16:creationId xmlns:a16="http://schemas.microsoft.com/office/drawing/2014/main" id="{A2C96E07-CBD7-599A-ADED-6E6D252FD4A0}"/>
              </a:ext>
            </a:extLst>
          </p:cNvPr>
          <p:cNvSpPr/>
          <p:nvPr/>
        </p:nvSpPr>
        <p:spPr>
          <a:xfrm>
            <a:off x="8909050" y="4763611"/>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C1755F2D-A34C-D7ED-8AE2-4A087863B87C}"/>
              </a:ext>
            </a:extLst>
          </p:cNvPr>
          <p:cNvSpPr/>
          <p:nvPr/>
        </p:nvSpPr>
        <p:spPr>
          <a:xfrm>
            <a:off x="1136650" y="6797675"/>
            <a:ext cx="1600200" cy="1219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6" name="Rectángulo 15">
            <a:extLst>
              <a:ext uri="{FF2B5EF4-FFF2-40B4-BE49-F238E27FC236}">
                <a16:creationId xmlns:a16="http://schemas.microsoft.com/office/drawing/2014/main" id="{1B277484-3BDC-613D-5C8B-DFB864E1C3D6}"/>
              </a:ext>
            </a:extLst>
          </p:cNvPr>
          <p:cNvSpPr/>
          <p:nvPr/>
        </p:nvSpPr>
        <p:spPr>
          <a:xfrm>
            <a:off x="9920985" y="2741564"/>
            <a:ext cx="6303265" cy="738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5833B09F-FB69-7E08-C237-106AB14EFA5C}"/>
              </a:ext>
            </a:extLst>
          </p:cNvPr>
          <p:cNvSpPr/>
          <p:nvPr/>
        </p:nvSpPr>
        <p:spPr>
          <a:xfrm>
            <a:off x="10661650" y="6416675"/>
            <a:ext cx="1600200" cy="1600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9" name="Imagen 18">
            <a:extLst>
              <a:ext uri="{FF2B5EF4-FFF2-40B4-BE49-F238E27FC236}">
                <a16:creationId xmlns:a16="http://schemas.microsoft.com/office/drawing/2014/main" id="{CC203431-3E63-017E-A5DA-A8AA55A370C6}"/>
              </a:ext>
            </a:extLst>
          </p:cNvPr>
          <p:cNvPicPr>
            <a:picLocks noChangeAspect="1"/>
          </p:cNvPicPr>
          <p:nvPr/>
        </p:nvPicPr>
        <p:blipFill>
          <a:blip r:embed="rId5"/>
          <a:stretch>
            <a:fillRect/>
          </a:stretch>
        </p:blipFill>
        <p:spPr>
          <a:xfrm>
            <a:off x="918180" y="9014068"/>
            <a:ext cx="15839470" cy="1974607"/>
          </a:xfrm>
          <a:prstGeom prst="rect">
            <a:avLst/>
          </a:prstGeom>
        </p:spPr>
      </p:pic>
      <p:sp>
        <p:nvSpPr>
          <p:cNvPr id="20" name="CuadroTexto 19">
            <a:extLst>
              <a:ext uri="{FF2B5EF4-FFF2-40B4-BE49-F238E27FC236}">
                <a16:creationId xmlns:a16="http://schemas.microsoft.com/office/drawing/2014/main" id="{16B0F611-9925-A24E-F22A-37A12EA207B6}"/>
              </a:ext>
            </a:extLst>
          </p:cNvPr>
          <p:cNvSpPr txBox="1"/>
          <p:nvPr/>
        </p:nvSpPr>
        <p:spPr>
          <a:xfrm>
            <a:off x="3422650" y="2736989"/>
            <a:ext cx="1383674"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sp>
        <p:nvSpPr>
          <p:cNvPr id="21" name="CuadroTexto 20">
            <a:extLst>
              <a:ext uri="{FF2B5EF4-FFF2-40B4-BE49-F238E27FC236}">
                <a16:creationId xmlns:a16="http://schemas.microsoft.com/office/drawing/2014/main" id="{645DA29B-2300-9ED2-7C2E-D7A8AE2520BF}"/>
              </a:ext>
            </a:extLst>
          </p:cNvPr>
          <p:cNvSpPr txBox="1"/>
          <p:nvPr/>
        </p:nvSpPr>
        <p:spPr>
          <a:xfrm>
            <a:off x="12109450" y="2660789"/>
            <a:ext cx="41910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a:t>
            </a:r>
          </a:p>
        </p:txBody>
      </p:sp>
      <p:pic>
        <p:nvPicPr>
          <p:cNvPr id="22" name="Imagen 21">
            <a:extLst>
              <a:ext uri="{FF2B5EF4-FFF2-40B4-BE49-F238E27FC236}">
                <a16:creationId xmlns:a16="http://schemas.microsoft.com/office/drawing/2014/main" id="{E2A45380-D01C-3E3A-B4EB-7EC345BC5EAE}"/>
              </a:ext>
            </a:extLst>
          </p:cNvPr>
          <p:cNvPicPr>
            <a:picLocks noChangeAspect="1"/>
          </p:cNvPicPr>
          <p:nvPr/>
        </p:nvPicPr>
        <p:blipFill rotWithShape="1">
          <a:blip r:embed="rId6"/>
          <a:srcRect l="3956" t="1" r="4365" b="15045"/>
          <a:stretch/>
        </p:blipFill>
        <p:spPr>
          <a:xfrm>
            <a:off x="6851650" y="8169275"/>
            <a:ext cx="6400800" cy="914399"/>
          </a:xfrm>
          <a:prstGeom prst="rect">
            <a:avLst/>
          </a:prstGeom>
        </p:spPr>
      </p:pic>
      <p:sp>
        <p:nvSpPr>
          <p:cNvPr id="23" name="Flecha: a la derecha 22">
            <a:extLst>
              <a:ext uri="{FF2B5EF4-FFF2-40B4-BE49-F238E27FC236}">
                <a16:creationId xmlns:a16="http://schemas.microsoft.com/office/drawing/2014/main" id="{9139D872-F836-2D57-6EB0-E15989F0B7A3}"/>
              </a:ext>
            </a:extLst>
          </p:cNvPr>
          <p:cNvSpPr/>
          <p:nvPr/>
        </p:nvSpPr>
        <p:spPr>
          <a:xfrm rot="5400000">
            <a:off x="2871545" y="7501180"/>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274068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432050" y="714594"/>
            <a:ext cx="16988263" cy="738664"/>
          </a:xfrm>
        </p:spPr>
        <p:txBody>
          <a:bodyPr/>
          <a:lstStyle/>
          <a:p>
            <a:r>
              <a:rPr lang="es-MX" dirty="0"/>
              <a:t>MER A MR – JERARQUÍAS / SUBTIPO EN UNA RELACIÓN</a:t>
            </a:r>
            <a:endParaRPr lang="es-CL" dirty="0"/>
          </a:p>
        </p:txBody>
      </p:sp>
      <p:sp>
        <p:nvSpPr>
          <p:cNvPr id="11" name="CuadroTexto 10">
            <a:extLst>
              <a:ext uri="{FF2B5EF4-FFF2-40B4-BE49-F238E27FC236}">
                <a16:creationId xmlns:a16="http://schemas.microsoft.com/office/drawing/2014/main" id="{2415F69F-B384-2256-B1AD-4DE9A0D0C01A}"/>
              </a:ext>
            </a:extLst>
          </p:cNvPr>
          <p:cNvSpPr txBox="1"/>
          <p:nvPr/>
        </p:nvSpPr>
        <p:spPr>
          <a:xfrm>
            <a:off x="3523966" y="6645275"/>
            <a:ext cx="1976863"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pic>
        <p:nvPicPr>
          <p:cNvPr id="4" name="Imagen 3">
            <a:extLst>
              <a:ext uri="{FF2B5EF4-FFF2-40B4-BE49-F238E27FC236}">
                <a16:creationId xmlns:a16="http://schemas.microsoft.com/office/drawing/2014/main" id="{94E4B24A-B3F9-B2F0-B484-0FDA770F4537}"/>
              </a:ext>
            </a:extLst>
          </p:cNvPr>
          <p:cNvPicPr>
            <a:picLocks noChangeAspect="1"/>
          </p:cNvPicPr>
          <p:nvPr/>
        </p:nvPicPr>
        <p:blipFill>
          <a:blip r:embed="rId3"/>
          <a:stretch>
            <a:fillRect/>
          </a:stretch>
        </p:blipFill>
        <p:spPr>
          <a:xfrm>
            <a:off x="603966" y="2405996"/>
            <a:ext cx="7924084" cy="5072062"/>
          </a:xfrm>
          <a:prstGeom prst="rect">
            <a:avLst/>
          </a:prstGeom>
        </p:spPr>
      </p:pic>
      <p:pic>
        <p:nvPicPr>
          <p:cNvPr id="7" name="Imagen 6">
            <a:extLst>
              <a:ext uri="{FF2B5EF4-FFF2-40B4-BE49-F238E27FC236}">
                <a16:creationId xmlns:a16="http://schemas.microsoft.com/office/drawing/2014/main" id="{EA7B9F9E-6403-E5B7-B3A8-1844A9889C72}"/>
              </a:ext>
            </a:extLst>
          </p:cNvPr>
          <p:cNvPicPr>
            <a:picLocks noChangeAspect="1"/>
          </p:cNvPicPr>
          <p:nvPr/>
        </p:nvPicPr>
        <p:blipFill>
          <a:blip r:embed="rId4"/>
          <a:stretch>
            <a:fillRect/>
          </a:stretch>
        </p:blipFill>
        <p:spPr>
          <a:xfrm>
            <a:off x="10966450" y="2405996"/>
            <a:ext cx="8763000" cy="5136932"/>
          </a:xfrm>
          <a:prstGeom prst="rect">
            <a:avLst/>
          </a:prstGeom>
        </p:spPr>
      </p:pic>
      <p:sp>
        <p:nvSpPr>
          <p:cNvPr id="8" name="Rectángulo 7">
            <a:extLst>
              <a:ext uri="{FF2B5EF4-FFF2-40B4-BE49-F238E27FC236}">
                <a16:creationId xmlns:a16="http://schemas.microsoft.com/office/drawing/2014/main" id="{2BAF9EBF-9705-BDC3-F92E-104AB7AB5713}"/>
              </a:ext>
            </a:extLst>
          </p:cNvPr>
          <p:cNvSpPr/>
          <p:nvPr/>
        </p:nvSpPr>
        <p:spPr>
          <a:xfrm>
            <a:off x="10585450" y="3849211"/>
            <a:ext cx="762000" cy="738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Flecha: a la derecha 8">
            <a:extLst>
              <a:ext uri="{FF2B5EF4-FFF2-40B4-BE49-F238E27FC236}">
                <a16:creationId xmlns:a16="http://schemas.microsoft.com/office/drawing/2014/main" id="{E224C282-EA21-C6D3-8FA3-848AC44EC26E}"/>
              </a:ext>
            </a:extLst>
          </p:cNvPr>
          <p:cNvSpPr/>
          <p:nvPr/>
        </p:nvSpPr>
        <p:spPr>
          <a:xfrm>
            <a:off x="9277976" y="4763611"/>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4" name="Imagen 13">
            <a:extLst>
              <a:ext uri="{FF2B5EF4-FFF2-40B4-BE49-F238E27FC236}">
                <a16:creationId xmlns:a16="http://schemas.microsoft.com/office/drawing/2014/main" id="{BE3801B5-F7DD-EF6E-53E0-D5B59C16935C}"/>
              </a:ext>
            </a:extLst>
          </p:cNvPr>
          <p:cNvPicPr>
            <a:picLocks noChangeAspect="1"/>
          </p:cNvPicPr>
          <p:nvPr/>
        </p:nvPicPr>
        <p:blipFill>
          <a:blip r:embed="rId5"/>
          <a:stretch>
            <a:fillRect/>
          </a:stretch>
        </p:blipFill>
        <p:spPr>
          <a:xfrm>
            <a:off x="1263969" y="8626475"/>
            <a:ext cx="17576163" cy="1519797"/>
          </a:xfrm>
          <a:prstGeom prst="rect">
            <a:avLst/>
          </a:prstGeom>
        </p:spPr>
      </p:pic>
      <p:sp>
        <p:nvSpPr>
          <p:cNvPr id="15" name="CuadroTexto 14">
            <a:extLst>
              <a:ext uri="{FF2B5EF4-FFF2-40B4-BE49-F238E27FC236}">
                <a16:creationId xmlns:a16="http://schemas.microsoft.com/office/drawing/2014/main" id="{3B38BFC4-0943-02C1-4F5D-145A8CF0ED0D}"/>
              </a:ext>
            </a:extLst>
          </p:cNvPr>
          <p:cNvSpPr txBox="1"/>
          <p:nvPr/>
        </p:nvSpPr>
        <p:spPr>
          <a:xfrm>
            <a:off x="3956050" y="1822589"/>
            <a:ext cx="1383674"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sp>
        <p:nvSpPr>
          <p:cNvPr id="16" name="CuadroTexto 15">
            <a:extLst>
              <a:ext uri="{FF2B5EF4-FFF2-40B4-BE49-F238E27FC236}">
                <a16:creationId xmlns:a16="http://schemas.microsoft.com/office/drawing/2014/main" id="{D48C8A6A-4480-524E-99EC-D68BF0D7190E}"/>
              </a:ext>
            </a:extLst>
          </p:cNvPr>
          <p:cNvSpPr txBox="1"/>
          <p:nvPr/>
        </p:nvSpPr>
        <p:spPr>
          <a:xfrm>
            <a:off x="13557250" y="1844675"/>
            <a:ext cx="41910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a:t>
            </a:r>
          </a:p>
        </p:txBody>
      </p:sp>
      <p:pic>
        <p:nvPicPr>
          <p:cNvPr id="17" name="Imagen 16">
            <a:extLst>
              <a:ext uri="{FF2B5EF4-FFF2-40B4-BE49-F238E27FC236}">
                <a16:creationId xmlns:a16="http://schemas.microsoft.com/office/drawing/2014/main" id="{DCA31DB2-6181-0E08-CC91-89813DBA8E0B}"/>
              </a:ext>
            </a:extLst>
          </p:cNvPr>
          <p:cNvPicPr>
            <a:picLocks noChangeAspect="1"/>
          </p:cNvPicPr>
          <p:nvPr/>
        </p:nvPicPr>
        <p:blipFill rotWithShape="1">
          <a:blip r:embed="rId6"/>
          <a:srcRect l="3956" t="1" r="4365" b="15045"/>
          <a:stretch/>
        </p:blipFill>
        <p:spPr>
          <a:xfrm>
            <a:off x="6851650" y="7734161"/>
            <a:ext cx="6400800" cy="914399"/>
          </a:xfrm>
          <a:prstGeom prst="rect">
            <a:avLst/>
          </a:prstGeom>
        </p:spPr>
      </p:pic>
      <p:sp>
        <p:nvSpPr>
          <p:cNvPr id="18" name="Flecha: a la derecha 17">
            <a:extLst>
              <a:ext uri="{FF2B5EF4-FFF2-40B4-BE49-F238E27FC236}">
                <a16:creationId xmlns:a16="http://schemas.microsoft.com/office/drawing/2014/main" id="{260EBA87-B5A0-E87D-AA81-42339E754FAD}"/>
              </a:ext>
            </a:extLst>
          </p:cNvPr>
          <p:cNvSpPr/>
          <p:nvPr/>
        </p:nvSpPr>
        <p:spPr>
          <a:xfrm rot="5400000">
            <a:off x="2965450" y="7788275"/>
            <a:ext cx="1066800" cy="609600"/>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251853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23A03-DA13-4F19-FBC2-C8E4F02BAE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BDA63B-A656-EE45-671F-0E84EEB63954}"/>
              </a:ext>
            </a:extLst>
          </p:cNvPr>
          <p:cNvSpPr>
            <a:spLocks noGrp="1"/>
          </p:cNvSpPr>
          <p:nvPr>
            <p:ph type="title"/>
          </p:nvPr>
        </p:nvSpPr>
        <p:spPr>
          <a:xfrm>
            <a:off x="2432050" y="714594"/>
            <a:ext cx="17672050" cy="1354217"/>
          </a:xfrm>
        </p:spPr>
        <p:txBody>
          <a:bodyPr/>
          <a:lstStyle/>
          <a:p>
            <a:r>
              <a:rPr lang="es-MX" sz="4400" dirty="0"/>
              <a:t>MER A MR – JERARQUÍAS / SUBTIPO RELACIONES SEPARADAS</a:t>
            </a:r>
            <a:endParaRPr lang="es-CL" sz="4400" dirty="0"/>
          </a:p>
        </p:txBody>
      </p:sp>
      <p:sp>
        <p:nvSpPr>
          <p:cNvPr id="8" name="Rectángulo 7">
            <a:extLst>
              <a:ext uri="{FF2B5EF4-FFF2-40B4-BE49-F238E27FC236}">
                <a16:creationId xmlns:a16="http://schemas.microsoft.com/office/drawing/2014/main" id="{497750C2-5D28-7D2D-CE5F-E4726DD008E1}"/>
              </a:ext>
            </a:extLst>
          </p:cNvPr>
          <p:cNvSpPr/>
          <p:nvPr/>
        </p:nvSpPr>
        <p:spPr>
          <a:xfrm>
            <a:off x="10585450" y="3849211"/>
            <a:ext cx="762000" cy="738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Flecha: a la derecha 8">
            <a:extLst>
              <a:ext uri="{FF2B5EF4-FFF2-40B4-BE49-F238E27FC236}">
                <a16:creationId xmlns:a16="http://schemas.microsoft.com/office/drawing/2014/main" id="{166B25A1-EEC6-CA33-19DC-2BFBD99D28AF}"/>
              </a:ext>
            </a:extLst>
          </p:cNvPr>
          <p:cNvSpPr/>
          <p:nvPr/>
        </p:nvSpPr>
        <p:spPr>
          <a:xfrm>
            <a:off x="8299450" y="4763611"/>
            <a:ext cx="1383674" cy="738664"/>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CuadroTexto 14">
            <a:extLst>
              <a:ext uri="{FF2B5EF4-FFF2-40B4-BE49-F238E27FC236}">
                <a16:creationId xmlns:a16="http://schemas.microsoft.com/office/drawing/2014/main" id="{C54CC1AC-9352-8E54-7787-76B0086F0EE1}"/>
              </a:ext>
            </a:extLst>
          </p:cNvPr>
          <p:cNvSpPr txBox="1"/>
          <p:nvPr/>
        </p:nvSpPr>
        <p:spPr>
          <a:xfrm>
            <a:off x="3956050" y="1822589"/>
            <a:ext cx="1383674"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sp>
        <p:nvSpPr>
          <p:cNvPr id="16" name="CuadroTexto 15">
            <a:extLst>
              <a:ext uri="{FF2B5EF4-FFF2-40B4-BE49-F238E27FC236}">
                <a16:creationId xmlns:a16="http://schemas.microsoft.com/office/drawing/2014/main" id="{3A845857-328D-EFBA-4799-8832C7DA43C7}"/>
              </a:ext>
            </a:extLst>
          </p:cNvPr>
          <p:cNvSpPr txBox="1"/>
          <p:nvPr/>
        </p:nvSpPr>
        <p:spPr>
          <a:xfrm>
            <a:off x="13557250" y="1844675"/>
            <a:ext cx="41910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a:t>
            </a:r>
          </a:p>
        </p:txBody>
      </p:sp>
      <p:pic>
        <p:nvPicPr>
          <p:cNvPr id="17" name="Imagen 16">
            <a:extLst>
              <a:ext uri="{FF2B5EF4-FFF2-40B4-BE49-F238E27FC236}">
                <a16:creationId xmlns:a16="http://schemas.microsoft.com/office/drawing/2014/main" id="{0951D027-9689-CD38-C841-A41F3B5F1A74}"/>
              </a:ext>
            </a:extLst>
          </p:cNvPr>
          <p:cNvPicPr>
            <a:picLocks noChangeAspect="1"/>
          </p:cNvPicPr>
          <p:nvPr/>
        </p:nvPicPr>
        <p:blipFill rotWithShape="1">
          <a:blip r:embed="rId3"/>
          <a:srcRect l="3956" t="1" r="4365" b="15045"/>
          <a:stretch/>
        </p:blipFill>
        <p:spPr>
          <a:xfrm>
            <a:off x="6851650" y="7734161"/>
            <a:ext cx="6400800" cy="914399"/>
          </a:xfrm>
          <a:prstGeom prst="rect">
            <a:avLst/>
          </a:prstGeom>
        </p:spPr>
      </p:pic>
      <p:sp>
        <p:nvSpPr>
          <p:cNvPr id="18" name="Flecha: a la derecha 17">
            <a:extLst>
              <a:ext uri="{FF2B5EF4-FFF2-40B4-BE49-F238E27FC236}">
                <a16:creationId xmlns:a16="http://schemas.microsoft.com/office/drawing/2014/main" id="{224BF73C-ED82-A0D4-34F7-6D057BAED2CD}"/>
              </a:ext>
            </a:extLst>
          </p:cNvPr>
          <p:cNvSpPr/>
          <p:nvPr/>
        </p:nvSpPr>
        <p:spPr>
          <a:xfrm rot="5400000">
            <a:off x="2965450" y="7788275"/>
            <a:ext cx="1066800" cy="609600"/>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Imagen 4">
            <a:extLst>
              <a:ext uri="{FF2B5EF4-FFF2-40B4-BE49-F238E27FC236}">
                <a16:creationId xmlns:a16="http://schemas.microsoft.com/office/drawing/2014/main" id="{BDC8B018-93F5-A93D-D343-D38A3DA66C34}"/>
              </a:ext>
            </a:extLst>
          </p:cNvPr>
          <p:cNvPicPr>
            <a:picLocks noChangeAspect="1"/>
          </p:cNvPicPr>
          <p:nvPr/>
        </p:nvPicPr>
        <p:blipFill>
          <a:blip r:embed="rId4"/>
          <a:stretch>
            <a:fillRect/>
          </a:stretch>
        </p:blipFill>
        <p:spPr>
          <a:xfrm>
            <a:off x="146050" y="2486005"/>
            <a:ext cx="7995951" cy="4997470"/>
          </a:xfrm>
          <a:prstGeom prst="rect">
            <a:avLst/>
          </a:prstGeom>
        </p:spPr>
      </p:pic>
      <p:pic>
        <p:nvPicPr>
          <p:cNvPr id="19" name="Imagen 18">
            <a:extLst>
              <a:ext uri="{FF2B5EF4-FFF2-40B4-BE49-F238E27FC236}">
                <a16:creationId xmlns:a16="http://schemas.microsoft.com/office/drawing/2014/main" id="{A7356D74-F579-D017-861A-B0CD1CEECE72}"/>
              </a:ext>
            </a:extLst>
          </p:cNvPr>
          <p:cNvPicPr>
            <a:picLocks noChangeAspect="1"/>
          </p:cNvPicPr>
          <p:nvPr/>
        </p:nvPicPr>
        <p:blipFill>
          <a:blip r:embed="rId5"/>
          <a:stretch>
            <a:fillRect/>
          </a:stretch>
        </p:blipFill>
        <p:spPr>
          <a:xfrm>
            <a:off x="9759324" y="2460316"/>
            <a:ext cx="5560762" cy="2953173"/>
          </a:xfrm>
          <a:prstGeom prst="rect">
            <a:avLst/>
          </a:prstGeom>
        </p:spPr>
      </p:pic>
      <p:pic>
        <p:nvPicPr>
          <p:cNvPr id="21" name="Imagen 20">
            <a:extLst>
              <a:ext uri="{FF2B5EF4-FFF2-40B4-BE49-F238E27FC236}">
                <a16:creationId xmlns:a16="http://schemas.microsoft.com/office/drawing/2014/main" id="{C35ED95E-CCDF-05D7-EEA1-5011F8BDECB1}"/>
              </a:ext>
            </a:extLst>
          </p:cNvPr>
          <p:cNvPicPr>
            <a:picLocks noChangeAspect="1"/>
          </p:cNvPicPr>
          <p:nvPr/>
        </p:nvPicPr>
        <p:blipFill>
          <a:blip r:embed="rId6"/>
          <a:stretch>
            <a:fillRect/>
          </a:stretch>
        </p:blipFill>
        <p:spPr>
          <a:xfrm>
            <a:off x="13472822" y="5413489"/>
            <a:ext cx="6030209" cy="2910020"/>
          </a:xfrm>
          <a:prstGeom prst="rect">
            <a:avLst/>
          </a:prstGeom>
        </p:spPr>
      </p:pic>
      <p:pic>
        <p:nvPicPr>
          <p:cNvPr id="23" name="Imagen 22">
            <a:extLst>
              <a:ext uri="{FF2B5EF4-FFF2-40B4-BE49-F238E27FC236}">
                <a16:creationId xmlns:a16="http://schemas.microsoft.com/office/drawing/2014/main" id="{2BAD01D7-937E-B939-81AF-D23B865C10B2}"/>
              </a:ext>
            </a:extLst>
          </p:cNvPr>
          <p:cNvPicPr>
            <a:picLocks noChangeAspect="1"/>
          </p:cNvPicPr>
          <p:nvPr/>
        </p:nvPicPr>
        <p:blipFill>
          <a:blip r:embed="rId7"/>
          <a:stretch>
            <a:fillRect/>
          </a:stretch>
        </p:blipFill>
        <p:spPr>
          <a:xfrm>
            <a:off x="1926408" y="8688711"/>
            <a:ext cx="14907442" cy="2376164"/>
          </a:xfrm>
          <a:prstGeom prst="rect">
            <a:avLst/>
          </a:prstGeom>
        </p:spPr>
      </p:pic>
    </p:spTree>
    <p:extLst>
      <p:ext uri="{BB962C8B-B14F-4D97-AF65-F5344CB8AC3E}">
        <p14:creationId xmlns:p14="http://schemas.microsoft.com/office/powerpoint/2010/main" val="3484826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1DE1D-70DF-8CC6-47D7-DF4762C964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1E4444D-8711-F415-1EEE-8E7CA576E97B}"/>
              </a:ext>
            </a:extLst>
          </p:cNvPr>
          <p:cNvSpPr>
            <a:spLocks noGrp="1"/>
          </p:cNvSpPr>
          <p:nvPr>
            <p:ph type="title"/>
          </p:nvPr>
        </p:nvSpPr>
        <p:spPr>
          <a:xfrm>
            <a:off x="2432050" y="714594"/>
            <a:ext cx="17672050" cy="1354217"/>
          </a:xfrm>
        </p:spPr>
        <p:txBody>
          <a:bodyPr/>
          <a:lstStyle/>
          <a:p>
            <a:r>
              <a:rPr lang="es-MX" sz="4400" dirty="0"/>
              <a:t>MER A MR – JERARQUÍAS / SUBTIPO RELACIONES SEPARADAS</a:t>
            </a:r>
            <a:endParaRPr lang="es-CL" sz="4400" dirty="0"/>
          </a:p>
        </p:txBody>
      </p:sp>
      <p:sp>
        <p:nvSpPr>
          <p:cNvPr id="8" name="Rectángulo 7">
            <a:extLst>
              <a:ext uri="{FF2B5EF4-FFF2-40B4-BE49-F238E27FC236}">
                <a16:creationId xmlns:a16="http://schemas.microsoft.com/office/drawing/2014/main" id="{8563FFCE-FB44-431F-A829-309700F11D54}"/>
              </a:ext>
            </a:extLst>
          </p:cNvPr>
          <p:cNvSpPr/>
          <p:nvPr/>
        </p:nvSpPr>
        <p:spPr>
          <a:xfrm>
            <a:off x="10585450" y="3849211"/>
            <a:ext cx="762000" cy="738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CuadroTexto 14">
            <a:extLst>
              <a:ext uri="{FF2B5EF4-FFF2-40B4-BE49-F238E27FC236}">
                <a16:creationId xmlns:a16="http://schemas.microsoft.com/office/drawing/2014/main" id="{D4A607EC-B729-C789-A5E3-ADC4E28790B9}"/>
              </a:ext>
            </a:extLst>
          </p:cNvPr>
          <p:cNvSpPr txBox="1"/>
          <p:nvPr/>
        </p:nvSpPr>
        <p:spPr>
          <a:xfrm>
            <a:off x="3956050" y="1822589"/>
            <a:ext cx="1383674"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MER</a:t>
            </a:r>
          </a:p>
        </p:txBody>
      </p:sp>
      <p:sp>
        <p:nvSpPr>
          <p:cNvPr id="16" name="CuadroTexto 15">
            <a:extLst>
              <a:ext uri="{FF2B5EF4-FFF2-40B4-BE49-F238E27FC236}">
                <a16:creationId xmlns:a16="http://schemas.microsoft.com/office/drawing/2014/main" id="{D579ADCD-7D0F-E9D9-9DFD-7F065ECA33DD}"/>
              </a:ext>
            </a:extLst>
          </p:cNvPr>
          <p:cNvSpPr txBox="1"/>
          <p:nvPr/>
        </p:nvSpPr>
        <p:spPr>
          <a:xfrm>
            <a:off x="13557250" y="1844675"/>
            <a:ext cx="4191000" cy="707886"/>
          </a:xfrm>
          <a:prstGeom prst="rect">
            <a:avLst/>
          </a:prstGeom>
          <a:noFill/>
        </p:spPr>
        <p:txBody>
          <a:bodyPr wrap="square">
            <a:spAutoFit/>
          </a:bodyPr>
          <a:lstStyle/>
          <a:p>
            <a:pPr algn="ctr" rtl="0">
              <a:spcBef>
                <a:spcPts val="1000"/>
              </a:spcBef>
              <a:spcAft>
                <a:spcPts val="0"/>
              </a:spcAft>
            </a:pPr>
            <a:r>
              <a:rPr lang="es-ES" sz="4000" b="1" i="0" u="none" strike="noStrike" dirty="0">
                <a:solidFill>
                  <a:srgbClr val="818990"/>
                </a:solidFill>
                <a:effectLst/>
                <a:latin typeface="Calibri" panose="020F0502020204030204" pitchFamily="34" charset="0"/>
              </a:rPr>
              <a:t>Modelo Relacional</a:t>
            </a:r>
          </a:p>
        </p:txBody>
      </p:sp>
      <p:pic>
        <p:nvPicPr>
          <p:cNvPr id="17" name="Imagen 16">
            <a:extLst>
              <a:ext uri="{FF2B5EF4-FFF2-40B4-BE49-F238E27FC236}">
                <a16:creationId xmlns:a16="http://schemas.microsoft.com/office/drawing/2014/main" id="{5F072F72-81BE-8CFE-AFC8-B9B40EE53BBC}"/>
              </a:ext>
            </a:extLst>
          </p:cNvPr>
          <p:cNvPicPr>
            <a:picLocks noChangeAspect="1"/>
          </p:cNvPicPr>
          <p:nvPr/>
        </p:nvPicPr>
        <p:blipFill rotWithShape="1">
          <a:blip r:embed="rId3"/>
          <a:srcRect l="3956" t="1" r="4365" b="15045"/>
          <a:stretch/>
        </p:blipFill>
        <p:spPr>
          <a:xfrm>
            <a:off x="6851650" y="7734161"/>
            <a:ext cx="6400800" cy="914399"/>
          </a:xfrm>
          <a:prstGeom prst="rect">
            <a:avLst/>
          </a:prstGeom>
        </p:spPr>
      </p:pic>
      <p:sp>
        <p:nvSpPr>
          <p:cNvPr id="18" name="Flecha: a la derecha 17">
            <a:extLst>
              <a:ext uri="{FF2B5EF4-FFF2-40B4-BE49-F238E27FC236}">
                <a16:creationId xmlns:a16="http://schemas.microsoft.com/office/drawing/2014/main" id="{6B3B4EE7-AD68-63E0-A664-C49A11F17D93}"/>
              </a:ext>
            </a:extLst>
          </p:cNvPr>
          <p:cNvSpPr/>
          <p:nvPr/>
        </p:nvSpPr>
        <p:spPr>
          <a:xfrm rot="5400000">
            <a:off x="2965450" y="7788275"/>
            <a:ext cx="1066800" cy="609600"/>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Imagen 4">
            <a:extLst>
              <a:ext uri="{FF2B5EF4-FFF2-40B4-BE49-F238E27FC236}">
                <a16:creationId xmlns:a16="http://schemas.microsoft.com/office/drawing/2014/main" id="{0EDC6113-6511-F0F7-071E-83D7FBC6461F}"/>
              </a:ext>
            </a:extLst>
          </p:cNvPr>
          <p:cNvPicPr>
            <a:picLocks noChangeAspect="1"/>
          </p:cNvPicPr>
          <p:nvPr/>
        </p:nvPicPr>
        <p:blipFill>
          <a:blip r:embed="rId4"/>
          <a:stretch>
            <a:fillRect/>
          </a:stretch>
        </p:blipFill>
        <p:spPr>
          <a:xfrm>
            <a:off x="146051" y="2486005"/>
            <a:ext cx="7391400" cy="4619626"/>
          </a:xfrm>
          <a:prstGeom prst="rect">
            <a:avLst/>
          </a:prstGeom>
        </p:spPr>
      </p:pic>
      <p:pic>
        <p:nvPicPr>
          <p:cNvPr id="23" name="Imagen 22">
            <a:extLst>
              <a:ext uri="{FF2B5EF4-FFF2-40B4-BE49-F238E27FC236}">
                <a16:creationId xmlns:a16="http://schemas.microsoft.com/office/drawing/2014/main" id="{92622958-614F-5825-5555-B278244D3BB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926408" y="8827378"/>
            <a:ext cx="14907442" cy="2098829"/>
          </a:xfrm>
          <a:prstGeom prst="rect">
            <a:avLst/>
          </a:prstGeom>
        </p:spPr>
      </p:pic>
      <p:pic>
        <p:nvPicPr>
          <p:cNvPr id="4" name="Imagen 3">
            <a:extLst>
              <a:ext uri="{FF2B5EF4-FFF2-40B4-BE49-F238E27FC236}">
                <a16:creationId xmlns:a16="http://schemas.microsoft.com/office/drawing/2014/main" id="{11FA96F7-0003-172F-6E62-DDFFC2735BBB}"/>
              </a:ext>
            </a:extLst>
          </p:cNvPr>
          <p:cNvPicPr>
            <a:picLocks noChangeAspect="1"/>
          </p:cNvPicPr>
          <p:nvPr/>
        </p:nvPicPr>
        <p:blipFill>
          <a:blip r:embed="rId6"/>
          <a:stretch>
            <a:fillRect/>
          </a:stretch>
        </p:blipFill>
        <p:spPr>
          <a:xfrm>
            <a:off x="8147050" y="3197880"/>
            <a:ext cx="11860068" cy="3447395"/>
          </a:xfrm>
          <a:prstGeom prst="rect">
            <a:avLst/>
          </a:prstGeom>
        </p:spPr>
      </p:pic>
      <p:sp>
        <p:nvSpPr>
          <p:cNvPr id="6" name="Rectángulo 5">
            <a:extLst>
              <a:ext uri="{FF2B5EF4-FFF2-40B4-BE49-F238E27FC236}">
                <a16:creationId xmlns:a16="http://schemas.microsoft.com/office/drawing/2014/main" id="{FE1E6B9F-2C7B-9ACF-6AE1-E70271EF8080}"/>
              </a:ext>
            </a:extLst>
          </p:cNvPr>
          <p:cNvSpPr/>
          <p:nvPr/>
        </p:nvSpPr>
        <p:spPr>
          <a:xfrm>
            <a:off x="8070850" y="5727719"/>
            <a:ext cx="1219200" cy="14509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Flecha: a la derecha 6">
            <a:extLst>
              <a:ext uri="{FF2B5EF4-FFF2-40B4-BE49-F238E27FC236}">
                <a16:creationId xmlns:a16="http://schemas.microsoft.com/office/drawing/2014/main" id="{00230890-1A25-6B2B-6BE3-2EDF7ECA6164}"/>
              </a:ext>
            </a:extLst>
          </p:cNvPr>
          <p:cNvSpPr/>
          <p:nvPr/>
        </p:nvSpPr>
        <p:spPr>
          <a:xfrm>
            <a:off x="7766050" y="5959475"/>
            <a:ext cx="1066800" cy="609600"/>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90524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customXml/itemProps2.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4C43652-73DC-4C77-8E79-F06010C18C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4557</TotalTime>
  <Words>3328</Words>
  <Application>Microsoft Office PowerPoint</Application>
  <PresentationFormat>Custom</PresentationFormat>
  <Paragraphs>206</Paragraphs>
  <Slides>27</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Arial Black</vt:lpstr>
      <vt:lpstr>Calibri</vt:lpstr>
      <vt:lpstr>Courier New</vt:lpstr>
      <vt:lpstr>fkGroteskNeue</vt:lpstr>
      <vt:lpstr>Times New Roman</vt:lpstr>
      <vt:lpstr>Wingdings</vt:lpstr>
      <vt:lpstr>Office Theme</vt:lpstr>
      <vt:lpstr>BDY1101 Construyendo un MR normalizado</vt:lpstr>
      <vt:lpstr>PowerPoint Presentation</vt:lpstr>
      <vt:lpstr>PowerPoint Presentation</vt:lpstr>
      <vt:lpstr>PowerPoint Presentation</vt:lpstr>
      <vt:lpstr>MODELO RELACIONAL</vt:lpstr>
      <vt:lpstr>MODELO RELACIONAL</vt:lpstr>
      <vt:lpstr>MODELO RELACIONAL</vt:lpstr>
      <vt:lpstr>PowerPoint Presentation</vt:lpstr>
      <vt:lpstr>PowerPoint Presentation</vt:lpstr>
      <vt:lpstr>PowerPoint Presentation</vt:lpstr>
      <vt:lpstr>PowerPoint Presentation</vt:lpstr>
      <vt:lpstr>CLAVE PRIMARIA</vt:lpstr>
      <vt:lpstr>CLAVE PRIMARIA</vt:lpstr>
      <vt:lpstr>CLAVE FORÁNEA</vt:lpstr>
      <vt:lpstr>PowerPoint Presentation</vt:lpstr>
      <vt:lpstr>PowerPoint Presentation</vt:lpstr>
      <vt:lpstr>PowerPoint Presentation</vt:lpstr>
      <vt:lpstr>MER a MR</vt:lpstr>
      <vt:lpstr>MER A MR – ENTIDAD FUERTE</vt:lpstr>
      <vt:lpstr>MER A MR – RELACIÓN 1:M</vt:lpstr>
      <vt:lpstr>MER A MR – RELACIÓN M:N</vt:lpstr>
      <vt:lpstr>MER A MR – RELACIÓN 1:1</vt:lpstr>
      <vt:lpstr>MER A MR – RELACIÓN RECURSIVA</vt:lpstr>
      <vt:lpstr>MER A MR – RELACIONES DE EXCLUSIVIDAD</vt:lpstr>
      <vt:lpstr>MER A MR – JERARQUÍAS / SUBTIPO EN UNA RELACIÓN</vt:lpstr>
      <vt:lpstr>MER A MR – JERARQUÍAS / SUBTIPO RELACIONES SEPARADAS</vt:lpstr>
      <vt:lpstr>MER A MR – JERARQUÍAS / SUBTIPO RELACIONES SEPARADAS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GIANCARLO FAVIO JAQUE OJEDA</cp:lastModifiedBy>
  <cp:revision>337</cp:revision>
  <dcterms:created xsi:type="dcterms:W3CDTF">2022-07-20T19:15:37Z</dcterms:created>
  <dcterms:modified xsi:type="dcterms:W3CDTF">2026-01-16T22:05:15Z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
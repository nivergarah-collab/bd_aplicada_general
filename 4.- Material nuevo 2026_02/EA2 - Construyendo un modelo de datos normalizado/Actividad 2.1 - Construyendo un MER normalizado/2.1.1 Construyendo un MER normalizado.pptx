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1"/>
  </p:notesMasterIdLst>
  <p:sldIdLst>
    <p:sldId id="261" r:id="rId5"/>
    <p:sldId id="337" r:id="rId6"/>
    <p:sldId id="348" r:id="rId7"/>
    <p:sldId id="349" r:id="rId8"/>
    <p:sldId id="350" r:id="rId9"/>
    <p:sldId id="351" r:id="rId10"/>
    <p:sldId id="352" r:id="rId11"/>
    <p:sldId id="344" r:id="rId12"/>
    <p:sldId id="339" r:id="rId13"/>
    <p:sldId id="378" r:id="rId14"/>
    <p:sldId id="270" r:id="rId15"/>
    <p:sldId id="340" r:id="rId16"/>
    <p:sldId id="345" r:id="rId17"/>
    <p:sldId id="353" r:id="rId18"/>
    <p:sldId id="346" r:id="rId19"/>
    <p:sldId id="354" r:id="rId20"/>
    <p:sldId id="347" r:id="rId21"/>
    <p:sldId id="355" r:id="rId22"/>
    <p:sldId id="356" r:id="rId23"/>
    <p:sldId id="357" r:id="rId24"/>
    <p:sldId id="358" r:id="rId25"/>
    <p:sldId id="359" r:id="rId26"/>
    <p:sldId id="360" r:id="rId27"/>
    <p:sldId id="375" r:id="rId28"/>
    <p:sldId id="376" r:id="rId29"/>
    <p:sldId id="377" r:id="rId30"/>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CE1"/>
    <a:srgbClr val="C2D501"/>
    <a:srgbClr val="DB0532"/>
    <a:srgbClr val="B14EC4"/>
    <a:srgbClr val="FF595A"/>
    <a:srgbClr val="D39F17"/>
    <a:srgbClr val="58C0E9"/>
    <a:srgbClr val="DC0031"/>
    <a:srgbClr val="EF7821"/>
    <a:srgbClr val="C4D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90"/>
    <p:restoredTop sz="82336" autoAdjust="0"/>
  </p:normalViewPr>
  <p:slideViewPr>
    <p:cSldViewPr>
      <p:cViewPr varScale="1">
        <p:scale>
          <a:sx n="41" d="100"/>
          <a:sy n="41" d="100"/>
        </p:scale>
        <p:origin x="1008"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54D35674-3C19-9844-8370-EE59E1CD260A}" type="datetimeFigureOut">
              <a:rPr lang="es-CL" smtClean="0"/>
              <a:t>16-01-2026</a:t>
            </a:fld>
            <a:endParaRPr lang="es-CL"/>
          </a:p>
        </p:txBody>
      </p:sp>
      <p:sp>
        <p:nvSpPr>
          <p:cNvPr id="4" name="Marcador de imagen de diapositiva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r>
              <a:rPr lang="es-ES"/>
              <a:t>Editar los estilos de texto del patrón
Segundo nivel
Tercer nivel
Cuarto nivel
Quinto nivel</a:t>
            </a:r>
            <a:endParaRPr lang="es-CL"/>
          </a:p>
        </p:txBody>
      </p:sp>
      <p:sp>
        <p:nvSpPr>
          <p:cNvPr id="6" name="Marcador de pie de página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35C2C890-E6DE-1A45-98C6-E722FA6368DA}" type="slidenum">
              <a:rPr lang="es-CL" smtClean="0"/>
              <a:t>‹#›</a:t>
            </a:fld>
            <a:endParaRPr lang="es-CL"/>
          </a:p>
        </p:txBody>
      </p:sp>
    </p:spTree>
    <p:extLst>
      <p:ext uri="{BB962C8B-B14F-4D97-AF65-F5344CB8AC3E}">
        <p14:creationId xmlns:p14="http://schemas.microsoft.com/office/powerpoint/2010/main" val="2341394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lgn="just">
              <a:lnSpc>
                <a:spcPct val="90000"/>
              </a:lnSpc>
              <a:buFont typeface="Wingdings" panose="05000000000000000000" pitchFamily="2" charset="2"/>
              <a:buNone/>
            </a:pPr>
            <a:r>
              <a:rPr lang="es-ES" b="1" dirty="0">
                <a:latin typeface="Arial" panose="020B0604020202020204" pitchFamily="34" charset="0"/>
                <a:cs typeface="Arial" panose="020B0604020202020204" pitchFamily="34" charset="0"/>
              </a:rPr>
              <a:t>VENTAJAS DEL USO DE VISTAS DE USUARIOS</a:t>
            </a:r>
          </a:p>
          <a:p>
            <a:pPr marL="171450" indent="-171450" algn="just">
              <a:lnSpc>
                <a:spcPct val="90000"/>
              </a:lnSpc>
              <a:buFont typeface="Arial" panose="020B0604020202020204" pitchFamily="34" charset="0"/>
              <a:buChar char="•"/>
            </a:pPr>
            <a:r>
              <a:rPr lang="es-ES" dirty="0">
                <a:latin typeface="Arial" panose="020B0604020202020204" pitchFamily="34" charset="0"/>
                <a:cs typeface="Arial" panose="020B0604020202020204" pitchFamily="34" charset="0"/>
              </a:rPr>
              <a:t>Satisfacer los requisitos de información de los usuarios y aplicaciones especificados.</a:t>
            </a:r>
          </a:p>
          <a:p>
            <a:pPr marL="171450" indent="-171450" algn="just">
              <a:lnSpc>
                <a:spcPct val="90000"/>
              </a:lnSpc>
              <a:buFont typeface="Arial" panose="020B0604020202020204" pitchFamily="34" charset="0"/>
              <a:buChar char="•"/>
            </a:pPr>
            <a:r>
              <a:rPr lang="es-ES" dirty="0">
                <a:latin typeface="Arial" panose="020B0604020202020204" pitchFamily="34" charset="0"/>
                <a:cs typeface="Arial" panose="020B0604020202020204" pitchFamily="34" charset="0"/>
              </a:rPr>
              <a:t>Ofrecer una estructura de información natural y fácil de comprender.</a:t>
            </a:r>
          </a:p>
          <a:p>
            <a:pPr marL="171450" indent="-171450" algn="just">
              <a:lnSpc>
                <a:spcPct val="90000"/>
              </a:lnSpc>
              <a:buFont typeface="Arial" panose="020B0604020202020204" pitchFamily="34" charset="0"/>
              <a:buChar char="•"/>
            </a:pPr>
            <a:r>
              <a:rPr lang="es-ES" dirty="0">
                <a:latin typeface="Arial" panose="020B0604020202020204" pitchFamily="34" charset="0"/>
                <a:cs typeface="Arial" panose="020B0604020202020204" pitchFamily="34" charset="0"/>
              </a:rPr>
              <a:t>Eliminación de características que el usuario no necesita en el sistema.</a:t>
            </a:r>
          </a:p>
          <a:p>
            <a:pPr marL="171450" indent="-171450" algn="just">
              <a:lnSpc>
                <a:spcPct val="90000"/>
              </a:lnSpc>
              <a:buFont typeface="Arial" panose="020B0604020202020204" pitchFamily="34" charset="0"/>
              <a:buChar char="•"/>
            </a:pPr>
            <a:r>
              <a:rPr lang="es-ES" dirty="0">
                <a:latin typeface="Arial" panose="020B0604020202020204" pitchFamily="34" charset="0"/>
                <a:cs typeface="Arial" panose="020B0604020202020204" pitchFamily="34" charset="0"/>
              </a:rPr>
              <a:t>Un correcto entendimiento de los requerimientos dará como fruto un sistema robusto, ágil, eficiente y desarrollado en el menor tiempo posible.</a:t>
            </a:r>
          </a:p>
        </p:txBody>
      </p:sp>
      <p:sp>
        <p:nvSpPr>
          <p:cNvPr id="4" name="Marcador de número de diapositiva 3"/>
          <p:cNvSpPr>
            <a:spLocks noGrp="1"/>
          </p:cNvSpPr>
          <p:nvPr>
            <p:ph type="sldNum" sz="quarter" idx="5"/>
          </p:nvPr>
        </p:nvSpPr>
        <p:spPr/>
        <p:txBody>
          <a:bodyPr/>
          <a:lstStyle/>
          <a:p>
            <a:fld id="{35C2C890-E6DE-1A45-98C6-E722FA6368DA}" type="slidenum">
              <a:rPr lang="es-CL" smtClean="0"/>
              <a:t>4</a:t>
            </a:fld>
            <a:endParaRPr lang="es-CL"/>
          </a:p>
        </p:txBody>
      </p:sp>
    </p:spTree>
    <p:extLst>
      <p:ext uri="{BB962C8B-B14F-4D97-AF65-F5344CB8AC3E}">
        <p14:creationId xmlns:p14="http://schemas.microsoft.com/office/powerpoint/2010/main" val="665266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lgn="just">
              <a:lnSpc>
                <a:spcPct val="90000"/>
              </a:lnSpc>
              <a:buFont typeface="Wingdings" panose="05000000000000000000" pitchFamily="2" charset="2"/>
              <a:buNone/>
            </a:pPr>
            <a:endParaRPr lang="es-ES"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5</a:t>
            </a:fld>
            <a:endParaRPr lang="es-CL"/>
          </a:p>
        </p:txBody>
      </p:sp>
    </p:spTree>
    <p:extLst>
      <p:ext uri="{BB962C8B-B14F-4D97-AF65-F5344CB8AC3E}">
        <p14:creationId xmlns:p14="http://schemas.microsoft.com/office/powerpoint/2010/main" val="2105540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lgn="just">
              <a:lnSpc>
                <a:spcPct val="90000"/>
              </a:lnSpc>
              <a:buFont typeface="Wingdings" panose="05000000000000000000" pitchFamily="2" charset="2"/>
              <a:buNone/>
            </a:pPr>
            <a:endParaRPr lang="es-ES"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6</a:t>
            </a:fld>
            <a:endParaRPr lang="es-CL"/>
          </a:p>
        </p:txBody>
      </p:sp>
    </p:spTree>
    <p:extLst>
      <p:ext uri="{BB962C8B-B14F-4D97-AF65-F5344CB8AC3E}">
        <p14:creationId xmlns:p14="http://schemas.microsoft.com/office/powerpoint/2010/main" val="4132416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lgn="just">
              <a:lnSpc>
                <a:spcPct val="90000"/>
              </a:lnSpc>
              <a:buFont typeface="Wingdings" panose="05000000000000000000" pitchFamily="2" charset="2"/>
              <a:buNone/>
            </a:pPr>
            <a:endParaRPr lang="es-ES"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7</a:t>
            </a:fld>
            <a:endParaRPr lang="es-CL"/>
          </a:p>
        </p:txBody>
      </p:sp>
    </p:spTree>
    <p:extLst>
      <p:ext uri="{BB962C8B-B14F-4D97-AF65-F5344CB8AC3E}">
        <p14:creationId xmlns:p14="http://schemas.microsoft.com/office/powerpoint/2010/main" val="178561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spcBef>
                <a:spcPct val="0"/>
              </a:spcBef>
            </a:pPr>
            <a:r>
              <a:rPr lang="es-ES" sz="1200" b="1" dirty="0">
                <a:latin typeface="Times New Roman" pitchFamily="18" charset="0"/>
                <a:cs typeface="Times New Roman" pitchFamily="18" charset="0"/>
              </a:rPr>
              <a:t>Normalización del Modelo</a:t>
            </a:r>
          </a:p>
          <a:p>
            <a:pPr eaLnBrk="1" hangingPunct="1">
              <a:spcBef>
                <a:spcPct val="0"/>
              </a:spcBef>
            </a:pPr>
            <a:r>
              <a:rPr lang="es-ES" sz="1200" b="0" dirty="0">
                <a:latin typeface="Times New Roman" pitchFamily="18" charset="0"/>
                <a:cs typeface="Times New Roman" pitchFamily="18" charset="0"/>
              </a:rPr>
              <a:t>La normalización es un concepto de Base de Datos Relacionales, pero sus principios se pueden aplicar desde la etapa del Modelamiento Conceptuales ya que de esa forma las tablas creadas durante el diseño se ajustarán a las reglas de la normalización. </a:t>
            </a:r>
          </a:p>
          <a:p>
            <a:pPr eaLnBrk="1" hangingPunct="1">
              <a:spcBef>
                <a:spcPct val="0"/>
              </a:spcBef>
            </a:pPr>
            <a:endParaRPr lang="es-CL"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pPr>
            <a:r>
              <a:rPr lang="es-CL"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El objetivo de aplicar la Normalización en el Modelo Conceptual es que al transformarlo al Modelo Relacional ambos modelos sean coherentes. La idea es que, en lo posible, las únicas situaciones por las que se deba corregir el Modelo E/R (para que sea coherente con el Relacional) sea porque existen nuevos requerimientos cuando la Base de Datos ya fue creada.</a:t>
            </a:r>
            <a:endParaRPr lang="es-ES" sz="1200" b="0" dirty="0">
              <a:latin typeface="Times New Roman" pitchFamily="18" charset="0"/>
              <a:cs typeface="Times New Roman" pitchFamily="18" charset="0"/>
            </a:endParaRPr>
          </a:p>
          <a:p>
            <a:pPr eaLnBrk="1" hangingPunct="1">
              <a:spcBef>
                <a:spcPct val="0"/>
              </a:spcBef>
            </a:pPr>
            <a:endParaRPr lang="es-ES" sz="1200" b="0" dirty="0">
              <a:latin typeface="Times New Roman" pitchFamily="18" charset="0"/>
              <a:cs typeface="Times New Roman" pitchFamily="18" charset="0"/>
            </a:endParaRPr>
          </a:p>
          <a:p>
            <a:pPr eaLnBrk="1" hangingPunct="1">
              <a:spcBef>
                <a:spcPct val="0"/>
              </a:spcBef>
            </a:pPr>
            <a:r>
              <a:rPr lang="es-ES" sz="1200" b="0" dirty="0">
                <a:latin typeface="Times New Roman" pitchFamily="18" charset="0"/>
                <a:cs typeface="Times New Roman" pitchFamily="18" charset="0"/>
              </a:rPr>
              <a:t>Lo que se desea con la normalización es:</a:t>
            </a:r>
          </a:p>
          <a:p>
            <a:pPr marL="171450" indent="-171450" eaLnBrk="1" hangingPunct="1">
              <a:spcBef>
                <a:spcPct val="0"/>
              </a:spcBef>
              <a:buFont typeface="Arial" panose="020B0604020202020204" pitchFamily="34" charset="0"/>
              <a:buChar char="•"/>
            </a:pPr>
            <a:r>
              <a:rPr lang="es-ES" sz="1200" b="0" dirty="0">
                <a:latin typeface="Times New Roman" pitchFamily="18" charset="0"/>
                <a:cs typeface="Times New Roman" pitchFamily="18" charset="0"/>
              </a:rPr>
              <a:t>Evitar la redundancia de los datos. </a:t>
            </a:r>
          </a:p>
          <a:p>
            <a:pPr marL="171450" indent="-171450" eaLnBrk="1" hangingPunct="1">
              <a:spcBef>
                <a:spcPct val="0"/>
              </a:spcBef>
              <a:buFont typeface="Arial" panose="020B0604020202020204" pitchFamily="34" charset="0"/>
              <a:buChar char="•"/>
            </a:pPr>
            <a:r>
              <a:rPr lang="es-ES" sz="1200" b="0" dirty="0">
                <a:latin typeface="Times New Roman" pitchFamily="18" charset="0"/>
                <a:cs typeface="Times New Roman" pitchFamily="18" charset="0"/>
              </a:rPr>
              <a:t>Evitar problemas de actualización de los datos en las tablas es decir inconsistencias. </a:t>
            </a:r>
          </a:p>
          <a:p>
            <a:pPr marL="171450" indent="-171450" eaLnBrk="1" hangingPunct="1">
              <a:spcBef>
                <a:spcPct val="0"/>
              </a:spcBef>
              <a:buFont typeface="Arial" panose="020B0604020202020204" pitchFamily="34" charset="0"/>
              <a:buChar char="•"/>
            </a:pPr>
            <a:r>
              <a:rPr lang="es-ES" sz="1200" b="0" dirty="0">
                <a:latin typeface="Times New Roman" pitchFamily="18" charset="0"/>
                <a:cs typeface="Times New Roman" pitchFamily="18" charset="0"/>
              </a:rPr>
              <a:t>Proteger la integridad de los datos. </a:t>
            </a:r>
          </a:p>
          <a:p>
            <a:pPr marL="0" indent="0" eaLnBrk="1" hangingPunct="1">
              <a:spcBef>
                <a:spcPct val="0"/>
              </a:spcBef>
              <a:buFont typeface="Arial" panose="020B0604020202020204" pitchFamily="34" charset="0"/>
              <a:buNone/>
            </a:pPr>
            <a:endParaRPr lang="es-ES" sz="1200" b="0" dirty="0">
              <a:latin typeface="Times New Roman" pitchFamily="18" charset="0"/>
              <a:cs typeface="Times New Roman" pitchFamily="18" charset="0"/>
            </a:endParaRPr>
          </a:p>
          <a:p>
            <a:pPr marL="0" indent="0" eaLnBrk="1" hangingPunct="1">
              <a:spcBef>
                <a:spcPct val="0"/>
              </a:spcBef>
              <a:buFont typeface="Arial" panose="020B0604020202020204" pitchFamily="34" charset="0"/>
              <a:buNone/>
            </a:pPr>
            <a:r>
              <a:rPr lang="es-ES" sz="1200" b="0" dirty="0">
                <a:latin typeface="Times New Roman" pitchFamily="18" charset="0"/>
                <a:cs typeface="Times New Roman" pitchFamily="18" charset="0"/>
              </a:rPr>
              <a:t>La ubicación de los atributos, se validan usando la teoría o reglas de normalización que tienen como fundamento el concepto de Formas Normales.</a:t>
            </a:r>
          </a:p>
        </p:txBody>
      </p:sp>
      <p:sp>
        <p:nvSpPr>
          <p:cNvPr id="4" name="Marcador de número de diapositiva 3"/>
          <p:cNvSpPr>
            <a:spLocks noGrp="1"/>
          </p:cNvSpPr>
          <p:nvPr>
            <p:ph type="sldNum" sz="quarter" idx="5"/>
          </p:nvPr>
        </p:nvSpPr>
        <p:spPr/>
        <p:txBody>
          <a:bodyPr/>
          <a:lstStyle/>
          <a:p>
            <a:fld id="{35C2C890-E6DE-1A45-98C6-E722FA6368DA}" type="slidenum">
              <a:rPr lang="es-CL" smtClean="0"/>
              <a:t>9</a:t>
            </a:fld>
            <a:endParaRPr lang="es-CL"/>
          </a:p>
        </p:txBody>
      </p:sp>
    </p:spTree>
    <p:extLst>
      <p:ext uri="{BB962C8B-B14F-4D97-AF65-F5344CB8AC3E}">
        <p14:creationId xmlns:p14="http://schemas.microsoft.com/office/powerpoint/2010/main" val="901210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spcBef>
                <a:spcPct val="0"/>
              </a:spcBef>
            </a:pPr>
            <a:r>
              <a:rPr lang="es-ES" sz="1200" b="1" dirty="0">
                <a:latin typeface="Times New Roman" pitchFamily="18" charset="0"/>
                <a:cs typeface="Times New Roman" pitchFamily="18" charset="0"/>
              </a:rPr>
              <a:t>Normalización del Modelo</a:t>
            </a:r>
          </a:p>
          <a:p>
            <a:pPr eaLnBrk="1" hangingPunct="1">
              <a:spcBef>
                <a:spcPct val="0"/>
              </a:spcBef>
            </a:pPr>
            <a:r>
              <a:rPr lang="es-ES" sz="1200" b="0" dirty="0">
                <a:latin typeface="Times New Roman" pitchFamily="18" charset="0"/>
                <a:cs typeface="Times New Roman" pitchFamily="18" charset="0"/>
              </a:rPr>
              <a:t>La normalización es un concepto de Base de Datos Relacionales, pero sus principios se pueden aplicar desde la etapa del Modelamiento Conceptuales ya que de esa forma las tablas creadas durante el diseño se ajustarán a las reglas de la normalización. </a:t>
            </a:r>
          </a:p>
          <a:p>
            <a:pPr eaLnBrk="1" hangingPunct="1">
              <a:spcBef>
                <a:spcPct val="0"/>
              </a:spcBef>
            </a:pPr>
            <a:endParaRPr lang="es-CL"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eaLnBrk="1" hangingPunct="1">
              <a:spcBef>
                <a:spcPct val="0"/>
              </a:spcBef>
            </a:pPr>
            <a:r>
              <a:rPr lang="es-CL"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El objetivo de aplicar la Normalización en el Modelo Conceptual es que al transformarlo al Modelo Relacional ambos modelos sean coherentes. La idea es que, en lo posible, las únicas situaciones por las que se deba corregir el Modelo E/R (para que sea coherente con el Relacional) sea porque existen nuevos requerimientos cuando la Base de Datos ya fue creada.</a:t>
            </a:r>
            <a:endParaRPr lang="es-ES" sz="1200" b="0" dirty="0">
              <a:latin typeface="Times New Roman" pitchFamily="18" charset="0"/>
              <a:cs typeface="Times New Roman" pitchFamily="18" charset="0"/>
            </a:endParaRPr>
          </a:p>
          <a:p>
            <a:pPr eaLnBrk="1" hangingPunct="1">
              <a:spcBef>
                <a:spcPct val="0"/>
              </a:spcBef>
            </a:pPr>
            <a:endParaRPr lang="es-ES" sz="1200" b="0" dirty="0">
              <a:latin typeface="Times New Roman" pitchFamily="18" charset="0"/>
              <a:cs typeface="Times New Roman" pitchFamily="18" charset="0"/>
            </a:endParaRPr>
          </a:p>
          <a:p>
            <a:pPr eaLnBrk="1" hangingPunct="1">
              <a:spcBef>
                <a:spcPct val="0"/>
              </a:spcBef>
            </a:pPr>
            <a:r>
              <a:rPr lang="es-ES" sz="1200" b="0" dirty="0">
                <a:latin typeface="Times New Roman" pitchFamily="18" charset="0"/>
                <a:cs typeface="Times New Roman" pitchFamily="18" charset="0"/>
              </a:rPr>
              <a:t>Lo que se desea con la normalización es:</a:t>
            </a:r>
          </a:p>
          <a:p>
            <a:pPr marL="171450" indent="-171450" eaLnBrk="1" hangingPunct="1">
              <a:spcBef>
                <a:spcPct val="0"/>
              </a:spcBef>
              <a:buFont typeface="Arial" panose="020B0604020202020204" pitchFamily="34" charset="0"/>
              <a:buChar char="•"/>
            </a:pPr>
            <a:r>
              <a:rPr lang="es-ES" sz="1200" b="0" dirty="0">
                <a:latin typeface="Times New Roman" pitchFamily="18" charset="0"/>
                <a:cs typeface="Times New Roman" pitchFamily="18" charset="0"/>
              </a:rPr>
              <a:t>Evitar la redundancia de los datos. </a:t>
            </a:r>
          </a:p>
          <a:p>
            <a:pPr marL="171450" indent="-171450" eaLnBrk="1" hangingPunct="1">
              <a:spcBef>
                <a:spcPct val="0"/>
              </a:spcBef>
              <a:buFont typeface="Arial" panose="020B0604020202020204" pitchFamily="34" charset="0"/>
              <a:buChar char="•"/>
            </a:pPr>
            <a:r>
              <a:rPr lang="es-ES" sz="1200" b="0" dirty="0">
                <a:latin typeface="Times New Roman" pitchFamily="18" charset="0"/>
                <a:cs typeface="Times New Roman" pitchFamily="18" charset="0"/>
              </a:rPr>
              <a:t>Evitar problemas de actualización de los datos en las tablas es decir inconsistencias. </a:t>
            </a:r>
          </a:p>
          <a:p>
            <a:pPr marL="171450" indent="-171450" eaLnBrk="1" hangingPunct="1">
              <a:spcBef>
                <a:spcPct val="0"/>
              </a:spcBef>
              <a:buFont typeface="Arial" panose="020B0604020202020204" pitchFamily="34" charset="0"/>
              <a:buChar char="•"/>
            </a:pPr>
            <a:r>
              <a:rPr lang="es-ES" sz="1200" b="0" dirty="0">
                <a:latin typeface="Times New Roman" pitchFamily="18" charset="0"/>
                <a:cs typeface="Times New Roman" pitchFamily="18" charset="0"/>
              </a:rPr>
              <a:t>Proteger la integridad de los datos. </a:t>
            </a:r>
          </a:p>
          <a:p>
            <a:pPr marL="0" indent="0" eaLnBrk="1" hangingPunct="1">
              <a:spcBef>
                <a:spcPct val="0"/>
              </a:spcBef>
              <a:buFont typeface="Arial" panose="020B0604020202020204" pitchFamily="34" charset="0"/>
              <a:buNone/>
            </a:pPr>
            <a:endParaRPr lang="es-ES" sz="1200" b="0" dirty="0">
              <a:latin typeface="Times New Roman" pitchFamily="18" charset="0"/>
              <a:cs typeface="Times New Roman" pitchFamily="18" charset="0"/>
            </a:endParaRPr>
          </a:p>
          <a:p>
            <a:pPr marL="0" indent="0" eaLnBrk="1" hangingPunct="1">
              <a:spcBef>
                <a:spcPct val="0"/>
              </a:spcBef>
              <a:buFont typeface="Arial" panose="020B0604020202020204" pitchFamily="34" charset="0"/>
              <a:buNone/>
            </a:pPr>
            <a:r>
              <a:rPr lang="es-ES" sz="1200" b="0" dirty="0">
                <a:latin typeface="Times New Roman" pitchFamily="18" charset="0"/>
                <a:cs typeface="Times New Roman" pitchFamily="18" charset="0"/>
              </a:rPr>
              <a:t>La ubicación de los atributos, se validan usando la teoría o reglas de normalización que tienen como fundamento el concepto de Formas Normales.</a:t>
            </a:r>
          </a:p>
        </p:txBody>
      </p:sp>
      <p:sp>
        <p:nvSpPr>
          <p:cNvPr id="4" name="Marcador de número de diapositiva 3"/>
          <p:cNvSpPr>
            <a:spLocks noGrp="1"/>
          </p:cNvSpPr>
          <p:nvPr>
            <p:ph type="sldNum" sz="quarter" idx="5"/>
          </p:nvPr>
        </p:nvSpPr>
        <p:spPr/>
        <p:txBody>
          <a:bodyPr/>
          <a:lstStyle/>
          <a:p>
            <a:fld id="{35C2C890-E6DE-1A45-98C6-E722FA6368DA}" type="slidenum">
              <a:rPr lang="es-CL" smtClean="0"/>
              <a:t>10</a:t>
            </a:fld>
            <a:endParaRPr lang="es-CL"/>
          </a:p>
        </p:txBody>
      </p:sp>
    </p:spTree>
    <p:extLst>
      <p:ext uri="{BB962C8B-B14F-4D97-AF65-F5344CB8AC3E}">
        <p14:creationId xmlns:p14="http://schemas.microsoft.com/office/powerpoint/2010/main" val="4250524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12</a:t>
            </a:fld>
            <a:endParaRPr lang="es-CL"/>
          </a:p>
        </p:txBody>
      </p:sp>
    </p:spTree>
    <p:extLst>
      <p:ext uri="{BB962C8B-B14F-4D97-AF65-F5344CB8AC3E}">
        <p14:creationId xmlns:p14="http://schemas.microsoft.com/office/powerpoint/2010/main" val="3426963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Primera Forma Normal (1FN)</a:t>
            </a:r>
          </a:p>
          <a:p>
            <a:r>
              <a:rPr lang="es-ES" dirty="0"/>
              <a:t>Es la forma normal propia al esquema relacional, por lo que su cumplimiento es obligatorio; es decir todo modelo que se implementará en una Base de Datos Relacional la cumple.</a:t>
            </a:r>
          </a:p>
          <a:p>
            <a:r>
              <a:rPr lang="es-ES" dirty="0"/>
              <a:t>Una entidad está normalizada o en 1FN, si contiene sólo valores atómicos (un solo valor ), es decir, no posee grupos repetitivos. Se debe revisar que ningún atributo tenga más de un valor para cada instancia de una entidad.</a:t>
            </a:r>
          </a:p>
          <a:p>
            <a:endParaRPr lang="es-ES" dirty="0"/>
          </a:p>
          <a:p>
            <a:r>
              <a:rPr lang="es-ES" dirty="0"/>
              <a:t>Para poder cumplir con esto:</a:t>
            </a:r>
          </a:p>
          <a:p>
            <a:pPr marL="171450" indent="-171450">
              <a:buFont typeface="Arial" panose="020B0604020202020204" pitchFamily="34" charset="0"/>
              <a:buChar char="•"/>
            </a:pPr>
            <a:r>
              <a:rPr lang="es-ES" dirty="0"/>
              <a:t>Se deben pasar a otra entidad aquellos grupos repetitivos generándose dos entidades a partir de la entidad original.</a:t>
            </a:r>
          </a:p>
          <a:p>
            <a:pPr marL="171450" indent="-171450">
              <a:buFont typeface="Arial" panose="020B0604020202020204" pitchFamily="34" charset="0"/>
              <a:buChar char="•"/>
            </a:pPr>
            <a:r>
              <a:rPr lang="es-ES" dirty="0"/>
              <a:t>Crear una relación 1: M con identificación con la nueva entidad.</a:t>
            </a:r>
          </a:p>
          <a:p>
            <a:endParaRPr lang="es-ES" dirty="0"/>
          </a:p>
          <a:p>
            <a:r>
              <a:rPr lang="es-ES"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Ejemplo: La entidad PACIENTE no está en 1FN porque el atributo </a:t>
            </a:r>
            <a:r>
              <a:rPr lang="es-ES" sz="1800" b="0"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fecha_citas</a:t>
            </a:r>
            <a:r>
              <a:rPr lang="es-ES"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 tiene múltiples valores asociados para un paciente. Por lo tanto, se crea una nueva entidad CITA_MEDICA una relación de uno a muchos entre PACIENTE y CITA_MEDICA. La nueva entidad es débil por identificación ya que una misma fecha de cita médica se puede repetir para diferentes pacientes por lo tanto, para identificar en forma única una fecha de cita médica se requiere además el número de la ficha médica del PACIENTE.</a:t>
            </a:r>
            <a:endParaRPr lang="es-ES" b="0"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13</a:t>
            </a:fld>
            <a:endParaRPr lang="es-CL"/>
          </a:p>
        </p:txBody>
      </p:sp>
    </p:spTree>
    <p:extLst>
      <p:ext uri="{BB962C8B-B14F-4D97-AF65-F5344CB8AC3E}">
        <p14:creationId xmlns:p14="http://schemas.microsoft.com/office/powerpoint/2010/main" val="3087134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14</a:t>
            </a:fld>
            <a:endParaRPr lang="es-CL"/>
          </a:p>
        </p:txBody>
      </p:sp>
    </p:spTree>
    <p:extLst>
      <p:ext uri="{BB962C8B-B14F-4D97-AF65-F5344CB8AC3E}">
        <p14:creationId xmlns:p14="http://schemas.microsoft.com/office/powerpoint/2010/main" val="839280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l" eaLnBrk="1" hangingPunct="1">
              <a:spcBef>
                <a:spcPct val="0"/>
              </a:spcBef>
            </a:pPr>
            <a:r>
              <a:rPr lang="es-ES" b="1" dirty="0"/>
              <a:t>Segunda Forma Normal (2FN)</a:t>
            </a:r>
          </a:p>
          <a:p>
            <a:pPr marL="609600" indent="-609600" algn="l" eaLnBrk="1" hangingPunct="1">
              <a:spcBef>
                <a:spcPct val="0"/>
              </a:spcBef>
            </a:pPr>
            <a:r>
              <a:rPr lang="es-ES" dirty="0"/>
              <a:t>Una entidad está en 2FN si está en 1FN y además se han eliminado las dependencias parciales entre sus atributos. Una dependencia parcial se da</a:t>
            </a:r>
          </a:p>
          <a:p>
            <a:pPr marL="609600" indent="-609600" algn="l" eaLnBrk="1" hangingPunct="1">
              <a:spcBef>
                <a:spcPct val="0"/>
              </a:spcBef>
            </a:pPr>
            <a:r>
              <a:rPr lang="es-ES" dirty="0"/>
              <a:t>cuando uno o más atributos que no son atributo identificador (clave) depende sólo de parte del atributo clave.</a:t>
            </a:r>
          </a:p>
          <a:p>
            <a:pPr marL="609600" indent="-609600" algn="l" eaLnBrk="1" hangingPunct="1">
              <a:spcBef>
                <a:spcPct val="0"/>
              </a:spcBef>
            </a:pPr>
            <a:r>
              <a:rPr lang="es-ES" dirty="0"/>
              <a:t>En una entidad en 2FN </a:t>
            </a:r>
            <a:r>
              <a:rPr lang="es-ES" b="1" dirty="0"/>
              <a:t>todo atributo debe depender completamente del Identificador Único de la entidad a la que pertenece</a:t>
            </a:r>
            <a:r>
              <a:rPr lang="es-ES" dirty="0"/>
              <a:t>. Para validar que</a:t>
            </a:r>
          </a:p>
          <a:p>
            <a:pPr marL="609600" indent="-609600" algn="l" eaLnBrk="1" hangingPunct="1">
              <a:spcBef>
                <a:spcPct val="0"/>
              </a:spcBef>
            </a:pPr>
            <a:r>
              <a:rPr lang="es-ES" dirty="0"/>
              <a:t>la entidad cumple con la 2FN, se debe verificar que cada identificador único determine una sola ocurrencia para cada atributo.</a:t>
            </a:r>
          </a:p>
          <a:p>
            <a:pPr marL="609600" indent="-609600" algn="l" eaLnBrk="1" hangingPunct="1">
              <a:spcBef>
                <a:spcPct val="0"/>
              </a:spcBef>
            </a:pPr>
            <a:r>
              <a:rPr lang="es-ES" dirty="0"/>
              <a:t>Se debe asegurar que un atributo NO dependa solo de una parte del Identificador Único de la entidad.</a:t>
            </a:r>
          </a:p>
          <a:p>
            <a:pPr marL="609600" indent="-609600" algn="l" eaLnBrk="1" hangingPunct="1">
              <a:spcBef>
                <a:spcPct val="0"/>
              </a:spcBef>
            </a:pPr>
            <a:endParaRPr lang="es-ES" dirty="0"/>
          </a:p>
          <a:p>
            <a:pPr marL="609600" indent="-609600" algn="l" eaLnBrk="1" hangingPunct="1">
              <a:spcBef>
                <a:spcPct val="0"/>
              </a:spcBef>
            </a:pPr>
            <a:r>
              <a:rPr lang="es-ES" dirty="0"/>
              <a:t>En el ejemplo, el valor que se guardará en el atributo cargo no depende del </a:t>
            </a:r>
            <a:r>
              <a:rPr lang="es-ES" b="1" dirty="0"/>
              <a:t>EMPLEADO</a:t>
            </a:r>
            <a:r>
              <a:rPr lang="es-ES" dirty="0"/>
              <a:t> sino que depende del código del puesto en particular. Por</a:t>
            </a:r>
          </a:p>
          <a:p>
            <a:pPr marL="609600" indent="-609600" algn="l" eaLnBrk="1" hangingPunct="1">
              <a:spcBef>
                <a:spcPct val="0"/>
              </a:spcBef>
            </a:pPr>
            <a:r>
              <a:rPr lang="es-ES" dirty="0"/>
              <a:t>lo tanto se crea una nueva entidad </a:t>
            </a:r>
            <a:r>
              <a:rPr lang="es-ES" b="1" dirty="0"/>
              <a:t>CARGO </a:t>
            </a:r>
            <a:r>
              <a:rPr lang="es-ES" dirty="0"/>
              <a:t>con los atributos correspondientes.</a:t>
            </a:r>
            <a:endParaRPr lang="es-CL" b="0"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15</a:t>
            </a:fld>
            <a:endParaRPr lang="es-CL"/>
          </a:p>
        </p:txBody>
      </p:sp>
    </p:spTree>
    <p:extLst>
      <p:ext uri="{BB962C8B-B14F-4D97-AF65-F5344CB8AC3E}">
        <p14:creationId xmlns:p14="http://schemas.microsoft.com/office/powerpoint/2010/main" val="4184106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spcBef>
                <a:spcPct val="0"/>
              </a:spcBef>
            </a:pPr>
            <a:endParaRPr lang="es-CL" sz="1200" b="1" dirty="0">
              <a:latin typeface="Times New Roman" pitchFamily="18" charset="0"/>
              <a:cs typeface="Times New Roman" pitchFamily="18"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16</a:t>
            </a:fld>
            <a:endParaRPr lang="es-CL"/>
          </a:p>
        </p:txBody>
      </p:sp>
    </p:spTree>
    <p:extLst>
      <p:ext uri="{BB962C8B-B14F-4D97-AF65-F5344CB8AC3E}">
        <p14:creationId xmlns:p14="http://schemas.microsoft.com/office/powerpoint/2010/main" val="2734221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Tercera Forma Normal (3FN)</a:t>
            </a:r>
          </a:p>
          <a:p>
            <a:r>
              <a:rPr lang="es-ES" dirty="0"/>
              <a:t>Una entidad está en 3FN, si está en 2FN y no contiene dependencias transitivas, es decir, cada atributo no identificador no depende de otros atributos no identificadores. La regla de la 3FN es que ningún atributo que no sea Identificador Único puede depender de otro que tampoco sea Identificador Único.</a:t>
            </a:r>
          </a:p>
          <a:p>
            <a:r>
              <a:rPr lang="es-ES" dirty="0"/>
              <a:t>En el ejemplo, el atributo </a:t>
            </a:r>
            <a:r>
              <a:rPr lang="es-ES" b="1" dirty="0" err="1"/>
              <a:t>nombre_editorial</a:t>
            </a:r>
            <a:r>
              <a:rPr lang="es-ES" dirty="0"/>
              <a:t> depende de otro atributo que no es identificador único de la entidad </a:t>
            </a:r>
            <a:r>
              <a:rPr lang="es-ES" b="1" dirty="0"/>
              <a:t>REVISTA</a:t>
            </a:r>
            <a:r>
              <a:rPr lang="es-ES" dirty="0"/>
              <a:t>, en este caso depende del </a:t>
            </a:r>
            <a:r>
              <a:rPr lang="es-ES" b="1" dirty="0" err="1"/>
              <a:t>codigo_editorial</a:t>
            </a:r>
            <a:r>
              <a:rPr lang="es-ES" b="1" dirty="0"/>
              <a:t>, </a:t>
            </a:r>
            <a:r>
              <a:rPr lang="es-ES" b="0" dirty="0"/>
              <a:t>p</a:t>
            </a:r>
            <a:r>
              <a:rPr lang="es-ES" dirty="0"/>
              <a:t>or lo tanto, se crea una nueva entidad </a:t>
            </a:r>
            <a:r>
              <a:rPr lang="es-ES" b="1" dirty="0"/>
              <a:t>EDITORIAL</a:t>
            </a:r>
            <a:r>
              <a:rPr lang="es-ES" dirty="0"/>
              <a:t> y se reubican los atributos.</a:t>
            </a:r>
          </a:p>
        </p:txBody>
      </p:sp>
      <p:sp>
        <p:nvSpPr>
          <p:cNvPr id="4" name="Marcador de número de diapositiva 3"/>
          <p:cNvSpPr>
            <a:spLocks noGrp="1"/>
          </p:cNvSpPr>
          <p:nvPr>
            <p:ph type="sldNum" sz="quarter" idx="5"/>
          </p:nvPr>
        </p:nvSpPr>
        <p:spPr/>
        <p:txBody>
          <a:bodyPr/>
          <a:lstStyle/>
          <a:p>
            <a:fld id="{35C2C890-E6DE-1A45-98C6-E722FA6368DA}" type="slidenum">
              <a:rPr lang="es-CL" smtClean="0"/>
              <a:t>17</a:t>
            </a:fld>
            <a:endParaRPr lang="es-CL"/>
          </a:p>
        </p:txBody>
      </p:sp>
    </p:spTree>
    <p:extLst>
      <p:ext uri="{BB962C8B-B14F-4D97-AF65-F5344CB8AC3E}">
        <p14:creationId xmlns:p14="http://schemas.microsoft.com/office/powerpoint/2010/main" val="84156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18</a:t>
            </a:fld>
            <a:endParaRPr lang="es-CL"/>
          </a:p>
        </p:txBody>
      </p:sp>
    </p:spTree>
    <p:extLst>
      <p:ext uri="{BB962C8B-B14F-4D97-AF65-F5344CB8AC3E}">
        <p14:creationId xmlns:p14="http://schemas.microsoft.com/office/powerpoint/2010/main" val="628527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spcBef>
                <a:spcPct val="0"/>
              </a:spcBef>
            </a:pPr>
            <a:r>
              <a:rPr lang="es-ES" sz="1200" b="1" dirty="0">
                <a:latin typeface="Times New Roman" pitchFamily="18" charset="0"/>
              </a:rPr>
              <a:t>PASO 1.- Definir una Entidad Inicial</a:t>
            </a:r>
          </a:p>
          <a:p>
            <a:pPr eaLnBrk="1" hangingPunct="1">
              <a:spcBef>
                <a:spcPct val="0"/>
              </a:spcBef>
            </a:pPr>
            <a:r>
              <a:rPr lang="es-ES" sz="1200" dirty="0">
                <a:latin typeface="Times New Roman" pitchFamily="18" charset="0"/>
              </a:rPr>
              <a:t>Primero es definir una entidad genérica que contenga todos los atributos necesarios para la información que se necesita registrar en la base de datos a partir de la Vista de Usuario que en este caso es una </a:t>
            </a:r>
            <a:r>
              <a:rPr lang="es-ES" sz="1200" b="1" dirty="0">
                <a:latin typeface="Times New Roman" pitchFamily="18" charset="0"/>
              </a:rPr>
              <a:t>BOLETA_ELECTRONICA</a:t>
            </a:r>
            <a:r>
              <a:rPr lang="es-ES" sz="1200" dirty="0">
                <a:latin typeface="Times New Roman" pitchFamily="18" charset="0"/>
              </a:rPr>
              <a:t>.</a:t>
            </a:r>
          </a:p>
          <a:p>
            <a:pPr eaLnBrk="1" hangingPunct="1">
              <a:spcBef>
                <a:spcPct val="0"/>
              </a:spcBef>
            </a:pPr>
            <a:r>
              <a:rPr lang="es-CL" sz="1200" dirty="0">
                <a:latin typeface="Times New Roman" pitchFamily="18" charset="0"/>
              </a:rPr>
              <a:t>En el ejemplo, los atributos </a:t>
            </a:r>
            <a:r>
              <a:rPr lang="es-CL" sz="1200" b="1" dirty="0" err="1">
                <a:latin typeface="Times New Roman" pitchFamily="18" charset="0"/>
              </a:rPr>
              <a:t>monto_neto</a:t>
            </a:r>
            <a:r>
              <a:rPr lang="es-CL" sz="1200" b="1" dirty="0">
                <a:latin typeface="Times New Roman" pitchFamily="18" charset="0"/>
              </a:rPr>
              <a:t>, IVA y </a:t>
            </a:r>
            <a:r>
              <a:rPr lang="es-CL" sz="1200" b="1" dirty="0" err="1">
                <a:latin typeface="Times New Roman" pitchFamily="18" charset="0"/>
              </a:rPr>
              <a:t>monto_total</a:t>
            </a:r>
            <a:r>
              <a:rPr lang="es-CL" sz="1200" dirty="0">
                <a:latin typeface="Times New Roman" pitchFamily="18" charset="0"/>
              </a:rPr>
              <a:t> son </a:t>
            </a:r>
            <a:r>
              <a:rPr lang="es-CL" sz="1200" b="1" dirty="0">
                <a:latin typeface="Times New Roman" pitchFamily="18" charset="0"/>
              </a:rPr>
              <a:t>ATRIBUTOS DERIVADOS</a:t>
            </a:r>
            <a:r>
              <a:rPr lang="es-CL" sz="1200" dirty="0">
                <a:latin typeface="Times New Roman" pitchFamily="18" charset="0"/>
              </a:rPr>
              <a:t> porque:</a:t>
            </a:r>
          </a:p>
          <a:p>
            <a:pPr eaLnBrk="1" hangingPunct="1">
              <a:spcBef>
                <a:spcPct val="0"/>
              </a:spcBef>
              <a:buFontTx/>
              <a:buChar char="•"/>
            </a:pPr>
            <a:r>
              <a:rPr lang="es-CL" sz="1200" b="1" dirty="0">
                <a:latin typeface="Times New Roman" pitchFamily="18" charset="0"/>
              </a:rPr>
              <a:t> MONTO_NETO:</a:t>
            </a:r>
            <a:r>
              <a:rPr lang="es-CL" sz="1200" dirty="0">
                <a:latin typeface="Times New Roman" pitchFamily="18" charset="0"/>
              </a:rPr>
              <a:t> Se puede obtener sumando los valores de todos los productos comprados.</a:t>
            </a:r>
          </a:p>
          <a:p>
            <a:pPr eaLnBrk="1" hangingPunct="1">
              <a:spcBef>
                <a:spcPct val="0"/>
              </a:spcBef>
              <a:buFontTx/>
              <a:buChar char="•"/>
            </a:pPr>
            <a:r>
              <a:rPr lang="es-CL" sz="1200" b="1" dirty="0">
                <a:latin typeface="Times New Roman" pitchFamily="18" charset="0"/>
              </a:rPr>
              <a:t> IVA:</a:t>
            </a:r>
            <a:r>
              <a:rPr lang="es-CL" sz="1200" dirty="0">
                <a:latin typeface="Times New Roman" pitchFamily="18" charset="0"/>
              </a:rPr>
              <a:t> Se puede calcular a partir de la sumatoria de los valores de los productos comprados y el porcentaje relacionado al IVA.</a:t>
            </a:r>
          </a:p>
          <a:p>
            <a:pPr eaLnBrk="1" hangingPunct="1">
              <a:spcBef>
                <a:spcPct val="0"/>
              </a:spcBef>
              <a:buFontTx/>
              <a:buChar char="•"/>
            </a:pPr>
            <a:r>
              <a:rPr lang="es-CL" sz="1200" b="1" dirty="0">
                <a:latin typeface="Times New Roman" pitchFamily="18" charset="0"/>
              </a:rPr>
              <a:t> MONTO_TOTAL:</a:t>
            </a:r>
            <a:r>
              <a:rPr lang="es-CL" sz="1200" dirty="0">
                <a:latin typeface="Times New Roman" pitchFamily="18" charset="0"/>
              </a:rPr>
              <a:t> Se puede obtener sumado el valor de todos los productos comprados más el valor calculado </a:t>
            </a:r>
            <a:r>
              <a:rPr lang="es-CL" sz="1200" b="1" dirty="0">
                <a:latin typeface="Times New Roman" pitchFamily="18" charset="0"/>
              </a:rPr>
              <a:t>IVA.</a:t>
            </a:r>
            <a:endParaRPr lang="es-CL" sz="1200" dirty="0">
              <a:latin typeface="Times New Roman" pitchFamily="18" charset="0"/>
            </a:endParaRPr>
          </a:p>
          <a:p>
            <a:pPr eaLnBrk="1" hangingPunct="1">
              <a:spcBef>
                <a:spcPct val="0"/>
              </a:spcBef>
            </a:pPr>
            <a:r>
              <a:rPr lang="es-ES" sz="1200" dirty="0"/>
              <a:t>Cuando los valores derivados necesitan ser consultados con frecuencia y los valores sobre los cuales se obtienen cambian con poca frecuencia se opta por mantenerlos como atributos en beneficio de las consultas que se efectuarán posteriormente sobre las tablas. </a:t>
            </a:r>
            <a:r>
              <a:rPr lang="es-CL" sz="1200" dirty="0"/>
              <a:t>Es por esta razón que en el ejemplo estos atributos se mantienen.</a:t>
            </a:r>
          </a:p>
        </p:txBody>
      </p:sp>
      <p:sp>
        <p:nvSpPr>
          <p:cNvPr id="4" name="Marcador de número de diapositiva 3"/>
          <p:cNvSpPr>
            <a:spLocks noGrp="1"/>
          </p:cNvSpPr>
          <p:nvPr>
            <p:ph type="sldNum" sz="quarter" idx="5"/>
          </p:nvPr>
        </p:nvSpPr>
        <p:spPr/>
        <p:txBody>
          <a:bodyPr/>
          <a:lstStyle/>
          <a:p>
            <a:fld id="{35C2C890-E6DE-1A45-98C6-E722FA6368DA}" type="slidenum">
              <a:rPr lang="es-CL" smtClean="0"/>
              <a:t>20</a:t>
            </a:fld>
            <a:endParaRPr lang="es-CL"/>
          </a:p>
        </p:txBody>
      </p:sp>
    </p:spTree>
    <p:extLst>
      <p:ext uri="{BB962C8B-B14F-4D97-AF65-F5344CB8AC3E}">
        <p14:creationId xmlns:p14="http://schemas.microsoft.com/office/powerpoint/2010/main" val="1893038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lnSpc>
                <a:spcPct val="80000"/>
              </a:lnSpc>
              <a:spcBef>
                <a:spcPct val="0"/>
              </a:spcBef>
            </a:pPr>
            <a:r>
              <a:rPr lang="es-ES" sz="1200" b="1" dirty="0">
                <a:latin typeface="Times New Roman" pitchFamily="18" charset="0"/>
              </a:rPr>
              <a:t>PASO 2.- Aplicar Primera Forma Normal – 1FN</a:t>
            </a:r>
          </a:p>
          <a:p>
            <a:pPr marL="609600" indent="-609600" algn="just" eaLnBrk="1" hangingPunct="1">
              <a:lnSpc>
                <a:spcPct val="80000"/>
              </a:lnSpc>
              <a:spcBef>
                <a:spcPct val="0"/>
              </a:spcBef>
            </a:pPr>
            <a:r>
              <a:rPr lang="es-ES" sz="1200" dirty="0">
                <a:latin typeface="Times New Roman" pitchFamily="18" charset="0"/>
              </a:rPr>
              <a:t>Creada la entidad genérica </a:t>
            </a:r>
            <a:r>
              <a:rPr lang="es-ES" sz="1200" b="1" dirty="0">
                <a:latin typeface="Times New Roman" pitchFamily="18" charset="0"/>
              </a:rPr>
              <a:t>BOLETA_ELECTRONICA</a:t>
            </a:r>
            <a:r>
              <a:rPr lang="es-ES" sz="1200" dirty="0">
                <a:latin typeface="Times New Roman" pitchFamily="18" charset="0"/>
              </a:rPr>
              <a:t> se debe ver si se encuentra en </a:t>
            </a:r>
            <a:r>
              <a:rPr lang="es-ES" sz="1200" b="1" dirty="0">
                <a:latin typeface="Times New Roman" pitchFamily="18" charset="0"/>
              </a:rPr>
              <a:t>Primera Forma Normal</a:t>
            </a:r>
            <a:r>
              <a:rPr lang="es-ES" sz="1200" dirty="0">
                <a:latin typeface="Times New Roman" pitchFamily="18" charset="0"/>
              </a:rPr>
              <a:t> (1FN). En este caso claramente la entidad</a:t>
            </a:r>
          </a:p>
          <a:p>
            <a:pPr marL="609600" indent="-609600" algn="just" eaLnBrk="1" hangingPunct="1">
              <a:lnSpc>
                <a:spcPct val="80000"/>
              </a:lnSpc>
              <a:spcBef>
                <a:spcPct val="0"/>
              </a:spcBef>
            </a:pPr>
            <a:r>
              <a:rPr lang="es-ES" sz="1200" dirty="0">
                <a:latin typeface="Times New Roman" pitchFamily="18" charset="0"/>
              </a:rPr>
              <a:t>no está en 1FN ya que existe un grupo de atributos que pueden tener múltiples valores para una misma instancia </a:t>
            </a:r>
            <a:r>
              <a:rPr lang="es-ES" sz="1200" b="1" dirty="0">
                <a:latin typeface="Times New Roman" pitchFamily="18" charset="0"/>
              </a:rPr>
              <a:t>BOLETA_ELECTRONICA</a:t>
            </a:r>
            <a:r>
              <a:rPr lang="es-ES" sz="1200" dirty="0">
                <a:latin typeface="Times New Roman" pitchFamily="18" charset="0"/>
              </a:rPr>
              <a:t>. Por lo</a:t>
            </a:r>
          </a:p>
          <a:p>
            <a:pPr marL="609600" indent="-609600" algn="just" eaLnBrk="1" hangingPunct="1">
              <a:lnSpc>
                <a:spcPct val="80000"/>
              </a:lnSpc>
              <a:spcBef>
                <a:spcPct val="0"/>
              </a:spcBef>
            </a:pPr>
            <a:r>
              <a:rPr lang="es-ES" sz="1200" dirty="0">
                <a:latin typeface="Times New Roman" pitchFamily="18" charset="0"/>
              </a:rPr>
              <a:t>tanto, con esos atributos que pueden tener múltiples valores para una misma </a:t>
            </a:r>
            <a:r>
              <a:rPr lang="es-ES" sz="1200" b="1" dirty="0">
                <a:latin typeface="Times New Roman" pitchFamily="18" charset="0"/>
              </a:rPr>
              <a:t>BOLETA_ELECTRONICA</a:t>
            </a:r>
            <a:r>
              <a:rPr lang="es-ES" sz="1200" dirty="0">
                <a:latin typeface="Times New Roman" pitchFamily="18" charset="0"/>
              </a:rPr>
              <a:t> se debe crear una nueva entidad</a:t>
            </a:r>
          </a:p>
          <a:p>
            <a:pPr marL="609600" indent="-609600" algn="just" eaLnBrk="1" hangingPunct="1">
              <a:lnSpc>
                <a:spcPct val="80000"/>
              </a:lnSpc>
              <a:spcBef>
                <a:spcPct val="0"/>
              </a:spcBef>
            </a:pPr>
            <a:r>
              <a:rPr lang="es-ES" sz="1200" b="1" dirty="0">
                <a:latin typeface="Times New Roman" pitchFamily="18" charset="0"/>
              </a:rPr>
              <a:t>DETALLE_BOLETA </a:t>
            </a:r>
            <a:r>
              <a:rPr lang="es-ES" sz="1200" dirty="0">
                <a:latin typeface="Times New Roman" pitchFamily="18" charset="0"/>
              </a:rPr>
              <a:t>y esos atributos se eliminan de la entidad original.</a:t>
            </a:r>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21</a:t>
            </a:fld>
            <a:endParaRPr lang="es-CL"/>
          </a:p>
        </p:txBody>
      </p:sp>
    </p:spTree>
    <p:extLst>
      <p:ext uri="{BB962C8B-B14F-4D97-AF65-F5344CB8AC3E}">
        <p14:creationId xmlns:p14="http://schemas.microsoft.com/office/powerpoint/2010/main" val="1697353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lnSpc>
                <a:spcPct val="80000"/>
              </a:lnSpc>
              <a:spcBef>
                <a:spcPct val="0"/>
              </a:spcBef>
            </a:pPr>
            <a:r>
              <a:rPr lang="es-ES" sz="1200" b="1" dirty="0">
                <a:latin typeface="Times New Roman" pitchFamily="18" charset="0"/>
              </a:rPr>
              <a:t>PASO 3.- Aplicar Segunda Forma Normal – 2FN</a:t>
            </a:r>
          </a:p>
          <a:p>
            <a:pPr marL="609600" indent="-609600" algn="just" eaLnBrk="1" hangingPunct="1">
              <a:lnSpc>
                <a:spcPct val="80000"/>
              </a:lnSpc>
              <a:spcBef>
                <a:spcPct val="0"/>
              </a:spcBef>
            </a:pPr>
            <a:r>
              <a:rPr lang="es-ES" sz="1200" dirty="0">
                <a:latin typeface="Times New Roman" pitchFamily="18" charset="0"/>
              </a:rPr>
              <a:t>Se debe crear una nueva entidad </a:t>
            </a:r>
            <a:r>
              <a:rPr lang="es-ES" sz="1200" b="1" dirty="0">
                <a:latin typeface="Times New Roman" pitchFamily="18" charset="0"/>
              </a:rPr>
              <a:t>ARTICULO</a:t>
            </a:r>
            <a:r>
              <a:rPr lang="es-ES" sz="1200" dirty="0">
                <a:latin typeface="Times New Roman" pitchFamily="18" charset="0"/>
              </a:rPr>
              <a:t> con los atributos que dependen completamente del atributo identificador único </a:t>
            </a:r>
            <a:r>
              <a:rPr lang="es-ES" sz="1200" b="1" dirty="0" err="1">
                <a:latin typeface="Times New Roman" pitchFamily="18" charset="0"/>
              </a:rPr>
              <a:t>codigo_articulo</a:t>
            </a:r>
            <a:r>
              <a:rPr lang="es-ES" sz="1200" dirty="0">
                <a:latin typeface="Times New Roman" pitchFamily="18" charset="0"/>
              </a:rPr>
              <a:t>.</a:t>
            </a:r>
            <a:endParaRPr lang="es-CL" dirty="0"/>
          </a:p>
        </p:txBody>
      </p:sp>
      <p:sp>
        <p:nvSpPr>
          <p:cNvPr id="4" name="Marcador de número de diapositiva 3"/>
          <p:cNvSpPr>
            <a:spLocks noGrp="1"/>
          </p:cNvSpPr>
          <p:nvPr>
            <p:ph type="sldNum" sz="quarter" idx="5"/>
          </p:nvPr>
        </p:nvSpPr>
        <p:spPr/>
        <p:txBody>
          <a:bodyPr/>
          <a:lstStyle/>
          <a:p>
            <a:fld id="{35C2C890-E6DE-1A45-98C6-E722FA6368DA}" type="slidenum">
              <a:rPr lang="es-CL" smtClean="0"/>
              <a:t>22</a:t>
            </a:fld>
            <a:endParaRPr lang="es-CL"/>
          </a:p>
        </p:txBody>
      </p:sp>
    </p:spTree>
    <p:extLst>
      <p:ext uri="{BB962C8B-B14F-4D97-AF65-F5344CB8AC3E}">
        <p14:creationId xmlns:p14="http://schemas.microsoft.com/office/powerpoint/2010/main" val="2247092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609600" indent="-609600" algn="just" eaLnBrk="1" hangingPunct="1">
              <a:lnSpc>
                <a:spcPct val="80000"/>
              </a:lnSpc>
              <a:spcBef>
                <a:spcPct val="0"/>
              </a:spcBef>
            </a:pPr>
            <a:r>
              <a:rPr lang="es-ES" sz="1200" b="1" dirty="0">
                <a:latin typeface="Times New Roman" pitchFamily="18" charset="0"/>
              </a:rPr>
              <a:t>PASO 4.- Aplicar Tercera Forma Normal – 3FN</a:t>
            </a:r>
          </a:p>
          <a:p>
            <a:pPr eaLnBrk="1" hangingPunct="1">
              <a:spcBef>
                <a:spcPct val="0"/>
              </a:spcBef>
            </a:pPr>
            <a:r>
              <a:rPr lang="es-ES" sz="1200" dirty="0">
                <a:latin typeface="Times New Roman" pitchFamily="18" charset="0"/>
              </a:rPr>
              <a:t>Se debe crear, con esos atributos, las entidades </a:t>
            </a:r>
            <a:r>
              <a:rPr lang="es-ES" sz="1200" b="1" dirty="0">
                <a:latin typeface="Times New Roman" pitchFamily="18" charset="0"/>
              </a:rPr>
              <a:t>VENDEDOR</a:t>
            </a:r>
            <a:r>
              <a:rPr lang="es-ES" sz="1200" dirty="0">
                <a:latin typeface="Times New Roman" pitchFamily="18" charset="0"/>
              </a:rPr>
              <a:t> y </a:t>
            </a:r>
            <a:r>
              <a:rPr lang="es-ES" sz="1200" b="1" dirty="0">
                <a:latin typeface="Times New Roman" pitchFamily="18" charset="0"/>
              </a:rPr>
              <a:t>ORDEN_COMPRA </a:t>
            </a:r>
            <a:r>
              <a:rPr lang="es-ES" sz="1200" b="0" dirty="0">
                <a:latin typeface="Times New Roman" pitchFamily="18" charset="0"/>
              </a:rPr>
              <a:t>y </a:t>
            </a:r>
            <a:r>
              <a:rPr lang="es-ES" sz="1200" dirty="0">
                <a:latin typeface="Times New Roman" pitchFamily="18" charset="0"/>
              </a:rPr>
              <a:t>se eliminan de la entidad </a:t>
            </a:r>
            <a:r>
              <a:rPr lang="es-ES" sz="1200" b="1" dirty="0">
                <a:latin typeface="Times New Roman" pitchFamily="18" charset="0"/>
              </a:rPr>
              <a:t>BOLETA_ELECTRONICA</a:t>
            </a:r>
            <a:r>
              <a:rPr lang="es-ES" sz="1200" dirty="0">
                <a:latin typeface="Times New Roman" pitchFamily="18" charset="0"/>
              </a:rPr>
              <a:t>.</a:t>
            </a:r>
            <a:endParaRPr lang="es-CL" sz="1200" dirty="0">
              <a:latin typeface="Times New Roman" pitchFamily="18" charset="0"/>
            </a:endParaRPr>
          </a:p>
        </p:txBody>
      </p:sp>
      <p:sp>
        <p:nvSpPr>
          <p:cNvPr id="4" name="Marcador de número de diapositiva 3"/>
          <p:cNvSpPr>
            <a:spLocks noGrp="1"/>
          </p:cNvSpPr>
          <p:nvPr>
            <p:ph type="sldNum" sz="quarter" idx="5"/>
          </p:nvPr>
        </p:nvSpPr>
        <p:spPr/>
        <p:txBody>
          <a:bodyPr/>
          <a:lstStyle/>
          <a:p>
            <a:fld id="{35C2C890-E6DE-1A45-98C6-E722FA6368DA}" type="slidenum">
              <a:rPr lang="es-CL" smtClean="0"/>
              <a:t>23</a:t>
            </a:fld>
            <a:endParaRPr lang="es-CL"/>
          </a:p>
        </p:txBody>
      </p:sp>
    </p:spTree>
    <p:extLst>
      <p:ext uri="{BB962C8B-B14F-4D97-AF65-F5344CB8AC3E}">
        <p14:creationId xmlns:p14="http://schemas.microsoft.com/office/powerpoint/2010/main" val="37348082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9F4E23B3-D17D-BBDA-CF94-0F577C2DCC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sp>
        <p:nvSpPr>
          <p:cNvPr id="2" name="Holder 2"/>
          <p:cNvSpPr>
            <a:spLocks noGrp="1"/>
          </p:cNvSpPr>
          <p:nvPr>
            <p:ph type="ctrTitle"/>
          </p:nvPr>
        </p:nvSpPr>
        <p:spPr>
          <a:xfrm>
            <a:off x="2838209" y="8700548"/>
            <a:ext cx="6781800" cy="584775"/>
          </a:xfrm>
          <a:prstGeom prst="rect">
            <a:avLst/>
          </a:prstGeom>
        </p:spPr>
        <p:txBody>
          <a:bodyPr wrap="square" lIns="0" tIns="0" rIns="0" bIns="0">
            <a:spAutoFit/>
          </a:bodyPr>
          <a:lstStyle>
            <a:lvl1pPr>
              <a:defRPr sz="3800">
                <a:solidFill>
                  <a:schemeClr val="bg1"/>
                </a:solidFill>
              </a:defRPr>
            </a:lvl1pPr>
          </a:lstStyle>
          <a:p>
            <a:endParaRPr dirty="0"/>
          </a:p>
        </p:txBody>
      </p:sp>
      <p:sp>
        <p:nvSpPr>
          <p:cNvPr id="3" name="Holder 3"/>
          <p:cNvSpPr>
            <a:spLocks noGrp="1"/>
          </p:cNvSpPr>
          <p:nvPr>
            <p:ph type="subTitle" idx="4"/>
          </p:nvPr>
        </p:nvSpPr>
        <p:spPr>
          <a:xfrm>
            <a:off x="2838209" y="9612314"/>
            <a:ext cx="8712681" cy="369332"/>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dirty="0"/>
          </a:p>
        </p:txBody>
      </p:sp>
      <p:sp>
        <p:nvSpPr>
          <p:cNvPr id="14" name="object 10">
            <a:extLst>
              <a:ext uri="{FF2B5EF4-FFF2-40B4-BE49-F238E27FC236}">
                <a16:creationId xmlns:a16="http://schemas.microsoft.com/office/drawing/2014/main" id="{60E109FA-AB96-844B-8998-73B547E74E45}"/>
              </a:ext>
            </a:extLst>
          </p:cNvPr>
          <p:cNvSpPr/>
          <p:nvPr userDrawn="1"/>
        </p:nvSpPr>
        <p:spPr>
          <a:xfrm>
            <a:off x="2838209" y="9464675"/>
            <a:ext cx="8841105" cy="0"/>
          </a:xfrm>
          <a:custGeom>
            <a:avLst/>
            <a:gdLst/>
            <a:ahLst/>
            <a:cxnLst/>
            <a:rect l="l" t="t" r="r" b="b"/>
            <a:pathLst>
              <a:path w="8841105">
                <a:moveTo>
                  <a:pt x="0" y="0"/>
                </a:moveTo>
                <a:lnTo>
                  <a:pt x="8840652" y="0"/>
                </a:lnTo>
              </a:path>
            </a:pathLst>
          </a:custGeom>
          <a:ln w="10470">
            <a:solidFill>
              <a:schemeClr val="bg1"/>
            </a:solidFill>
          </a:ln>
        </p:spPr>
        <p:txBody>
          <a:bodyPr wrap="square" lIns="0" tIns="0" rIns="0" bIns="0" rtlCol="0"/>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Diseño personalizado">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1AAB55C-247D-ECE0-5655-F1E1F2AF1A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340"/>
            <a:ext cx="20110047" cy="11306010"/>
          </a:xfrm>
          <a:prstGeom prst="rect">
            <a:avLst/>
          </a:prstGeom>
        </p:spPr>
      </p:pic>
      <p:sp>
        <p:nvSpPr>
          <p:cNvPr id="10" name="Título 1">
            <a:extLst>
              <a:ext uri="{FF2B5EF4-FFF2-40B4-BE49-F238E27FC236}">
                <a16:creationId xmlns:a16="http://schemas.microsoft.com/office/drawing/2014/main" id="{2F0E50CD-FEFD-B21C-4BE3-4F2AA3739A6A}"/>
              </a:ext>
            </a:extLst>
          </p:cNvPr>
          <p:cNvSpPr>
            <a:spLocks noGrp="1"/>
          </p:cNvSpPr>
          <p:nvPr>
            <p:ph type="title"/>
          </p:nvPr>
        </p:nvSpPr>
        <p:spPr>
          <a:xfrm>
            <a:off x="831850" y="7178675"/>
            <a:ext cx="9782022" cy="1538883"/>
          </a:xfrm>
        </p:spPr>
        <p:txBody>
          <a:bodyPr/>
          <a:lstStyle>
            <a:lvl1pPr algn="r">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7461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21D21F6-64EA-9F7E-F1FC-89374B3096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0" name="Título 1">
            <a:extLst>
              <a:ext uri="{FF2B5EF4-FFF2-40B4-BE49-F238E27FC236}">
                <a16:creationId xmlns:a16="http://schemas.microsoft.com/office/drawing/2014/main" id="{994F59E7-28C4-825A-1194-67522AF99C22}"/>
              </a:ext>
            </a:extLst>
          </p:cNvPr>
          <p:cNvSpPr>
            <a:spLocks noGrp="1"/>
          </p:cNvSpPr>
          <p:nvPr>
            <p:ph type="title"/>
          </p:nvPr>
        </p:nvSpPr>
        <p:spPr>
          <a:xfrm>
            <a:off x="6851650" y="7483475"/>
            <a:ext cx="9782022" cy="1538883"/>
          </a:xfrm>
        </p:spPr>
        <p:txBody>
          <a:bodyPr/>
          <a:lstStyle>
            <a:lvl1pPr algn="l">
              <a:defRPr sz="5000"/>
            </a:lvl1pPr>
          </a:lstStyle>
          <a:p>
            <a:r>
              <a:rPr lang="es-ES" dirty="0"/>
              <a:t>Haga clic para modificar el estilo de título del patrón</a:t>
            </a:r>
            <a:endParaRPr lang="es-C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seño personalizado">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87451F99-8CB8-50AA-1CC0-54512CBB6F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9" name="Título 1">
            <a:extLst>
              <a:ext uri="{FF2B5EF4-FFF2-40B4-BE49-F238E27FC236}">
                <a16:creationId xmlns:a16="http://schemas.microsoft.com/office/drawing/2014/main" id="{2C83ACDF-F359-C1DD-3AF9-368B761AA8DB}"/>
              </a:ext>
            </a:extLst>
          </p:cNvPr>
          <p:cNvSpPr>
            <a:spLocks noGrp="1"/>
          </p:cNvSpPr>
          <p:nvPr>
            <p:ph type="title"/>
          </p:nvPr>
        </p:nvSpPr>
        <p:spPr>
          <a:xfrm>
            <a:off x="6623050" y="7026275"/>
            <a:ext cx="9782022" cy="1538883"/>
          </a:xfrm>
        </p:spPr>
        <p:txBody>
          <a:bodyPr/>
          <a:lstStyle>
            <a:lvl1pPr algn="l">
              <a:defRPr sz="5000"/>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234336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2F738965-FD99-AFAE-3CAA-5CEAF99952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11" name="Título 1">
            <a:extLst>
              <a:ext uri="{FF2B5EF4-FFF2-40B4-BE49-F238E27FC236}">
                <a16:creationId xmlns:a16="http://schemas.microsoft.com/office/drawing/2014/main" id="{4AB59064-93F0-56FE-006F-C58F84A825C5}"/>
              </a:ext>
            </a:extLst>
          </p:cNvPr>
          <p:cNvSpPr>
            <a:spLocks noGrp="1"/>
          </p:cNvSpPr>
          <p:nvPr>
            <p:ph type="title"/>
          </p:nvPr>
        </p:nvSpPr>
        <p:spPr>
          <a:xfrm>
            <a:off x="4794250" y="6950075"/>
            <a:ext cx="9782022" cy="1538883"/>
          </a:xfrm>
        </p:spPr>
        <p:txBody>
          <a:bodyPr/>
          <a:lstStyle>
            <a:lvl1pPr algn="r">
              <a:defRPr sz="5000"/>
            </a:lvl1pPr>
          </a:lstStyle>
          <a:p>
            <a:r>
              <a:rPr lang="es-ES" dirty="0"/>
              <a:t>Haga clic para modificar el estilo de título del patrón</a:t>
            </a:r>
            <a:endParaRPr lang="es-C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Diseño personalizado">
    <p:spTree>
      <p:nvGrpSpPr>
        <p:cNvPr id="1" name=""/>
        <p:cNvGrpSpPr/>
        <p:nvPr/>
      </p:nvGrpSpPr>
      <p:grpSpPr>
        <a:xfrm>
          <a:off x="0" y="0"/>
          <a:ext cx="0" cy="0"/>
          <a:chOff x="0" y="0"/>
          <a:chExt cx="0" cy="0"/>
        </a:xfrm>
      </p:grpSpPr>
      <p:pic>
        <p:nvPicPr>
          <p:cNvPr id="22" name="Imagen 21">
            <a:extLst>
              <a:ext uri="{FF2B5EF4-FFF2-40B4-BE49-F238E27FC236}">
                <a16:creationId xmlns:a16="http://schemas.microsoft.com/office/drawing/2014/main" id="{3973E67C-611D-F88A-80C1-185A9B8D41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8" name="Imagen 27">
            <a:extLst>
              <a:ext uri="{FF2B5EF4-FFF2-40B4-BE49-F238E27FC236}">
                <a16:creationId xmlns:a16="http://schemas.microsoft.com/office/drawing/2014/main" id="{3E466965-0C09-5FCB-13FD-111D1D2AD25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9" name="Rectángulo 28">
            <a:extLst>
              <a:ext uri="{FF2B5EF4-FFF2-40B4-BE49-F238E27FC236}">
                <a16:creationId xmlns:a16="http://schemas.microsoft.com/office/drawing/2014/main" id="{98C6A4D7-FDE0-20C5-1EB3-30217CE5E1DC}"/>
              </a:ext>
            </a:extLst>
          </p:cNvPr>
          <p:cNvSpPr/>
          <p:nvPr userDrawn="1"/>
        </p:nvSpPr>
        <p:spPr>
          <a:xfrm>
            <a:off x="4413250" y="42068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30" name="Título 1">
            <a:extLst>
              <a:ext uri="{FF2B5EF4-FFF2-40B4-BE49-F238E27FC236}">
                <a16:creationId xmlns:a16="http://schemas.microsoft.com/office/drawing/2014/main" id="{EE9CC866-5882-3C12-E5D7-404765C18C0C}"/>
              </a:ext>
            </a:extLst>
          </p:cNvPr>
          <p:cNvSpPr>
            <a:spLocks noGrp="1"/>
          </p:cNvSpPr>
          <p:nvPr>
            <p:ph type="title"/>
          </p:nvPr>
        </p:nvSpPr>
        <p:spPr>
          <a:xfrm>
            <a:off x="4842028" y="45340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038586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Diseño personalizado">
    <p:spTree>
      <p:nvGrpSpPr>
        <p:cNvPr id="1" name=""/>
        <p:cNvGrpSpPr/>
        <p:nvPr/>
      </p:nvGrpSpPr>
      <p:grpSpPr>
        <a:xfrm>
          <a:off x="0" y="0"/>
          <a:ext cx="0" cy="0"/>
          <a:chOff x="0" y="0"/>
          <a:chExt cx="0" cy="0"/>
        </a:xfrm>
      </p:grpSpPr>
      <p:pic>
        <p:nvPicPr>
          <p:cNvPr id="21" name="Imagen 20">
            <a:extLst>
              <a:ext uri="{FF2B5EF4-FFF2-40B4-BE49-F238E27FC236}">
                <a16:creationId xmlns:a16="http://schemas.microsoft.com/office/drawing/2014/main" id="{FADFFD87-E732-F006-B065-62B946429B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5FB62982-E03B-E5B0-2921-4742F850F5A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FA473640-6785-830B-E009-5E08A060B6B1}"/>
              </a:ext>
            </a:extLst>
          </p:cNvPr>
          <p:cNvSpPr/>
          <p:nvPr userDrawn="1"/>
        </p:nvSpPr>
        <p:spPr>
          <a:xfrm>
            <a:off x="7232650" y="7880350"/>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B55FBF2B-6203-81C7-B7DD-070ABE20B4BB}"/>
              </a:ext>
            </a:extLst>
          </p:cNvPr>
          <p:cNvSpPr>
            <a:spLocks noGrp="1"/>
          </p:cNvSpPr>
          <p:nvPr>
            <p:ph type="title"/>
          </p:nvPr>
        </p:nvSpPr>
        <p:spPr>
          <a:xfrm>
            <a:off x="7661428" y="8207476"/>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711097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38F75-3EE0-1345-84D2-95B57EB1A45B}"/>
              </a:ext>
            </a:extLst>
          </p:cNvPr>
          <p:cNvSpPr>
            <a:spLocks noGrp="1"/>
          </p:cNvSpPr>
          <p:nvPr>
            <p:ph type="title"/>
          </p:nvPr>
        </p:nvSpPr>
        <p:spPr>
          <a:xfrm>
            <a:off x="2432050" y="714594"/>
            <a:ext cx="16988263" cy="738664"/>
          </a:xfrm>
        </p:spPr>
        <p:txBody>
          <a:bodyPr/>
          <a:lstStyle>
            <a:lvl1pPr>
              <a:defRPr sz="4800"/>
            </a:lvl1pPr>
          </a:lstStyle>
          <a:p>
            <a:r>
              <a:rPr lang="es-ES" dirty="0"/>
              <a:t>Haga clic para modificar el estilo de título del patrón</a:t>
            </a:r>
            <a:endParaRPr lang="es-CL" dirty="0"/>
          </a:p>
        </p:txBody>
      </p:sp>
      <p:sp>
        <p:nvSpPr>
          <p:cNvPr id="6" name="object 7">
            <a:extLst>
              <a:ext uri="{FF2B5EF4-FFF2-40B4-BE49-F238E27FC236}">
                <a16:creationId xmlns:a16="http://schemas.microsoft.com/office/drawing/2014/main" id="{14BF04F1-8F4E-3E46-A3B2-80F47EADF391}"/>
              </a:ext>
            </a:extLst>
          </p:cNvPr>
          <p:cNvSpPr/>
          <p:nvPr userDrawn="1"/>
        </p:nvSpPr>
        <p:spPr>
          <a:xfrm>
            <a:off x="-6350"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7" name="object 3">
            <a:extLst>
              <a:ext uri="{FF2B5EF4-FFF2-40B4-BE49-F238E27FC236}">
                <a16:creationId xmlns:a16="http://schemas.microsoft.com/office/drawing/2014/main" id="{7932DF43-D838-5B47-A92B-B88C568B4A19}"/>
              </a:ext>
            </a:extLst>
          </p:cNvPr>
          <p:cNvSpPr/>
          <p:nvPr userDrawn="1"/>
        </p:nvSpPr>
        <p:spPr>
          <a:xfrm>
            <a:off x="16938421" y="10202309"/>
            <a:ext cx="1576070" cy="511175"/>
          </a:xfrm>
          <a:custGeom>
            <a:avLst/>
            <a:gdLst/>
            <a:ahLst/>
            <a:cxnLst/>
            <a:rect l="l" t="t" r="r" b="b"/>
            <a:pathLst>
              <a:path w="1576069"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8" name="object 4">
            <a:extLst>
              <a:ext uri="{FF2B5EF4-FFF2-40B4-BE49-F238E27FC236}">
                <a16:creationId xmlns:a16="http://schemas.microsoft.com/office/drawing/2014/main" id="{9DEB8F4A-6C01-284B-B123-A27D152597CD}"/>
              </a:ext>
            </a:extLst>
          </p:cNvPr>
          <p:cNvSpPr/>
          <p:nvPr userDrawn="1"/>
        </p:nvSpPr>
        <p:spPr>
          <a:xfrm>
            <a:off x="18623540" y="10245307"/>
            <a:ext cx="378460" cy="469900"/>
          </a:xfrm>
          <a:custGeom>
            <a:avLst/>
            <a:gdLst/>
            <a:ahLst/>
            <a:cxnLst/>
            <a:rect l="l" t="t" r="r" b="b"/>
            <a:pathLst>
              <a:path w="378459"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9" name="object 5">
            <a:extLst>
              <a:ext uri="{FF2B5EF4-FFF2-40B4-BE49-F238E27FC236}">
                <a16:creationId xmlns:a16="http://schemas.microsoft.com/office/drawing/2014/main" id="{50440F77-9AF6-2142-A93F-4B5F6DDBD871}"/>
              </a:ext>
            </a:extLst>
          </p:cNvPr>
          <p:cNvGrpSpPr/>
          <p:nvPr userDrawn="1"/>
        </p:nvGrpSpPr>
        <p:grpSpPr>
          <a:xfrm>
            <a:off x="19053919" y="10117702"/>
            <a:ext cx="427355" cy="597535"/>
            <a:chOff x="19053919" y="10117702"/>
            <a:chExt cx="427355" cy="597535"/>
          </a:xfrm>
        </p:grpSpPr>
        <p:sp>
          <p:nvSpPr>
            <p:cNvPr id="10" name="object 6">
              <a:extLst>
                <a:ext uri="{FF2B5EF4-FFF2-40B4-BE49-F238E27FC236}">
                  <a16:creationId xmlns:a16="http://schemas.microsoft.com/office/drawing/2014/main" id="{B5FF8718-DC05-C046-A01E-6155D9ABE0D5}"/>
                </a:ext>
              </a:extLst>
            </p:cNvPr>
            <p:cNvSpPr/>
            <p:nvPr/>
          </p:nvSpPr>
          <p:spPr>
            <a:xfrm>
              <a:off x="19053919"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1" name="object 7">
              <a:extLst>
                <a:ext uri="{FF2B5EF4-FFF2-40B4-BE49-F238E27FC236}">
                  <a16:creationId xmlns:a16="http://schemas.microsoft.com/office/drawing/2014/main" id="{680319A8-C88C-E845-B967-74CD5DD4CA96}"/>
                </a:ext>
              </a:extLst>
            </p:cNvPr>
            <p:cNvPicPr/>
            <p:nvPr/>
          </p:nvPicPr>
          <p:blipFill>
            <a:blip r:embed="rId2" cstate="email">
              <a:extLst>
                <a:ext uri="{28A0092B-C50C-407E-A947-70E740481C1C}">
                  <a14:useLocalDpi xmlns:a14="http://schemas.microsoft.com/office/drawing/2010/main"/>
                </a:ext>
              </a:extLst>
            </a:blip>
            <a:stretch>
              <a:fillRect/>
            </a:stretch>
          </p:blipFill>
          <p:spPr>
            <a:xfrm>
              <a:off x="19368634" y="10117702"/>
              <a:ext cx="112300" cy="112268"/>
            </a:xfrm>
            <a:prstGeom prst="rect">
              <a:avLst/>
            </a:prstGeom>
          </p:spPr>
        </p:pic>
      </p:grpSp>
    </p:spTree>
    <p:extLst>
      <p:ext uri="{BB962C8B-B14F-4D97-AF65-F5344CB8AC3E}">
        <p14:creationId xmlns:p14="http://schemas.microsoft.com/office/powerpoint/2010/main" val="2391385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248CA032-B7CF-AC47-80C3-3DC0FECADE87}"/>
              </a:ext>
            </a:extLst>
          </p:cNvPr>
          <p:cNvSpPr/>
          <p:nvPr userDrawn="1"/>
        </p:nvSpPr>
        <p:spPr>
          <a:xfrm>
            <a:off x="727227" y="10202309"/>
            <a:ext cx="1576070" cy="511175"/>
          </a:xfrm>
          <a:custGeom>
            <a:avLst/>
            <a:gdLst/>
            <a:ahLst/>
            <a:cxnLst/>
            <a:rect l="l" t="t" r="r" b="b"/>
            <a:pathLst>
              <a:path w="1576070" h="511175">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w="1576070" h="511175">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70" h="511175">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w="1576070" h="511175">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p:spPr>
        <p:txBody>
          <a:bodyPr wrap="square" lIns="0" tIns="0" rIns="0" bIns="0" rtlCol="0"/>
          <a:lstStyle/>
          <a:p>
            <a:endParaRPr/>
          </a:p>
        </p:txBody>
      </p:sp>
      <p:sp>
        <p:nvSpPr>
          <p:cNvPr id="12" name="object 3">
            <a:extLst>
              <a:ext uri="{FF2B5EF4-FFF2-40B4-BE49-F238E27FC236}">
                <a16:creationId xmlns:a16="http://schemas.microsoft.com/office/drawing/2014/main" id="{AB72D184-1BCC-8E4D-AB97-E7C9B55D20C7}"/>
              </a:ext>
            </a:extLst>
          </p:cNvPr>
          <p:cNvSpPr/>
          <p:nvPr userDrawn="1"/>
        </p:nvSpPr>
        <p:spPr>
          <a:xfrm>
            <a:off x="2412348" y="10245307"/>
            <a:ext cx="378460" cy="469900"/>
          </a:xfrm>
          <a:custGeom>
            <a:avLst/>
            <a:gdLst/>
            <a:ahLst/>
            <a:cxnLst/>
            <a:rect l="l" t="t" r="r" b="b"/>
            <a:pathLst>
              <a:path w="378460" h="46990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p:spPr>
        <p:txBody>
          <a:bodyPr wrap="square" lIns="0" tIns="0" rIns="0" bIns="0" rtlCol="0"/>
          <a:lstStyle/>
          <a:p>
            <a:endParaRPr/>
          </a:p>
        </p:txBody>
      </p:sp>
      <p:grpSp>
        <p:nvGrpSpPr>
          <p:cNvPr id="13" name="object 4">
            <a:extLst>
              <a:ext uri="{FF2B5EF4-FFF2-40B4-BE49-F238E27FC236}">
                <a16:creationId xmlns:a16="http://schemas.microsoft.com/office/drawing/2014/main" id="{A2800012-DA06-CF45-A47A-D4B30EA37B75}"/>
              </a:ext>
            </a:extLst>
          </p:cNvPr>
          <p:cNvGrpSpPr/>
          <p:nvPr userDrawn="1"/>
        </p:nvGrpSpPr>
        <p:grpSpPr>
          <a:xfrm>
            <a:off x="2842727" y="10117702"/>
            <a:ext cx="427355" cy="597535"/>
            <a:chOff x="2842727" y="10117702"/>
            <a:chExt cx="427355" cy="597535"/>
          </a:xfrm>
        </p:grpSpPr>
        <p:sp>
          <p:nvSpPr>
            <p:cNvPr id="14" name="object 5">
              <a:extLst>
                <a:ext uri="{FF2B5EF4-FFF2-40B4-BE49-F238E27FC236}">
                  <a16:creationId xmlns:a16="http://schemas.microsoft.com/office/drawing/2014/main" id="{039AC548-D805-B546-AF98-3B421C054969}"/>
                </a:ext>
              </a:extLst>
            </p:cNvPr>
            <p:cNvSpPr/>
            <p:nvPr/>
          </p:nvSpPr>
          <p:spPr>
            <a:xfrm>
              <a:off x="2842727" y="10237764"/>
              <a:ext cx="366395" cy="477520"/>
            </a:xfrm>
            <a:custGeom>
              <a:avLst/>
              <a:gdLst/>
              <a:ahLst/>
              <a:cxnLst/>
              <a:rect l="l" t="t" r="r" b="b"/>
              <a:pathLst>
                <a:path w="366394" h="47752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p:spPr>
          <p:txBody>
            <a:bodyPr wrap="square" lIns="0" tIns="0" rIns="0" bIns="0" rtlCol="0"/>
            <a:lstStyle/>
            <a:p>
              <a:endParaRPr/>
            </a:p>
          </p:txBody>
        </p:sp>
        <p:pic>
          <p:nvPicPr>
            <p:cNvPr id="15" name="object 6">
              <a:extLst>
                <a:ext uri="{FF2B5EF4-FFF2-40B4-BE49-F238E27FC236}">
                  <a16:creationId xmlns:a16="http://schemas.microsoft.com/office/drawing/2014/main" id="{DAA5A1C9-3FFD-F741-93B2-F1CDA55129CC}"/>
                </a:ext>
              </a:extLst>
            </p:cNvPr>
            <p:cNvPicPr/>
            <p:nvPr/>
          </p:nvPicPr>
          <p:blipFill>
            <a:blip r:embed="rId2" cstate="email">
              <a:extLst>
                <a:ext uri="{28A0092B-C50C-407E-A947-70E740481C1C}">
                  <a14:useLocalDpi xmlns:a14="http://schemas.microsoft.com/office/drawing/2010/main"/>
                </a:ext>
              </a:extLst>
            </a:blip>
            <a:stretch>
              <a:fillRect/>
            </a:stretch>
          </p:blipFill>
          <p:spPr>
            <a:xfrm>
              <a:off x="3157442" y="10117702"/>
              <a:ext cx="112300" cy="112268"/>
            </a:xfrm>
            <a:prstGeom prst="rect">
              <a:avLst/>
            </a:prstGeom>
          </p:spPr>
        </p:pic>
      </p:grpSp>
      <p:sp>
        <p:nvSpPr>
          <p:cNvPr id="16" name="object 7">
            <a:extLst>
              <a:ext uri="{FF2B5EF4-FFF2-40B4-BE49-F238E27FC236}">
                <a16:creationId xmlns:a16="http://schemas.microsoft.com/office/drawing/2014/main" id="{2AF2BE2F-4D9A-CF4D-AF78-BAD6CC1B2837}"/>
              </a:ext>
            </a:extLst>
          </p:cNvPr>
          <p:cNvSpPr/>
          <p:nvPr userDrawn="1"/>
        </p:nvSpPr>
        <p:spPr>
          <a:xfrm>
            <a:off x="17840597" y="656116"/>
            <a:ext cx="2243455" cy="1060450"/>
          </a:xfrm>
          <a:custGeom>
            <a:avLst/>
            <a:gdLst/>
            <a:ahLst/>
            <a:cxnLst/>
            <a:rect l="l" t="t" r="r" b="b"/>
            <a:pathLst>
              <a:path w="2243455" h="1060450">
                <a:moveTo>
                  <a:pt x="2243429" y="0"/>
                </a:moveTo>
                <a:lnTo>
                  <a:pt x="0" y="0"/>
                </a:lnTo>
                <a:lnTo>
                  <a:pt x="0" y="1059999"/>
                </a:lnTo>
                <a:lnTo>
                  <a:pt x="2243429" y="1059999"/>
                </a:lnTo>
                <a:lnTo>
                  <a:pt x="2243429" y="0"/>
                </a:lnTo>
                <a:close/>
              </a:path>
            </a:pathLst>
          </a:custGeom>
          <a:solidFill>
            <a:srgbClr val="257CE1"/>
          </a:solidFill>
        </p:spPr>
        <p:txBody>
          <a:bodyPr wrap="square" lIns="0" tIns="0" rIns="0" bIns="0" rtlCol="0"/>
          <a:lstStyle/>
          <a:p>
            <a:endParaRPr/>
          </a:p>
        </p:txBody>
      </p:sp>
      <p:sp>
        <p:nvSpPr>
          <p:cNvPr id="18" name="Marcador de texto 17">
            <a:extLst>
              <a:ext uri="{FF2B5EF4-FFF2-40B4-BE49-F238E27FC236}">
                <a16:creationId xmlns:a16="http://schemas.microsoft.com/office/drawing/2014/main" id="{E6AC5AA0-C4FD-A742-898F-2F81DD6B4DF8}"/>
              </a:ext>
            </a:extLst>
          </p:cNvPr>
          <p:cNvSpPr>
            <a:spLocks noGrp="1"/>
          </p:cNvSpPr>
          <p:nvPr>
            <p:ph type="body" sz="quarter" idx="10"/>
          </p:nvPr>
        </p:nvSpPr>
        <p:spPr>
          <a:xfrm>
            <a:off x="727227" y="755454"/>
            <a:ext cx="16792423" cy="738664"/>
          </a:xfrm>
        </p:spPr>
        <p:txBody>
          <a:bodyPr/>
          <a:lstStyle>
            <a:lvl1pPr algn="r">
              <a:defRPr sz="4800" b="1">
                <a:latin typeface="Arial" panose="020B0604020202020204" pitchFamily="34" charset="0"/>
                <a:cs typeface="Arial" panose="020B0604020202020204" pitchFamily="34" charset="0"/>
              </a:defRPr>
            </a:lvl1pPr>
          </a:lstStyle>
          <a:p>
            <a:r>
              <a:rPr lang="es-ES" dirty="0"/>
              <a:t>Editar los estilos de texto del patrón</a:t>
            </a:r>
            <a:endParaRPr lang="es-C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293DC4AC-3CD1-B728-F1D4-9297A3D9EA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2" name="Imagen 21">
            <a:extLst>
              <a:ext uri="{FF2B5EF4-FFF2-40B4-BE49-F238E27FC236}">
                <a16:creationId xmlns:a16="http://schemas.microsoft.com/office/drawing/2014/main" id="{75BA927C-DF3C-76F9-F858-D08E957A4C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340"/>
            <a:ext cx="20109342" cy="11305614"/>
          </a:xfrm>
          <a:prstGeom prst="rect">
            <a:avLst/>
          </a:prstGeom>
        </p:spPr>
      </p:pic>
      <p:sp>
        <p:nvSpPr>
          <p:cNvPr id="23" name="Rectángulo 22">
            <a:extLst>
              <a:ext uri="{FF2B5EF4-FFF2-40B4-BE49-F238E27FC236}">
                <a16:creationId xmlns:a16="http://schemas.microsoft.com/office/drawing/2014/main" id="{B6946770-F426-2FD2-6657-14F29D5A8E25}"/>
              </a:ext>
            </a:extLst>
          </p:cNvPr>
          <p:cNvSpPr/>
          <p:nvPr userDrawn="1"/>
        </p:nvSpPr>
        <p:spPr>
          <a:xfrm>
            <a:off x="755650" y="62642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4" name="Título 1">
            <a:extLst>
              <a:ext uri="{FF2B5EF4-FFF2-40B4-BE49-F238E27FC236}">
                <a16:creationId xmlns:a16="http://schemas.microsoft.com/office/drawing/2014/main" id="{38E6F079-F9D6-8270-ADE8-DE597BD21FFF}"/>
              </a:ext>
            </a:extLst>
          </p:cNvPr>
          <p:cNvSpPr>
            <a:spLocks noGrp="1"/>
          </p:cNvSpPr>
          <p:nvPr>
            <p:ph type="title"/>
          </p:nvPr>
        </p:nvSpPr>
        <p:spPr>
          <a:xfrm>
            <a:off x="1184428" y="65914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CC49A5DC-7F63-7053-BF30-9BEB915A86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96"/>
            <a:ext cx="20104810" cy="11308953"/>
          </a:xfrm>
          <a:prstGeom prst="rect">
            <a:avLst/>
          </a:prstGeom>
        </p:spPr>
      </p:pic>
      <p:pic>
        <p:nvPicPr>
          <p:cNvPr id="23" name="Imagen 22">
            <a:extLst>
              <a:ext uri="{FF2B5EF4-FFF2-40B4-BE49-F238E27FC236}">
                <a16:creationId xmlns:a16="http://schemas.microsoft.com/office/drawing/2014/main" id="{97E369C9-9696-52E0-3D5A-4A3A83A9C2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2" y="0"/>
            <a:ext cx="20097375" cy="11309350"/>
          </a:xfrm>
          <a:prstGeom prst="rect">
            <a:avLst/>
          </a:prstGeom>
        </p:spPr>
      </p:pic>
      <p:sp>
        <p:nvSpPr>
          <p:cNvPr id="24" name="Rectángulo 23">
            <a:extLst>
              <a:ext uri="{FF2B5EF4-FFF2-40B4-BE49-F238E27FC236}">
                <a16:creationId xmlns:a16="http://schemas.microsoft.com/office/drawing/2014/main" id="{EDE5CBD5-32E9-715D-214E-87F7F64407EA}"/>
              </a:ext>
            </a:extLst>
          </p:cNvPr>
          <p:cNvSpPr/>
          <p:nvPr userDrawn="1"/>
        </p:nvSpPr>
        <p:spPr>
          <a:xfrm>
            <a:off x="7004050" y="7331075"/>
            <a:ext cx="9892434" cy="2286000"/>
          </a:xfrm>
          <a:prstGeom prst="rect">
            <a:avLst/>
          </a:prstGeom>
          <a:solidFill>
            <a:schemeClr val="tx1">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dirty="0"/>
          </a:p>
        </p:txBody>
      </p:sp>
      <p:sp>
        <p:nvSpPr>
          <p:cNvPr id="25" name="Título 1">
            <a:extLst>
              <a:ext uri="{FF2B5EF4-FFF2-40B4-BE49-F238E27FC236}">
                <a16:creationId xmlns:a16="http://schemas.microsoft.com/office/drawing/2014/main" id="{FA2B3E84-593C-1926-74EE-AA7B31F62D0D}"/>
              </a:ext>
            </a:extLst>
          </p:cNvPr>
          <p:cNvSpPr>
            <a:spLocks noGrp="1"/>
          </p:cNvSpPr>
          <p:nvPr>
            <p:ph type="title"/>
          </p:nvPr>
        </p:nvSpPr>
        <p:spPr>
          <a:xfrm>
            <a:off x="7432828" y="7658201"/>
            <a:ext cx="9020022" cy="1538883"/>
          </a:xfrm>
        </p:spPr>
        <p:txBody>
          <a:bodyPr/>
          <a:lstStyle>
            <a:lvl1pPr algn="l">
              <a:defRPr sz="5000">
                <a:solidFill>
                  <a:srgbClr val="257CE1"/>
                </a:solidFill>
              </a:defRPr>
            </a:lvl1pPr>
          </a:lstStyle>
          <a:p>
            <a:r>
              <a:rPr lang="es-ES" dirty="0"/>
              <a:t>Haga clic para modificar el estilo de título del patrón</a:t>
            </a:r>
            <a:endParaRPr lang="es-CL" dirty="0"/>
          </a:p>
        </p:txBody>
      </p:sp>
    </p:spTree>
    <p:extLst>
      <p:ext uri="{BB962C8B-B14F-4D97-AF65-F5344CB8AC3E}">
        <p14:creationId xmlns:p14="http://schemas.microsoft.com/office/powerpoint/2010/main" val="16545789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221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707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APA FINAL">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5D537A3-771A-B373-471B-2113C671CFBB}"/>
              </a:ext>
            </a:extLst>
          </p:cNvPr>
          <p:cNvSpPr/>
          <p:nvPr userDrawn="1"/>
        </p:nvSpPr>
        <p:spPr>
          <a:xfrm>
            <a:off x="0" y="2"/>
            <a:ext cx="20104100" cy="1130935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2" name="Grupo 1">
            <a:extLst>
              <a:ext uri="{FF2B5EF4-FFF2-40B4-BE49-F238E27FC236}">
                <a16:creationId xmlns:a16="http://schemas.microsoft.com/office/drawing/2014/main" id="{9F91E6D1-21AD-8149-634F-39874CDDB05F}"/>
              </a:ext>
            </a:extLst>
          </p:cNvPr>
          <p:cNvGrpSpPr/>
          <p:nvPr userDrawn="1"/>
        </p:nvGrpSpPr>
        <p:grpSpPr>
          <a:xfrm>
            <a:off x="4237156" y="8980243"/>
            <a:ext cx="11629791" cy="929219"/>
            <a:chOff x="1569453" y="5445627"/>
            <a:chExt cx="7052811" cy="563479"/>
          </a:xfrm>
        </p:grpSpPr>
        <p:pic>
          <p:nvPicPr>
            <p:cNvPr id="3" name="Imagen 2">
              <a:extLst>
                <a:ext uri="{FF2B5EF4-FFF2-40B4-BE49-F238E27FC236}">
                  <a16:creationId xmlns:a16="http://schemas.microsoft.com/office/drawing/2014/main" id="{5C7F6159-27FC-D37D-6948-67F8EE366ACB}"/>
                </a:ext>
              </a:extLst>
            </p:cNvPr>
            <p:cNvPicPr>
              <a:picLocks noChangeAspect="1"/>
            </p:cNvPicPr>
            <p:nvPr userDrawn="1"/>
          </p:nvPicPr>
          <p:blipFill>
            <a:blip r:embed="rId2"/>
            <a:stretch>
              <a:fillRect/>
            </a:stretch>
          </p:blipFill>
          <p:spPr>
            <a:xfrm>
              <a:off x="3569736" y="5445627"/>
              <a:ext cx="5052528" cy="563479"/>
            </a:xfrm>
            <a:prstGeom prst="rect">
              <a:avLst/>
            </a:prstGeom>
          </p:spPr>
        </p:pic>
        <p:pic>
          <p:nvPicPr>
            <p:cNvPr id="4" name="Imagen 3">
              <a:extLst>
                <a:ext uri="{FF2B5EF4-FFF2-40B4-BE49-F238E27FC236}">
                  <a16:creationId xmlns:a16="http://schemas.microsoft.com/office/drawing/2014/main" id="{3051E8F7-021B-497B-A676-8142240D8E84}"/>
                </a:ext>
              </a:extLst>
            </p:cNvPr>
            <p:cNvPicPr>
              <a:picLocks noChangeAspect="1"/>
            </p:cNvPicPr>
            <p:nvPr userDrawn="1"/>
          </p:nvPicPr>
          <p:blipFill>
            <a:blip r:embed="rId3"/>
            <a:stretch>
              <a:fillRect/>
            </a:stretch>
          </p:blipFill>
          <p:spPr>
            <a:xfrm>
              <a:off x="1569453" y="5505450"/>
              <a:ext cx="1331493" cy="443831"/>
            </a:xfrm>
            <a:prstGeom prst="rect">
              <a:avLst/>
            </a:prstGeom>
          </p:spPr>
        </p:pic>
      </p:grpSp>
      <p:pic>
        <p:nvPicPr>
          <p:cNvPr id="5" name="Imagen 4">
            <a:extLst>
              <a:ext uri="{FF2B5EF4-FFF2-40B4-BE49-F238E27FC236}">
                <a16:creationId xmlns:a16="http://schemas.microsoft.com/office/drawing/2014/main" id="{BA44E097-D359-D78B-4054-E34A9D1A9706}"/>
              </a:ext>
            </a:extLst>
          </p:cNvPr>
          <p:cNvPicPr>
            <a:picLocks noChangeAspect="1"/>
          </p:cNvPicPr>
          <p:nvPr userDrawn="1"/>
        </p:nvPicPr>
        <p:blipFill>
          <a:blip r:embed="rId4"/>
          <a:stretch>
            <a:fillRect/>
          </a:stretch>
        </p:blipFill>
        <p:spPr>
          <a:xfrm>
            <a:off x="6756079" y="3779092"/>
            <a:ext cx="6591943" cy="2138689"/>
          </a:xfrm>
          <a:prstGeom prst="rect">
            <a:avLst/>
          </a:prstGeom>
        </p:spPr>
      </p:pic>
    </p:spTree>
    <p:extLst>
      <p:ext uri="{BB962C8B-B14F-4D97-AF65-F5344CB8AC3E}">
        <p14:creationId xmlns:p14="http://schemas.microsoft.com/office/powerpoint/2010/main" val="28786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314421" y="714594"/>
            <a:ext cx="5259705" cy="915669"/>
          </a:xfrm>
          <a:prstGeom prst="rect">
            <a:avLst/>
          </a:prstGeom>
        </p:spPr>
        <p:txBody>
          <a:bodyPr wrap="square" lIns="0" tIns="0" rIns="0" bIns="0">
            <a:spAutoFit/>
          </a:bodyPr>
          <a:lstStyle>
            <a:lvl1pPr>
              <a:defRPr sz="5800" b="1" i="0">
                <a:solidFill>
                  <a:schemeClr val="tx1"/>
                </a:solidFill>
                <a:latin typeface="Arial"/>
                <a:cs typeface="Arial"/>
              </a:defRPr>
            </a:lvl1pPr>
          </a:lstStyle>
          <a:p>
            <a:endParaRPr/>
          </a:p>
        </p:txBody>
      </p:sp>
      <p:sp>
        <p:nvSpPr>
          <p:cNvPr id="3" name="Holder 3"/>
          <p:cNvSpPr>
            <a:spLocks noGrp="1"/>
          </p:cNvSpPr>
          <p:nvPr>
            <p:ph type="body" idx="1"/>
          </p:nvPr>
        </p:nvSpPr>
        <p:spPr>
          <a:xfrm>
            <a:off x="1005205" y="2601150"/>
            <a:ext cx="18093690"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9" r:id="rId4"/>
    <p:sldLayoutId id="2147483664" r:id="rId5"/>
    <p:sldLayoutId id="2147483670" r:id="rId6"/>
    <p:sldLayoutId id="2147483677" r:id="rId7"/>
    <p:sldLayoutId id="2147483666" r:id="rId8"/>
    <p:sldLayoutId id="2147483665" r:id="rId9"/>
    <p:sldLayoutId id="2147483663" r:id="rId10"/>
    <p:sldLayoutId id="2147483673" r:id="rId11"/>
    <p:sldLayoutId id="2147483671" r:id="rId12"/>
    <p:sldLayoutId id="2147483678" r:id="rId13"/>
    <p:sldLayoutId id="2147483679" r:id="rId14"/>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70841C-0ACF-DE6F-43AC-3E3396A2923B}"/>
              </a:ext>
            </a:extLst>
          </p:cNvPr>
          <p:cNvSpPr>
            <a:spLocks noGrp="1"/>
          </p:cNvSpPr>
          <p:nvPr>
            <p:ph type="ctrTitle"/>
          </p:nvPr>
        </p:nvSpPr>
        <p:spPr>
          <a:xfrm>
            <a:off x="2889250" y="8169275"/>
            <a:ext cx="9906000" cy="1169551"/>
          </a:xfrm>
        </p:spPr>
        <p:txBody>
          <a:bodyPr/>
          <a:lstStyle/>
          <a:p>
            <a:r>
              <a:rPr lang="es-CL" sz="3800" spc="-10" dirty="0"/>
              <a:t>BDY1101</a:t>
            </a:r>
            <a:br>
              <a:rPr lang="es-CL" sz="3800" spc="-10"/>
            </a:br>
            <a:r>
              <a:rPr lang="es-CL" sz="3800" b="0" spc="-10"/>
              <a:t>C</a:t>
            </a:r>
            <a:r>
              <a:rPr lang="es-ES" sz="3800" b="0"/>
              <a:t>onstruyendo</a:t>
            </a:r>
            <a:r>
              <a:rPr lang="es-ES" sz="3800" b="0" dirty="0"/>
              <a:t> un MER normalizado</a:t>
            </a:r>
            <a:endParaRPr lang="es-CL" sz="3800" dirty="0"/>
          </a:p>
        </p:txBody>
      </p:sp>
    </p:spTree>
    <p:extLst>
      <p:ext uri="{BB962C8B-B14F-4D97-AF65-F5344CB8AC3E}">
        <p14:creationId xmlns:p14="http://schemas.microsoft.com/office/powerpoint/2010/main" val="364293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FFB337F0-2FCC-924F-952C-07C673B763B0}"/>
              </a:ext>
            </a:extLst>
          </p:cNvPr>
          <p:cNvSpPr/>
          <p:nvPr/>
        </p:nvSpPr>
        <p:spPr>
          <a:xfrm>
            <a:off x="9518650" y="2378075"/>
            <a:ext cx="5357557" cy="1015663"/>
          </a:xfrm>
          <a:prstGeom prst="rect">
            <a:avLst/>
          </a:prstGeom>
        </p:spPr>
        <p:txBody>
          <a:bodyPr wrap="none">
            <a:spAutoFit/>
          </a:bodyPr>
          <a:lstStyle/>
          <a:p>
            <a:r>
              <a:rPr lang="es-CL" sz="6000" b="1" dirty="0">
                <a:latin typeface="Arial Black" panose="020B0604020202020204" pitchFamily="34" charset="0"/>
                <a:cs typeface="Arial Black" panose="020B0604020202020204" pitchFamily="34" charset="0"/>
              </a:rPr>
              <a:t>CONTENIDO</a:t>
            </a:r>
          </a:p>
        </p:txBody>
      </p:sp>
      <p:sp>
        <p:nvSpPr>
          <p:cNvPr id="9" name="Título 1">
            <a:extLst>
              <a:ext uri="{FF2B5EF4-FFF2-40B4-BE49-F238E27FC236}">
                <a16:creationId xmlns:a16="http://schemas.microsoft.com/office/drawing/2014/main" id="{8A3E674A-F038-D144-A91A-8FBF8FFE0F11}"/>
              </a:ext>
            </a:extLst>
          </p:cNvPr>
          <p:cNvSpPr txBox="1">
            <a:spLocks/>
          </p:cNvSpPr>
          <p:nvPr/>
        </p:nvSpPr>
        <p:spPr>
          <a:xfrm>
            <a:off x="9518650"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01</a:t>
            </a:r>
          </a:p>
        </p:txBody>
      </p:sp>
      <p:sp>
        <p:nvSpPr>
          <p:cNvPr id="13" name="Título 1">
            <a:extLst>
              <a:ext uri="{FF2B5EF4-FFF2-40B4-BE49-F238E27FC236}">
                <a16:creationId xmlns:a16="http://schemas.microsoft.com/office/drawing/2014/main" id="{EE8DCEDB-0701-9E4F-B841-31F2AEF95FCF}"/>
              </a:ext>
            </a:extLst>
          </p:cNvPr>
          <p:cNvSpPr txBox="1">
            <a:spLocks/>
          </p:cNvSpPr>
          <p:nvPr/>
        </p:nvSpPr>
        <p:spPr>
          <a:xfrm>
            <a:off x="14771968" y="4782489"/>
            <a:ext cx="4728882"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Normalización</a:t>
            </a:r>
          </a:p>
        </p:txBody>
      </p:sp>
      <p:sp>
        <p:nvSpPr>
          <p:cNvPr id="15" name="Título 1">
            <a:extLst>
              <a:ext uri="{FF2B5EF4-FFF2-40B4-BE49-F238E27FC236}">
                <a16:creationId xmlns:a16="http://schemas.microsoft.com/office/drawing/2014/main" id="{AC1579C5-4858-4D42-8518-8DA881E7E42D}"/>
              </a:ext>
            </a:extLst>
          </p:cNvPr>
          <p:cNvSpPr txBox="1">
            <a:spLocks/>
          </p:cNvSpPr>
          <p:nvPr/>
        </p:nvSpPr>
        <p:spPr>
          <a:xfrm>
            <a:off x="14656174" y="4020489"/>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02</a:t>
            </a:r>
          </a:p>
        </p:txBody>
      </p:sp>
      <p:sp>
        <p:nvSpPr>
          <p:cNvPr id="21" name="Título 1">
            <a:extLst>
              <a:ext uri="{FF2B5EF4-FFF2-40B4-BE49-F238E27FC236}">
                <a16:creationId xmlns:a16="http://schemas.microsoft.com/office/drawing/2014/main" id="{325E44F9-8B81-FD43-8DCF-00283585DD6D}"/>
              </a:ext>
            </a:extLst>
          </p:cNvPr>
          <p:cNvSpPr txBox="1">
            <a:spLocks/>
          </p:cNvSpPr>
          <p:nvPr/>
        </p:nvSpPr>
        <p:spPr>
          <a:xfrm>
            <a:off x="9617262" y="4782488"/>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ES" sz="3000" dirty="0"/>
              <a:t>Vistas de Usuario</a:t>
            </a:r>
            <a:endParaRPr lang="es-CL" sz="3000" dirty="0"/>
          </a:p>
        </p:txBody>
      </p:sp>
      <p:sp>
        <p:nvSpPr>
          <p:cNvPr id="5" name="Título 1">
            <a:extLst>
              <a:ext uri="{FF2B5EF4-FFF2-40B4-BE49-F238E27FC236}">
                <a16:creationId xmlns:a16="http://schemas.microsoft.com/office/drawing/2014/main" id="{1D36F62A-8635-0058-68C9-18284E14E519}"/>
              </a:ext>
            </a:extLst>
          </p:cNvPr>
          <p:cNvSpPr txBox="1">
            <a:spLocks/>
          </p:cNvSpPr>
          <p:nvPr/>
        </p:nvSpPr>
        <p:spPr>
          <a:xfrm>
            <a:off x="9617262" y="7026177"/>
            <a:ext cx="4579097" cy="461665"/>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r>
              <a:rPr lang="es-ES" sz="3000" dirty="0"/>
              <a:t>Formas Normales</a:t>
            </a:r>
            <a:endParaRPr lang="es-CL" sz="3000" dirty="0"/>
          </a:p>
        </p:txBody>
      </p:sp>
      <p:sp>
        <p:nvSpPr>
          <p:cNvPr id="6" name="Título 1">
            <a:extLst>
              <a:ext uri="{FF2B5EF4-FFF2-40B4-BE49-F238E27FC236}">
                <a16:creationId xmlns:a16="http://schemas.microsoft.com/office/drawing/2014/main" id="{2EFA4D15-6627-1377-8059-8BC66F22D22D}"/>
              </a:ext>
            </a:extLst>
          </p:cNvPr>
          <p:cNvSpPr txBox="1">
            <a:spLocks/>
          </p:cNvSpPr>
          <p:nvPr/>
        </p:nvSpPr>
        <p:spPr>
          <a:xfrm>
            <a:off x="9518650" y="6264177"/>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03</a:t>
            </a:r>
          </a:p>
        </p:txBody>
      </p:sp>
      <p:sp>
        <p:nvSpPr>
          <p:cNvPr id="2" name="Título 1">
            <a:extLst>
              <a:ext uri="{FF2B5EF4-FFF2-40B4-BE49-F238E27FC236}">
                <a16:creationId xmlns:a16="http://schemas.microsoft.com/office/drawing/2014/main" id="{B9A965C4-D965-3F68-9BF5-614F5B314DB1}"/>
              </a:ext>
            </a:extLst>
          </p:cNvPr>
          <p:cNvSpPr txBox="1">
            <a:spLocks/>
          </p:cNvSpPr>
          <p:nvPr/>
        </p:nvSpPr>
        <p:spPr>
          <a:xfrm>
            <a:off x="14722662" y="7026275"/>
            <a:ext cx="5616388"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3000" dirty="0"/>
              <a:t>Normalización desde </a:t>
            </a:r>
          </a:p>
          <a:p>
            <a:pPr algn="l"/>
            <a:r>
              <a:rPr lang="es-CL" sz="3000" dirty="0"/>
              <a:t>Vista de Usuario</a:t>
            </a:r>
          </a:p>
        </p:txBody>
      </p:sp>
      <p:sp>
        <p:nvSpPr>
          <p:cNvPr id="4" name="Título 1">
            <a:extLst>
              <a:ext uri="{FF2B5EF4-FFF2-40B4-BE49-F238E27FC236}">
                <a16:creationId xmlns:a16="http://schemas.microsoft.com/office/drawing/2014/main" id="{6A7A7C75-F71E-BC33-D6AD-1243767F0772}"/>
              </a:ext>
            </a:extLst>
          </p:cNvPr>
          <p:cNvSpPr txBox="1">
            <a:spLocks/>
          </p:cNvSpPr>
          <p:nvPr/>
        </p:nvSpPr>
        <p:spPr>
          <a:xfrm>
            <a:off x="14624050" y="6264275"/>
            <a:ext cx="1066800" cy="923330"/>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60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3979444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01</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VISTAS DE USUARIO</a:t>
            </a:r>
          </a:p>
        </p:txBody>
      </p:sp>
    </p:spTree>
    <p:extLst>
      <p:ext uri="{BB962C8B-B14F-4D97-AF65-F5344CB8AC3E}">
        <p14:creationId xmlns:p14="http://schemas.microsoft.com/office/powerpoint/2010/main" val="1302873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VISTA DE USUARIO</a:t>
            </a:r>
            <a:endParaRPr lang="es-CL" dirty="0"/>
          </a:p>
        </p:txBody>
      </p:sp>
      <p:sp>
        <p:nvSpPr>
          <p:cNvPr id="3" name="CuadroTexto 2">
            <a:extLst>
              <a:ext uri="{FF2B5EF4-FFF2-40B4-BE49-F238E27FC236}">
                <a16:creationId xmlns:a16="http://schemas.microsoft.com/office/drawing/2014/main" id="{7BCFAFDB-AE62-E595-D114-B70BD478FFEE}"/>
              </a:ext>
            </a:extLst>
          </p:cNvPr>
          <p:cNvSpPr txBox="1"/>
          <p:nvPr/>
        </p:nvSpPr>
        <p:spPr>
          <a:xfrm>
            <a:off x="618885" y="1692275"/>
            <a:ext cx="7992312" cy="8612614"/>
          </a:xfrm>
          <a:prstGeom prst="rect">
            <a:avLst/>
          </a:prstGeom>
          <a:noFill/>
        </p:spPr>
        <p:txBody>
          <a:bodyPr wrap="square">
            <a:spAutoFit/>
          </a:bodyPr>
          <a:lstStyle/>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La vista de usuario es información que nos permitirá obtener un análisis mucho más detallado y certero de los requerimientos que el usuario pueda y quiera estar expresando.</a:t>
            </a:r>
          </a:p>
          <a:p>
            <a:pPr algn="just" rtl="0" fontAlgn="base">
              <a:spcBef>
                <a:spcPts val="1000"/>
              </a:spcBef>
              <a:spcAft>
                <a:spcPts val="0"/>
              </a:spcAft>
            </a:pPr>
            <a:r>
              <a:rPr lang="es-ES" sz="3200" dirty="0">
                <a:solidFill>
                  <a:srgbClr val="818990"/>
                </a:solidFill>
                <a:latin typeface="Calibri" panose="020F0502020204030204" pitchFamily="34" charset="0"/>
              </a:rPr>
              <a:t>Las vistas de usuario se pueden representar de dos formas:</a:t>
            </a:r>
          </a:p>
          <a:p>
            <a:pPr marL="457200" indent="-457200" algn="just" rtl="0" fontAlgn="base">
              <a:spcBef>
                <a:spcPts val="1000"/>
              </a:spcBef>
              <a:spcAft>
                <a:spcPts val="0"/>
              </a:spcAft>
              <a:buFont typeface="Arial" panose="020B0604020202020204" pitchFamily="34" charset="0"/>
              <a:buChar char="•"/>
            </a:pPr>
            <a:r>
              <a:rPr lang="es-ES" sz="3200" dirty="0">
                <a:solidFill>
                  <a:srgbClr val="818990"/>
                </a:solidFill>
                <a:latin typeface="Calibri" panose="020F0502020204030204" pitchFamily="34" charset="0"/>
              </a:rPr>
              <a:t>Mockup y/o bocetos diseñados por el mismo cliente, incluso pueden ser dibujos realizado por el mismo cliente en un papel en blanco.</a:t>
            </a:r>
          </a:p>
          <a:p>
            <a:pPr marL="457200" indent="-457200" algn="just" rtl="0" fontAlgn="base">
              <a:spcBef>
                <a:spcPts val="1000"/>
              </a:spcBef>
              <a:spcAft>
                <a:spcPts val="0"/>
              </a:spcAft>
              <a:buFont typeface="Arial" panose="020B0604020202020204" pitchFamily="34" charset="0"/>
              <a:buChar char="•"/>
            </a:pPr>
            <a:r>
              <a:rPr lang="es-ES" sz="3200" dirty="0">
                <a:solidFill>
                  <a:srgbClr val="818990"/>
                </a:solidFill>
                <a:latin typeface="Calibri" panose="020F0502020204030204" pitchFamily="34" charset="0"/>
              </a:rPr>
              <a:t>Documentos reales que el cliente utiliza para desarrollar su trabajo diario.</a:t>
            </a:r>
          </a:p>
          <a:p>
            <a:pPr marL="457200" indent="-457200" algn="just" rtl="0" fontAlgn="base">
              <a:spcBef>
                <a:spcPts val="1000"/>
              </a:spcBef>
              <a:spcAft>
                <a:spcPts val="0"/>
              </a:spcAft>
              <a:buFont typeface="Arial" panose="020B0604020202020204" pitchFamily="34" charset="0"/>
              <a:buChar char="•"/>
            </a:pPr>
            <a:endParaRPr lang="es-ES" sz="3200" dirty="0">
              <a:solidFill>
                <a:srgbClr val="818990"/>
              </a:solidFill>
              <a:latin typeface="Calibri" panose="020F0502020204030204" pitchFamily="34" charset="0"/>
            </a:endParaRPr>
          </a:p>
          <a:p>
            <a:pPr marL="457200" indent="-457200" algn="just" rtl="0" fontAlgn="base">
              <a:spcBef>
                <a:spcPts val="1000"/>
              </a:spcBef>
              <a:spcAft>
                <a:spcPts val="0"/>
              </a:spcAft>
              <a:buFont typeface="Arial" panose="020B0604020202020204" pitchFamily="34" charset="0"/>
              <a:buChar char="•"/>
            </a:pPr>
            <a:r>
              <a:rPr lang="es-ES" sz="3200" dirty="0">
                <a:solidFill>
                  <a:srgbClr val="818990"/>
                </a:solidFill>
                <a:latin typeface="Calibri" panose="020F0502020204030204" pitchFamily="34" charset="0"/>
              </a:rPr>
              <a:t>En términos simples, es una vista grafica de los requerimientos que el usuario nos esta solicitando.</a:t>
            </a:r>
          </a:p>
        </p:txBody>
      </p:sp>
      <p:pic>
        <p:nvPicPr>
          <p:cNvPr id="4" name="Imagen 3" descr="Imagen que contiene Tabla&#10;&#10;Descripción generada automáticamente">
            <a:extLst>
              <a:ext uri="{FF2B5EF4-FFF2-40B4-BE49-F238E27FC236}">
                <a16:creationId xmlns:a16="http://schemas.microsoft.com/office/drawing/2014/main" id="{F1F39ACE-52F4-4F3E-B4A0-A683427C4763}"/>
              </a:ext>
            </a:extLst>
          </p:cNvPr>
          <p:cNvPicPr>
            <a:picLocks noChangeAspect="1"/>
          </p:cNvPicPr>
          <p:nvPr/>
        </p:nvPicPr>
        <p:blipFill>
          <a:blip r:embed="rId3"/>
          <a:stretch>
            <a:fillRect/>
          </a:stretch>
        </p:blipFill>
        <p:spPr>
          <a:xfrm>
            <a:off x="9147355" y="6211321"/>
            <a:ext cx="4603393" cy="4542286"/>
          </a:xfrm>
          <a:prstGeom prst="rect">
            <a:avLst/>
          </a:prstGeom>
        </p:spPr>
      </p:pic>
      <p:pic>
        <p:nvPicPr>
          <p:cNvPr id="5" name="Imagen 4">
            <a:extLst>
              <a:ext uri="{FF2B5EF4-FFF2-40B4-BE49-F238E27FC236}">
                <a16:creationId xmlns:a16="http://schemas.microsoft.com/office/drawing/2014/main" id="{08B6B4A3-98CC-44EC-99F7-9805BDFC0150}"/>
              </a:ext>
            </a:extLst>
          </p:cNvPr>
          <p:cNvPicPr>
            <a:picLocks noChangeAspect="1"/>
          </p:cNvPicPr>
          <p:nvPr/>
        </p:nvPicPr>
        <p:blipFill>
          <a:blip r:embed="rId4"/>
          <a:stretch>
            <a:fillRect/>
          </a:stretch>
        </p:blipFill>
        <p:spPr>
          <a:xfrm>
            <a:off x="14045844" y="3146892"/>
            <a:ext cx="4952999" cy="6059008"/>
          </a:xfrm>
          <a:prstGeom prst="rect">
            <a:avLst/>
          </a:prstGeom>
        </p:spPr>
      </p:pic>
      <p:pic>
        <p:nvPicPr>
          <p:cNvPr id="6" name="Imagen 5" descr="Interfaz de usuario gráfica&#10;&#10;Descripción generada automáticamente">
            <a:extLst>
              <a:ext uri="{FF2B5EF4-FFF2-40B4-BE49-F238E27FC236}">
                <a16:creationId xmlns:a16="http://schemas.microsoft.com/office/drawing/2014/main" id="{9007BD52-D534-45CA-AE32-EFDCEE8FAF1B}"/>
              </a:ext>
            </a:extLst>
          </p:cNvPr>
          <p:cNvPicPr>
            <a:picLocks noChangeAspect="1"/>
          </p:cNvPicPr>
          <p:nvPr/>
        </p:nvPicPr>
        <p:blipFill>
          <a:blip r:embed="rId5"/>
          <a:stretch>
            <a:fillRect/>
          </a:stretch>
        </p:blipFill>
        <p:spPr>
          <a:xfrm>
            <a:off x="9248954" y="2149475"/>
            <a:ext cx="4501794" cy="4026921"/>
          </a:xfrm>
          <a:prstGeom prst="rect">
            <a:avLst/>
          </a:prstGeom>
        </p:spPr>
      </p:pic>
    </p:spTree>
    <p:extLst>
      <p:ext uri="{BB962C8B-B14F-4D97-AF65-F5344CB8AC3E}">
        <p14:creationId xmlns:p14="http://schemas.microsoft.com/office/powerpoint/2010/main" val="280671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VISTA DE USUARIO</a:t>
            </a:r>
            <a:endParaRPr lang="es-CL" dirty="0"/>
          </a:p>
        </p:txBody>
      </p:sp>
      <p:pic>
        <p:nvPicPr>
          <p:cNvPr id="1026" name="Picture 2">
            <a:extLst>
              <a:ext uri="{FF2B5EF4-FFF2-40B4-BE49-F238E27FC236}">
                <a16:creationId xmlns:a16="http://schemas.microsoft.com/office/drawing/2014/main" id="{025D0B37-415E-DD6A-1A8E-C1EDF4B194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0250" y="492488"/>
            <a:ext cx="8458200" cy="10324374"/>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7BCFAFDB-AE62-E595-D114-B70BD478FFEE}"/>
              </a:ext>
            </a:extLst>
          </p:cNvPr>
          <p:cNvSpPr txBox="1"/>
          <p:nvPr/>
        </p:nvSpPr>
        <p:spPr>
          <a:xfrm>
            <a:off x="11880850" y="1920875"/>
            <a:ext cx="7414105" cy="9146094"/>
          </a:xfrm>
          <a:prstGeom prst="rect">
            <a:avLst/>
          </a:prstGeom>
          <a:noFill/>
        </p:spPr>
        <p:txBody>
          <a:bodyPr wrap="square">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En este caso podemos identificar los siguientes datos:</a:t>
            </a:r>
          </a:p>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Nombre 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Rut del 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Dirección del 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Comuna.</a:t>
            </a:r>
          </a:p>
          <a:p>
            <a:pPr algn="just" rtl="0" fontAlgn="base">
              <a:spcBef>
                <a:spcPts val="1000"/>
              </a:spcBef>
              <a:spcAft>
                <a:spcPts val="0"/>
              </a:spcAft>
            </a:pPr>
            <a:r>
              <a:rPr lang="es-ES" sz="3200" dirty="0">
                <a:solidFill>
                  <a:srgbClr val="818990"/>
                </a:solidFill>
                <a:latin typeface="Calibri" panose="020F0502020204030204" pitchFamily="34" charset="0"/>
              </a:rPr>
              <a:t>- Ciudad.</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Teléfono</a:t>
            </a:r>
          </a:p>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PRODUCTO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Cantidad de productos comprados.</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Detalle del producto.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Precio unitario.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Importe (total) del producto.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Etc.</a:t>
            </a:r>
          </a:p>
        </p:txBody>
      </p:sp>
    </p:spTree>
    <p:extLst>
      <p:ext uri="{BB962C8B-B14F-4D97-AF65-F5344CB8AC3E}">
        <p14:creationId xmlns:p14="http://schemas.microsoft.com/office/powerpoint/2010/main" val="1633858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VISTA DE USUARIO</a:t>
            </a:r>
            <a:endParaRPr lang="es-CL" dirty="0"/>
          </a:p>
        </p:txBody>
      </p:sp>
      <p:sp>
        <p:nvSpPr>
          <p:cNvPr id="7" name="CuadroTexto 6">
            <a:extLst>
              <a:ext uri="{FF2B5EF4-FFF2-40B4-BE49-F238E27FC236}">
                <a16:creationId xmlns:a16="http://schemas.microsoft.com/office/drawing/2014/main" id="{7BCFAFDB-AE62-E595-D114-B70BD478FFEE}"/>
              </a:ext>
            </a:extLst>
          </p:cNvPr>
          <p:cNvSpPr txBox="1"/>
          <p:nvPr/>
        </p:nvSpPr>
        <p:spPr>
          <a:xfrm>
            <a:off x="2051051" y="1768475"/>
            <a:ext cx="8334223" cy="4308872"/>
          </a:xfrm>
          <a:prstGeom prst="rect">
            <a:avLst/>
          </a:prstGeom>
          <a:noFill/>
        </p:spPr>
        <p:txBody>
          <a:bodyPr wrap="square" numCol="2">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Nombre 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Dirección del cliente.</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Comuna.</a:t>
            </a:r>
          </a:p>
          <a:p>
            <a:pPr algn="just" rtl="0" fontAlgn="base">
              <a:spcBef>
                <a:spcPts val="1000"/>
              </a:spcBef>
              <a:spcAft>
                <a:spcPts val="0"/>
              </a:spcAft>
            </a:pPr>
            <a:endParaRPr lang="es-ES" sz="3200" dirty="0">
              <a:solidFill>
                <a:srgbClr val="818990"/>
              </a:solidFill>
              <a:latin typeface="Calibri" panose="020F0502020204030204" pitchFamily="34" charset="0"/>
            </a:endParaRPr>
          </a:p>
          <a:p>
            <a:pPr algn="just" rtl="0" fontAlgn="base">
              <a:spcBef>
                <a:spcPts val="1000"/>
              </a:spcBef>
              <a:spcAft>
                <a:spcPts val="0"/>
              </a:spcAft>
            </a:pPr>
            <a:endParaRPr lang="es-ES" sz="3200" b="0" i="0" u="none" strike="noStrike" dirty="0">
              <a:solidFill>
                <a:srgbClr val="818990"/>
              </a:solidFill>
              <a:effectLst/>
              <a:latin typeface="Calibri" panose="020F0502020204030204" pitchFamily="34" charset="0"/>
            </a:endParaRPr>
          </a:p>
          <a:p>
            <a:pPr algn="just" rtl="0" fontAlgn="base">
              <a:spcBef>
                <a:spcPts val="1000"/>
              </a:spcBef>
              <a:spcAft>
                <a:spcPts val="0"/>
              </a:spcAft>
            </a:pPr>
            <a:endParaRPr lang="es-ES" sz="3200" b="0" i="0" u="none" strike="noStrike" dirty="0">
              <a:solidFill>
                <a:srgbClr val="818990"/>
              </a:solidFill>
              <a:effectLst/>
              <a:latin typeface="Calibri" panose="020F0502020204030204" pitchFamily="34" charset="0"/>
            </a:endParaRPr>
          </a:p>
          <a:p>
            <a:pPr algn="just" rtl="0" fontAlgn="base">
              <a:spcBef>
                <a:spcPts val="1000"/>
              </a:spcBef>
              <a:spcAft>
                <a:spcPts val="0"/>
              </a:spcAft>
            </a:pPr>
            <a:r>
              <a:rPr lang="es-ES" sz="3200" dirty="0">
                <a:solidFill>
                  <a:srgbClr val="818990"/>
                </a:solidFill>
                <a:latin typeface="Calibri" panose="020F0502020204030204" pitchFamily="34" charset="0"/>
              </a:rPr>
              <a:t>- Región.</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Código postal.</a:t>
            </a:r>
            <a:endParaRPr lang="es-ES" sz="3200" dirty="0">
              <a:solidFill>
                <a:srgbClr val="818990"/>
              </a:solidFill>
              <a:latin typeface="Calibri" panose="020F0502020204030204" pitchFamily="34" charset="0"/>
            </a:endParaRPr>
          </a:p>
          <a:p>
            <a:pPr algn="just" rtl="0" fontAlgn="base">
              <a:spcBef>
                <a:spcPts val="1000"/>
              </a:spcBef>
              <a:spcAft>
                <a:spcPts val="0"/>
              </a:spcAft>
            </a:pPr>
            <a:r>
              <a:rPr lang="es-ES" sz="3200" dirty="0">
                <a:solidFill>
                  <a:srgbClr val="818990"/>
                </a:solidFill>
                <a:latin typeface="Calibri" panose="020F0502020204030204" pitchFamily="34" charset="0"/>
              </a:rPr>
              <a:t>- País</a:t>
            </a:r>
            <a:endParaRPr lang="es-ES" sz="3200" b="0" i="0" u="none" strike="noStrike" dirty="0">
              <a:solidFill>
                <a:srgbClr val="818990"/>
              </a:solidFill>
              <a:effectLst/>
              <a:latin typeface="Calibri" panose="020F0502020204030204" pitchFamily="34" charset="0"/>
            </a:endParaRPr>
          </a:p>
        </p:txBody>
      </p:sp>
      <p:pic>
        <p:nvPicPr>
          <p:cNvPr id="3" name="Picture 2">
            <a:extLst>
              <a:ext uri="{FF2B5EF4-FFF2-40B4-BE49-F238E27FC236}">
                <a16:creationId xmlns:a16="http://schemas.microsoft.com/office/drawing/2014/main" id="{025D0B37-415E-DD6A-1A8E-C1EDF4B194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65" t="1028" r="2438" b="8035"/>
          <a:stretch/>
        </p:blipFill>
        <p:spPr bwMode="auto">
          <a:xfrm>
            <a:off x="9366250" y="1768475"/>
            <a:ext cx="8763000" cy="9023568"/>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0E322896-511D-32ED-BCD4-A2873C281D8F}"/>
              </a:ext>
            </a:extLst>
          </p:cNvPr>
          <p:cNvSpPr txBox="1"/>
          <p:nvPr/>
        </p:nvSpPr>
        <p:spPr>
          <a:xfrm>
            <a:off x="2051050" y="4435475"/>
            <a:ext cx="8334223" cy="2446824"/>
          </a:xfrm>
          <a:prstGeom prst="rect">
            <a:avLst/>
          </a:prstGeom>
          <a:noFill/>
        </p:spPr>
        <p:txBody>
          <a:bodyPr wrap="square" numCol="2">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PRODUCTO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Descripción.</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Total</a:t>
            </a:r>
            <a:endParaRPr lang="es-ES" sz="3200" dirty="0">
              <a:solidFill>
                <a:srgbClr val="818990"/>
              </a:solidFill>
              <a:latin typeface="Calibri" panose="020F0502020204030204" pitchFamily="34" charset="0"/>
            </a:endParaRP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Imp</a:t>
            </a:r>
            <a:r>
              <a:rPr lang="es-ES" sz="3200" dirty="0">
                <a:solidFill>
                  <a:srgbClr val="818990"/>
                </a:solidFill>
                <a:latin typeface="Calibri" panose="020F0502020204030204" pitchFamily="34" charset="0"/>
              </a:rPr>
              <a:t>uesto</a:t>
            </a:r>
            <a:endParaRPr lang="es-ES" sz="3200" b="0" i="0" u="none" strike="noStrike" dirty="0">
              <a:solidFill>
                <a:srgbClr val="818990"/>
              </a:solidFill>
              <a:effectLst/>
              <a:latin typeface="Calibri" panose="020F0502020204030204" pitchFamily="34" charset="0"/>
            </a:endParaRPr>
          </a:p>
        </p:txBody>
      </p:sp>
      <p:sp>
        <p:nvSpPr>
          <p:cNvPr id="5" name="CuadroTexto 4">
            <a:extLst>
              <a:ext uri="{FF2B5EF4-FFF2-40B4-BE49-F238E27FC236}">
                <a16:creationId xmlns:a16="http://schemas.microsoft.com/office/drawing/2014/main" id="{C948900C-5EDC-6128-938F-E73050FD55E1}"/>
              </a:ext>
            </a:extLst>
          </p:cNvPr>
          <p:cNvSpPr txBox="1"/>
          <p:nvPr/>
        </p:nvSpPr>
        <p:spPr>
          <a:xfrm>
            <a:off x="2051050" y="7094051"/>
            <a:ext cx="8334223" cy="2446824"/>
          </a:xfrm>
          <a:prstGeom prst="rect">
            <a:avLst/>
          </a:prstGeom>
          <a:noFill/>
        </p:spPr>
        <p:txBody>
          <a:bodyPr wrap="square" numCol="2">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TRANSACCIÓN</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ID transacción.</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Fecha.</a:t>
            </a:r>
            <a:endParaRPr lang="es-ES" sz="3200" dirty="0">
              <a:solidFill>
                <a:srgbClr val="818990"/>
              </a:solidFill>
              <a:latin typeface="Calibri" panose="020F0502020204030204" pitchFamily="34" charset="0"/>
            </a:endParaRP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Medio de pago</a:t>
            </a:r>
          </a:p>
        </p:txBody>
      </p:sp>
    </p:spTree>
    <p:extLst>
      <p:ext uri="{BB962C8B-B14F-4D97-AF65-F5344CB8AC3E}">
        <p14:creationId xmlns:p14="http://schemas.microsoft.com/office/powerpoint/2010/main" val="270715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VISTA DE USUARIO</a:t>
            </a:r>
            <a:endParaRPr lang="es-CL" dirty="0"/>
          </a:p>
        </p:txBody>
      </p:sp>
      <p:sp>
        <p:nvSpPr>
          <p:cNvPr id="7" name="CuadroTexto 6">
            <a:extLst>
              <a:ext uri="{FF2B5EF4-FFF2-40B4-BE49-F238E27FC236}">
                <a16:creationId xmlns:a16="http://schemas.microsoft.com/office/drawing/2014/main" id="{7BCFAFDB-AE62-E595-D114-B70BD478FFEE}"/>
              </a:ext>
            </a:extLst>
          </p:cNvPr>
          <p:cNvSpPr txBox="1"/>
          <p:nvPr/>
        </p:nvSpPr>
        <p:spPr>
          <a:xfrm>
            <a:off x="8213574" y="1450261"/>
            <a:ext cx="9096223" cy="4308872"/>
          </a:xfrm>
          <a:prstGeom prst="rect">
            <a:avLst/>
          </a:prstGeom>
          <a:noFill/>
        </p:spPr>
        <p:txBody>
          <a:bodyPr wrap="square" numCol="2">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EMPRESA</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Nombre</a:t>
            </a:r>
            <a:r>
              <a:rPr lang="es-ES" sz="3200" dirty="0">
                <a:solidFill>
                  <a:srgbClr val="818990"/>
                </a:solidFill>
                <a:latin typeface="Calibri" panose="020F0502020204030204" pitchFamily="34" charset="0"/>
              </a:rPr>
              <a:t> empresa</a:t>
            </a:r>
            <a:r>
              <a:rPr lang="es-ES" sz="3200" b="0" i="0" u="none" strike="noStrike" dirty="0">
                <a:solidFill>
                  <a:srgbClr val="818990"/>
                </a:solidFill>
                <a:effectLst/>
                <a:latin typeface="Calibri" panose="020F0502020204030204" pitchFamily="34" charset="0"/>
              </a:rPr>
              <a:t>.</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a:t>
            </a:r>
            <a:r>
              <a:rPr lang="es-ES" sz="3200" dirty="0">
                <a:solidFill>
                  <a:srgbClr val="818990"/>
                </a:solidFill>
                <a:latin typeface="Calibri" panose="020F0502020204030204" pitchFamily="34" charset="0"/>
              </a:rPr>
              <a:t> Nombre vendedor</a:t>
            </a:r>
            <a:r>
              <a:rPr lang="es-ES" sz="3200" b="0" i="0" u="none" strike="noStrike" dirty="0">
                <a:solidFill>
                  <a:srgbClr val="818990"/>
                </a:solidFill>
                <a:effectLst/>
                <a:latin typeface="Calibri" panose="020F0502020204030204" pitchFamily="34" charset="0"/>
              </a:rPr>
              <a:t>.</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Dirección.</a:t>
            </a:r>
          </a:p>
          <a:p>
            <a:pPr algn="just" rtl="0" fontAlgn="base">
              <a:spcBef>
                <a:spcPts val="1000"/>
              </a:spcBef>
              <a:spcAft>
                <a:spcPts val="0"/>
              </a:spcAft>
            </a:pPr>
            <a:endParaRPr lang="es-ES" sz="3200" dirty="0">
              <a:solidFill>
                <a:srgbClr val="818990"/>
              </a:solidFill>
              <a:latin typeface="Calibri" panose="020F0502020204030204" pitchFamily="34" charset="0"/>
            </a:endParaRPr>
          </a:p>
          <a:p>
            <a:pPr algn="just" rtl="0" fontAlgn="base">
              <a:spcBef>
                <a:spcPts val="1000"/>
              </a:spcBef>
              <a:spcAft>
                <a:spcPts val="0"/>
              </a:spcAft>
            </a:pPr>
            <a:endParaRPr lang="es-ES" sz="3200" b="0" i="0" u="none" strike="noStrike" dirty="0">
              <a:solidFill>
                <a:srgbClr val="818990"/>
              </a:solidFill>
              <a:effectLst/>
              <a:latin typeface="Calibri" panose="020F0502020204030204" pitchFamily="34" charset="0"/>
            </a:endParaRPr>
          </a:p>
          <a:p>
            <a:pPr algn="just" rtl="0" fontAlgn="base">
              <a:spcBef>
                <a:spcPts val="1000"/>
              </a:spcBef>
              <a:spcAft>
                <a:spcPts val="0"/>
              </a:spcAft>
            </a:pPr>
            <a:endParaRPr lang="es-ES" sz="3200" b="0" i="0" u="none" strike="noStrike" dirty="0">
              <a:solidFill>
                <a:srgbClr val="818990"/>
              </a:solidFill>
              <a:effectLst/>
              <a:latin typeface="Calibri" panose="020F0502020204030204" pitchFamily="34" charset="0"/>
            </a:endParaRPr>
          </a:p>
          <a:p>
            <a:pPr algn="just" rtl="0" fontAlgn="base">
              <a:spcBef>
                <a:spcPts val="1000"/>
              </a:spcBef>
              <a:spcAft>
                <a:spcPts val="0"/>
              </a:spcAft>
            </a:pPr>
            <a:r>
              <a:rPr lang="es-ES" sz="3200" dirty="0">
                <a:solidFill>
                  <a:srgbClr val="818990"/>
                </a:solidFill>
                <a:latin typeface="Calibri" panose="020F0502020204030204" pitchFamily="34" charset="0"/>
              </a:rPr>
              <a:t>- RUT.</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a:t>
            </a:r>
            <a:r>
              <a:rPr lang="es-ES" sz="3200" dirty="0">
                <a:solidFill>
                  <a:srgbClr val="818990"/>
                </a:solidFill>
                <a:latin typeface="Calibri" panose="020F0502020204030204" pitchFamily="34" charset="0"/>
              </a:rPr>
              <a:t>Comuna.</a:t>
            </a:r>
          </a:p>
          <a:p>
            <a:pPr algn="just" rtl="0" fontAlgn="base">
              <a:spcBef>
                <a:spcPts val="1000"/>
              </a:spcBef>
              <a:spcAft>
                <a:spcPts val="0"/>
              </a:spcAft>
            </a:pPr>
            <a:r>
              <a:rPr lang="es-ES" sz="3200" dirty="0">
                <a:solidFill>
                  <a:srgbClr val="818990"/>
                </a:solidFill>
                <a:latin typeface="Calibri" panose="020F0502020204030204" pitchFamily="34" charset="0"/>
              </a:rPr>
              <a:t>- Código.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Etc.</a:t>
            </a:r>
          </a:p>
        </p:txBody>
      </p:sp>
      <p:sp>
        <p:nvSpPr>
          <p:cNvPr id="4" name="CuadroTexto 3">
            <a:extLst>
              <a:ext uri="{FF2B5EF4-FFF2-40B4-BE49-F238E27FC236}">
                <a16:creationId xmlns:a16="http://schemas.microsoft.com/office/drawing/2014/main" id="{0E322896-511D-32ED-BCD4-A2873C281D8F}"/>
              </a:ext>
            </a:extLst>
          </p:cNvPr>
          <p:cNvSpPr txBox="1"/>
          <p:nvPr/>
        </p:nvSpPr>
        <p:spPr>
          <a:xfrm>
            <a:off x="11347450" y="4099610"/>
            <a:ext cx="9144000" cy="2446824"/>
          </a:xfrm>
          <a:prstGeom prst="rect">
            <a:avLst/>
          </a:prstGeom>
          <a:noFill/>
        </p:spPr>
        <p:txBody>
          <a:bodyPr wrap="square" numCol="2">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VENTA</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Fecha.</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a:t>
            </a:r>
            <a:r>
              <a:rPr lang="es-ES" sz="3200" dirty="0">
                <a:solidFill>
                  <a:srgbClr val="818990"/>
                </a:solidFill>
                <a:latin typeface="Calibri" panose="020F0502020204030204" pitchFamily="34" charset="0"/>
              </a:rPr>
              <a:t> Hora.</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Terminal POS.</a:t>
            </a:r>
          </a:p>
          <a:p>
            <a:pPr algn="just" rtl="0" fontAlgn="base">
              <a:spcBef>
                <a:spcPts val="1000"/>
              </a:spcBef>
              <a:spcAft>
                <a:spcPts val="0"/>
              </a:spcAft>
            </a:pPr>
            <a:r>
              <a:rPr lang="es-ES" sz="3200" dirty="0">
                <a:solidFill>
                  <a:srgbClr val="818990"/>
                </a:solidFill>
                <a:latin typeface="Calibri" panose="020F0502020204030204" pitchFamily="34" charset="0"/>
              </a:rPr>
              <a:t>- Monto.</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Total.</a:t>
            </a:r>
          </a:p>
          <a:p>
            <a:pPr algn="just" rtl="0" fontAlgn="base">
              <a:spcBef>
                <a:spcPts val="1000"/>
              </a:spcBef>
              <a:spcAft>
                <a:spcPts val="0"/>
              </a:spcAft>
            </a:pPr>
            <a:r>
              <a:rPr lang="es-ES" sz="3200" dirty="0">
                <a:solidFill>
                  <a:srgbClr val="818990"/>
                </a:solidFill>
                <a:latin typeface="Calibri" panose="020F0502020204030204" pitchFamily="34" charset="0"/>
              </a:rPr>
              <a:t>- Etc.</a:t>
            </a:r>
            <a:endParaRPr lang="es-ES" sz="3200" b="0" i="0" u="none" strike="noStrike" dirty="0">
              <a:solidFill>
                <a:srgbClr val="818990"/>
              </a:solidFill>
              <a:effectLst/>
              <a:latin typeface="Calibri" panose="020F0502020204030204" pitchFamily="34" charset="0"/>
            </a:endParaRPr>
          </a:p>
        </p:txBody>
      </p:sp>
      <p:sp>
        <p:nvSpPr>
          <p:cNvPr id="5" name="CuadroTexto 4">
            <a:extLst>
              <a:ext uri="{FF2B5EF4-FFF2-40B4-BE49-F238E27FC236}">
                <a16:creationId xmlns:a16="http://schemas.microsoft.com/office/drawing/2014/main" id="{C948900C-5EDC-6128-938F-E73050FD55E1}"/>
              </a:ext>
            </a:extLst>
          </p:cNvPr>
          <p:cNvSpPr txBox="1"/>
          <p:nvPr/>
        </p:nvSpPr>
        <p:spPr>
          <a:xfrm>
            <a:off x="8090161" y="6721475"/>
            <a:ext cx="9144000" cy="1826141"/>
          </a:xfrm>
          <a:prstGeom prst="rect">
            <a:avLst/>
          </a:prstGeom>
          <a:noFill/>
        </p:spPr>
        <p:txBody>
          <a:bodyPr wrap="square" numCol="2">
            <a:spAutoFit/>
          </a:bodyPr>
          <a:lstStyle/>
          <a:p>
            <a:pPr algn="just" rtl="0" fontAlgn="base">
              <a:spcBef>
                <a:spcPts val="1000"/>
              </a:spcBef>
              <a:spcAft>
                <a:spcPts val="0"/>
              </a:spcAft>
            </a:pPr>
            <a:r>
              <a:rPr lang="es-ES" sz="3200" b="1" i="0" u="none" strike="noStrike" dirty="0">
                <a:solidFill>
                  <a:srgbClr val="818990"/>
                </a:solidFill>
                <a:effectLst/>
                <a:latin typeface="Calibri" panose="020F0502020204030204" pitchFamily="34" charset="0"/>
              </a:rPr>
              <a:t>TRANSACCIÓN</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Numero de operación .</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Código de autorización.</a:t>
            </a:r>
            <a:endParaRPr lang="es-ES" sz="3200" dirty="0">
              <a:solidFill>
                <a:srgbClr val="818990"/>
              </a:solidFill>
              <a:latin typeface="Calibri" panose="020F0502020204030204" pitchFamily="34" charset="0"/>
            </a:endParaRP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 Moneda</a:t>
            </a:r>
          </a:p>
          <a:p>
            <a:pPr algn="just" rtl="0" fontAlgn="base">
              <a:spcBef>
                <a:spcPts val="1000"/>
              </a:spcBef>
              <a:spcAft>
                <a:spcPts val="0"/>
              </a:spcAft>
            </a:pPr>
            <a:r>
              <a:rPr lang="es-ES" sz="3200" dirty="0">
                <a:solidFill>
                  <a:srgbClr val="818990"/>
                </a:solidFill>
                <a:latin typeface="Calibri" panose="020F0502020204030204" pitchFamily="34" charset="0"/>
              </a:rPr>
              <a:t>- Etc.</a:t>
            </a:r>
            <a:endParaRPr lang="es-ES" sz="3200" b="0" i="0" u="none" strike="noStrike" dirty="0">
              <a:solidFill>
                <a:srgbClr val="818990"/>
              </a:solidFill>
              <a:effectLst/>
              <a:latin typeface="Calibri" panose="020F0502020204030204" pitchFamily="34" charset="0"/>
            </a:endParaRPr>
          </a:p>
        </p:txBody>
      </p:sp>
      <p:pic>
        <p:nvPicPr>
          <p:cNvPr id="10" name="Imagen 9">
            <a:extLst>
              <a:ext uri="{FF2B5EF4-FFF2-40B4-BE49-F238E27FC236}">
                <a16:creationId xmlns:a16="http://schemas.microsoft.com/office/drawing/2014/main" id="{1986AD21-1A4F-2AC7-E27A-14CFA05357AE}"/>
              </a:ext>
            </a:extLst>
          </p:cNvPr>
          <p:cNvPicPr>
            <a:picLocks noChangeAspect="1"/>
          </p:cNvPicPr>
          <p:nvPr/>
        </p:nvPicPr>
        <p:blipFill rotWithShape="1">
          <a:blip r:embed="rId3"/>
          <a:srcRect l="2193"/>
          <a:stretch/>
        </p:blipFill>
        <p:spPr>
          <a:xfrm>
            <a:off x="1416061" y="1124786"/>
            <a:ext cx="5711735" cy="8899363"/>
          </a:xfrm>
          <a:prstGeom prst="rect">
            <a:avLst/>
          </a:prstGeom>
        </p:spPr>
      </p:pic>
      <p:sp>
        <p:nvSpPr>
          <p:cNvPr id="6" name="TextBox 5">
            <a:extLst>
              <a:ext uri="{FF2B5EF4-FFF2-40B4-BE49-F238E27FC236}">
                <a16:creationId xmlns:a16="http://schemas.microsoft.com/office/drawing/2014/main" id="{C8A63C88-C02D-B996-8FEF-3BA87AB94554}"/>
              </a:ext>
            </a:extLst>
          </p:cNvPr>
          <p:cNvSpPr txBox="1"/>
          <p:nvPr/>
        </p:nvSpPr>
        <p:spPr>
          <a:xfrm>
            <a:off x="7613650" y="9151926"/>
            <a:ext cx="11890526" cy="1077218"/>
          </a:xfrm>
          <a:prstGeom prst="rect">
            <a:avLst/>
          </a:prstGeom>
          <a:noFill/>
        </p:spPr>
        <p:txBody>
          <a:bodyPr wrap="square" rtlCol="0">
            <a:spAutoFit/>
          </a:bodyPr>
          <a:lstStyle/>
          <a:p>
            <a:r>
              <a:rPr lang="es-CL" sz="3200" b="1" i="1" dirty="0"/>
              <a:t>¿Pero que pasa cuando los datos se encuentran mezclados</a:t>
            </a:r>
          </a:p>
          <a:p>
            <a:r>
              <a:rPr lang="es-CL" sz="3200" b="1" i="1" dirty="0"/>
              <a:t> y no podemos identificar a que entidad pertenecen?...</a:t>
            </a:r>
          </a:p>
        </p:txBody>
      </p:sp>
    </p:spTree>
    <p:extLst>
      <p:ext uri="{BB962C8B-B14F-4D97-AF65-F5344CB8AC3E}">
        <p14:creationId xmlns:p14="http://schemas.microsoft.com/office/powerpoint/2010/main" val="2965700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1822450" y="7559675"/>
            <a:ext cx="12725400" cy="1015663"/>
          </a:xfrm>
        </p:spPr>
        <p:txBody>
          <a:bodyPr/>
          <a:lstStyle/>
          <a:p>
            <a:pPr algn="r"/>
            <a:r>
              <a:rPr lang="es-CL" sz="6600" dirty="0"/>
              <a:t>NORMALIZACIÓN</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02</a:t>
            </a:r>
          </a:p>
        </p:txBody>
      </p:sp>
    </p:spTree>
    <p:extLst>
      <p:ext uri="{BB962C8B-B14F-4D97-AF65-F5344CB8AC3E}">
        <p14:creationId xmlns:p14="http://schemas.microsoft.com/office/powerpoint/2010/main" val="3117571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¿QUÉ ES NORMALIZACIÓN?</a:t>
            </a:r>
          </a:p>
        </p:txBody>
      </p:sp>
      <p:sp>
        <p:nvSpPr>
          <p:cNvPr id="4" name="CuadroTexto 3">
            <a:extLst>
              <a:ext uri="{FF2B5EF4-FFF2-40B4-BE49-F238E27FC236}">
                <a16:creationId xmlns:a16="http://schemas.microsoft.com/office/drawing/2014/main" id="{49CAB5BC-5A14-4039-B5DE-FC66EF176185}"/>
              </a:ext>
            </a:extLst>
          </p:cNvPr>
          <p:cNvSpPr txBox="1"/>
          <p:nvPr/>
        </p:nvSpPr>
        <p:spPr>
          <a:xfrm>
            <a:off x="1113946" y="1997075"/>
            <a:ext cx="17624904" cy="6586418"/>
          </a:xfrm>
          <a:prstGeom prst="rect">
            <a:avLst/>
          </a:prstGeom>
          <a:noFill/>
        </p:spPr>
        <p:txBody>
          <a:bodyPr wrap="square">
            <a:spAutoFit/>
          </a:bodyPr>
          <a:lstStyle/>
          <a:p>
            <a:pPr algn="just" rtl="0" fontAlgn="base">
              <a:spcBef>
                <a:spcPts val="1000"/>
              </a:spcBef>
              <a:spcAft>
                <a:spcPts val="0"/>
              </a:spcAft>
            </a:pPr>
            <a:r>
              <a:rPr lang="es-ES" sz="4400" b="0" i="0" u="none" strike="noStrike" dirty="0">
                <a:solidFill>
                  <a:srgbClr val="818990"/>
                </a:solidFill>
                <a:effectLst/>
                <a:latin typeface="Calibri" panose="020F0502020204030204" pitchFamily="34" charset="0"/>
              </a:rPr>
              <a:t>La normalización es la aplicación de una serie de </a:t>
            </a:r>
            <a:r>
              <a:rPr lang="es-ES" sz="4400" b="1" i="0" u="none" strike="noStrike" dirty="0">
                <a:solidFill>
                  <a:schemeClr val="tx1"/>
                </a:solidFill>
                <a:effectLst/>
                <a:latin typeface="Calibri" panose="020F0502020204030204" pitchFamily="34" charset="0"/>
              </a:rPr>
              <a:t>reglas</a:t>
            </a:r>
            <a:r>
              <a:rPr lang="es-ES" sz="4400" b="0" i="0" u="none" strike="noStrike" dirty="0">
                <a:solidFill>
                  <a:srgbClr val="818990"/>
                </a:solidFill>
                <a:effectLst/>
                <a:latin typeface="Calibri" panose="020F0502020204030204" pitchFamily="34" charset="0"/>
              </a:rPr>
              <a:t> que minimiza los riesgos asociados a la redundancia, inconsistencia e integridad de los datos.</a:t>
            </a:r>
          </a:p>
          <a:p>
            <a:pPr algn="just" rtl="0" fontAlgn="base">
              <a:spcBef>
                <a:spcPts val="1000"/>
              </a:spcBef>
              <a:spcAft>
                <a:spcPts val="0"/>
              </a:spcAft>
            </a:pPr>
            <a:r>
              <a:rPr lang="es-ES" sz="4400" b="0" i="0" u="none" strike="noStrike" dirty="0">
                <a:solidFill>
                  <a:srgbClr val="818990"/>
                </a:solidFill>
                <a:effectLst/>
                <a:latin typeface="Calibri" panose="020F0502020204030204" pitchFamily="34" charset="0"/>
              </a:rPr>
              <a:t>La normalización de un modelo de entidad relación es uno de los pasos tal vez más importante en el desarrollo de una base de datos, debido a que permitirá evitar que se almacenen </a:t>
            </a:r>
            <a:r>
              <a:rPr lang="es-ES" sz="4400" b="1" i="0" u="none" strike="noStrike" dirty="0">
                <a:solidFill>
                  <a:schemeClr val="tx1"/>
                </a:solidFill>
                <a:effectLst/>
                <a:latin typeface="Calibri" panose="020F0502020204030204" pitchFamily="34" charset="0"/>
              </a:rPr>
              <a:t>datos duplicados </a:t>
            </a:r>
            <a:r>
              <a:rPr lang="es-ES" sz="4400" b="0" i="0" u="none" strike="noStrike" dirty="0">
                <a:solidFill>
                  <a:srgbClr val="818990"/>
                </a:solidFill>
                <a:effectLst/>
                <a:latin typeface="Calibri" panose="020F0502020204030204" pitchFamily="34" charset="0"/>
              </a:rPr>
              <a:t>o </a:t>
            </a:r>
            <a:r>
              <a:rPr lang="es-ES" sz="4400" b="1" i="0" u="none" strike="noStrike" dirty="0">
                <a:solidFill>
                  <a:schemeClr val="tx1"/>
                </a:solidFill>
                <a:effectLst/>
                <a:latin typeface="Calibri" panose="020F0502020204030204" pitchFamily="34" charset="0"/>
              </a:rPr>
              <a:t>datos de información sin relación </a:t>
            </a:r>
            <a:r>
              <a:rPr lang="es-ES" sz="4400" b="0" i="0" u="none" strike="noStrike" dirty="0">
                <a:solidFill>
                  <a:srgbClr val="818990"/>
                </a:solidFill>
                <a:effectLst/>
                <a:latin typeface="Calibri" panose="020F0502020204030204" pitchFamily="34" charset="0"/>
              </a:rPr>
              <a:t>dentro de la estructura del negocio.</a:t>
            </a:r>
          </a:p>
          <a:p>
            <a:pPr algn="just" rtl="0" fontAlgn="base">
              <a:spcBef>
                <a:spcPts val="1000"/>
              </a:spcBef>
              <a:spcAft>
                <a:spcPts val="0"/>
              </a:spcAft>
            </a:pPr>
            <a:r>
              <a:rPr lang="es-ES" sz="4400" b="0" i="0" u="none" strike="noStrike" dirty="0">
                <a:solidFill>
                  <a:srgbClr val="818990"/>
                </a:solidFill>
                <a:effectLst/>
                <a:latin typeface="Calibri" panose="020F0502020204030204" pitchFamily="34" charset="0"/>
              </a:rPr>
              <a:t>El objetivo de aplicar la Normalización en el Modelo Conceptual(lógico) es que al transformarlo al Modelo Relacional ambos modelos sean coherentes y estén de acuerdo a la lógica del negocio.</a:t>
            </a:r>
          </a:p>
          <a:p>
            <a:pPr algn="just" rtl="0" fontAlgn="base">
              <a:spcBef>
                <a:spcPts val="1000"/>
              </a:spcBef>
              <a:spcAft>
                <a:spcPts val="0"/>
              </a:spcAft>
            </a:pPr>
            <a:endParaRPr lang="es-ES" sz="100" dirty="0">
              <a:solidFill>
                <a:srgbClr val="818990"/>
              </a:solidFill>
              <a:latin typeface="Calibri" panose="020F0502020204030204" pitchFamily="34" charset="0"/>
            </a:endParaRPr>
          </a:p>
        </p:txBody>
      </p:sp>
    </p:spTree>
    <p:extLst>
      <p:ext uri="{BB962C8B-B14F-4D97-AF65-F5344CB8AC3E}">
        <p14:creationId xmlns:p14="http://schemas.microsoft.com/office/powerpoint/2010/main" val="214962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¿QUÉ ES NORMALIZACIÓN?</a:t>
            </a:r>
          </a:p>
        </p:txBody>
      </p:sp>
      <p:sp>
        <p:nvSpPr>
          <p:cNvPr id="5" name="TextBox 4">
            <a:extLst>
              <a:ext uri="{FF2B5EF4-FFF2-40B4-BE49-F238E27FC236}">
                <a16:creationId xmlns:a16="http://schemas.microsoft.com/office/drawing/2014/main" id="{38CB524A-C83E-C48F-B907-DBB76449B1F9}"/>
              </a:ext>
            </a:extLst>
          </p:cNvPr>
          <p:cNvSpPr txBox="1"/>
          <p:nvPr/>
        </p:nvSpPr>
        <p:spPr>
          <a:xfrm>
            <a:off x="1670050" y="2057531"/>
            <a:ext cx="16002000" cy="8504892"/>
          </a:xfrm>
          <a:prstGeom prst="rect">
            <a:avLst/>
          </a:prstGeom>
          <a:noFill/>
        </p:spPr>
        <p:txBody>
          <a:bodyPr wrap="square">
            <a:spAutoFit/>
          </a:bodyPr>
          <a:lstStyle/>
          <a:p>
            <a:pPr algn="just" rtl="0" fontAlgn="base">
              <a:spcBef>
                <a:spcPts val="1000"/>
              </a:spcBef>
              <a:spcAft>
                <a:spcPts val="0"/>
              </a:spcAft>
            </a:pPr>
            <a:r>
              <a:rPr lang="es-ES" sz="4000" b="1" i="0" u="none" strike="noStrike" dirty="0">
                <a:solidFill>
                  <a:schemeClr val="tx1"/>
                </a:solidFill>
                <a:effectLst/>
                <a:latin typeface="Calibri" panose="020F0502020204030204" pitchFamily="34" charset="0"/>
              </a:rPr>
              <a:t>Sus beneficios:</a:t>
            </a:r>
          </a:p>
          <a:p>
            <a:pPr marL="457200" indent="-4572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Corregir registros de datos o información duplicada.</a:t>
            </a:r>
          </a:p>
          <a:p>
            <a:pPr marL="457200" indent="-4572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Evitar la creación, actualización o eliminación de relaciones no deseadas.</a:t>
            </a:r>
          </a:p>
          <a:p>
            <a:pPr marL="457200" indent="-4572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Prevenir la eliminación de datos incorrectamente.</a:t>
            </a:r>
          </a:p>
          <a:p>
            <a:pPr marL="457200" indent="-4572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Optimización del espacio de almacenamiento, al obtener un modelo mejor estructurado</a:t>
            </a:r>
          </a:p>
          <a:p>
            <a:pPr marL="457200" indent="-4572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Minimizar los tiempos de revisión de los datos y sus procesos.</a:t>
            </a:r>
          </a:p>
          <a:p>
            <a:pPr marL="457200" indent="-457200" algn="just" rtl="0" fontAlgn="base">
              <a:spcBef>
                <a:spcPts val="1000"/>
              </a:spcBef>
              <a:spcAft>
                <a:spcPts val="0"/>
              </a:spcAft>
              <a:buFont typeface="Arial" panose="020B0604020202020204" pitchFamily="34" charset="0"/>
              <a:buChar char="•"/>
            </a:pPr>
            <a:r>
              <a:rPr lang="es-ES" sz="4000" b="0" i="0" u="none" strike="noStrike" dirty="0">
                <a:solidFill>
                  <a:srgbClr val="818990"/>
                </a:solidFill>
                <a:effectLst/>
                <a:latin typeface="Calibri" panose="020F0502020204030204" pitchFamily="34" charset="0"/>
              </a:rPr>
              <a:t>Facilitar la interpretación de los datos al tener un modelo mejor estructurado.</a:t>
            </a:r>
          </a:p>
          <a:p>
            <a:pPr marL="457200" indent="-457200" algn="just" rtl="0" fontAlgn="base">
              <a:spcBef>
                <a:spcPts val="1000"/>
              </a:spcBef>
              <a:spcAft>
                <a:spcPts val="0"/>
              </a:spcAft>
              <a:buFont typeface="Arial" panose="020B0604020202020204" pitchFamily="34" charset="0"/>
              <a:buChar char="•"/>
            </a:pPr>
            <a:endParaRPr lang="es-CL" sz="4000" dirty="0">
              <a:solidFill>
                <a:srgbClr val="818990"/>
              </a:solidFill>
              <a:latin typeface="Calibri" panose="020F0502020204030204" pitchFamily="34" charset="0"/>
            </a:endParaRPr>
          </a:p>
          <a:p>
            <a:pPr marL="457200" indent="-457200" algn="just" rtl="0" fontAlgn="base">
              <a:spcBef>
                <a:spcPts val="1000"/>
              </a:spcBef>
              <a:spcAft>
                <a:spcPts val="0"/>
              </a:spcAft>
              <a:buFont typeface="Arial" panose="020B0604020202020204" pitchFamily="34" charset="0"/>
              <a:buChar char="•"/>
            </a:pPr>
            <a:r>
              <a:rPr lang="es-CL" sz="4000" dirty="0">
                <a:solidFill>
                  <a:srgbClr val="818990"/>
                </a:solidFill>
                <a:latin typeface="Calibri" panose="020F0502020204030204" pitchFamily="34" charset="0"/>
              </a:rPr>
              <a:t>Normalizar lleva una serie de pasos que se les denomina </a:t>
            </a:r>
            <a:r>
              <a:rPr lang="es-CL" sz="4000" b="1" dirty="0">
                <a:solidFill>
                  <a:schemeClr val="tx1"/>
                </a:solidFill>
                <a:latin typeface="Calibri" panose="020F0502020204030204" pitchFamily="34" charset="0"/>
              </a:rPr>
              <a:t>Formas Normales.</a:t>
            </a:r>
            <a:endParaRPr lang="es-ES" sz="4000" b="1" dirty="0">
              <a:solidFill>
                <a:schemeClr val="tx1"/>
              </a:solidFill>
              <a:latin typeface="Calibri" panose="020F0502020204030204" pitchFamily="34" charset="0"/>
            </a:endParaRPr>
          </a:p>
        </p:txBody>
      </p:sp>
    </p:spTree>
    <p:extLst>
      <p:ext uri="{BB962C8B-B14F-4D97-AF65-F5344CB8AC3E}">
        <p14:creationId xmlns:p14="http://schemas.microsoft.com/office/powerpoint/2010/main" val="1794228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4FE4634-98DF-A44A-92BF-86BBAE37A404}"/>
              </a:ext>
            </a:extLst>
          </p:cNvPr>
          <p:cNvSpPr txBox="1">
            <a:spLocks/>
          </p:cNvSpPr>
          <p:nvPr/>
        </p:nvSpPr>
        <p:spPr>
          <a:xfrm>
            <a:off x="8159750" y="6250622"/>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l"/>
            <a:r>
              <a:rPr lang="es-CL" sz="9600" dirty="0">
                <a:solidFill>
                  <a:srgbClr val="257CE1"/>
                </a:solidFill>
                <a:latin typeface="Arial Black" panose="020B0604020202020204" pitchFamily="34" charset="0"/>
                <a:cs typeface="Arial Black" panose="020B0604020202020204" pitchFamily="34" charset="0"/>
              </a:rPr>
              <a:t>03</a:t>
            </a:r>
          </a:p>
        </p:txBody>
      </p:sp>
      <p:sp>
        <p:nvSpPr>
          <p:cNvPr id="4" name="Título 1">
            <a:extLst>
              <a:ext uri="{FF2B5EF4-FFF2-40B4-BE49-F238E27FC236}">
                <a16:creationId xmlns:a16="http://schemas.microsoft.com/office/drawing/2014/main" id="{8B7ACE31-74A9-95B3-1599-372FB822D0E6}"/>
              </a:ext>
            </a:extLst>
          </p:cNvPr>
          <p:cNvSpPr txBox="1">
            <a:spLocks/>
          </p:cNvSpPr>
          <p:nvPr/>
        </p:nvSpPr>
        <p:spPr>
          <a:xfrm>
            <a:off x="1517650" y="7712075"/>
            <a:ext cx="8305800" cy="738664"/>
          </a:xfrm>
          <a:prstGeom prst="rect">
            <a:avLst/>
          </a:prstGeom>
        </p:spPr>
        <p:txBody>
          <a:bodyPr wrap="square" lIns="0" tIns="0" rIns="0" bIns="0">
            <a:spAutoFit/>
          </a:bodyPr>
          <a:lstStyle>
            <a:lvl1pPr algn="l">
              <a:defRPr sz="5000" b="1" i="0">
                <a:solidFill>
                  <a:srgbClr val="257CE1"/>
                </a:solidFill>
                <a:latin typeface="Arial"/>
                <a:ea typeface="+mj-ea"/>
                <a:cs typeface="Arial"/>
              </a:defRPr>
            </a:lvl1pPr>
          </a:lstStyle>
          <a:p>
            <a:pPr algn="r"/>
            <a:r>
              <a:rPr lang="es-CL" sz="4800" dirty="0"/>
              <a:t>FORMAS NORMALES</a:t>
            </a:r>
          </a:p>
        </p:txBody>
      </p:sp>
    </p:spTree>
    <p:extLst>
      <p:ext uri="{BB962C8B-B14F-4D97-AF65-F5344CB8AC3E}">
        <p14:creationId xmlns:p14="http://schemas.microsoft.com/office/powerpoint/2010/main" val="2257653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FORMAS NORMALES</a:t>
            </a:r>
            <a:endParaRPr lang="es-CL" dirty="0"/>
          </a:p>
        </p:txBody>
      </p:sp>
      <p:pic>
        <p:nvPicPr>
          <p:cNvPr id="1026" name="Picture 2">
            <a:extLst>
              <a:ext uri="{FF2B5EF4-FFF2-40B4-BE49-F238E27FC236}">
                <a16:creationId xmlns:a16="http://schemas.microsoft.com/office/drawing/2014/main" id="{272C3069-10FD-839C-D060-3DB05E47B89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198" r="9392"/>
          <a:stretch/>
        </p:blipFill>
        <p:spPr bwMode="auto">
          <a:xfrm>
            <a:off x="11957050" y="1771603"/>
            <a:ext cx="7043799" cy="6652709"/>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BCFAFDB-AE62-E595-D114-B70BD478FFEE}"/>
              </a:ext>
            </a:extLst>
          </p:cNvPr>
          <p:cNvSpPr txBox="1"/>
          <p:nvPr/>
        </p:nvSpPr>
        <p:spPr>
          <a:xfrm>
            <a:off x="527050" y="1616903"/>
            <a:ext cx="12801599" cy="8504892"/>
          </a:xfrm>
          <a:prstGeom prst="rect">
            <a:avLst/>
          </a:prstGeom>
          <a:noFill/>
        </p:spPr>
        <p:txBody>
          <a:bodyPr wrap="square">
            <a:spAutoFit/>
          </a:bodyPr>
          <a:lstStyle/>
          <a:p>
            <a:pPr algn="just" rtl="0" fontAlgn="base">
              <a:spcBef>
                <a:spcPts val="1000"/>
              </a:spcBef>
              <a:spcAft>
                <a:spcPts val="0"/>
              </a:spcAft>
            </a:pPr>
            <a:r>
              <a:rPr lang="es-ES" sz="4000" b="1" i="0" u="none" strike="noStrike" dirty="0">
                <a:solidFill>
                  <a:schemeClr val="tx1"/>
                </a:solidFill>
                <a:effectLst/>
                <a:latin typeface="Calibri" panose="020F0502020204030204" pitchFamily="34" charset="0"/>
              </a:rPr>
              <a:t>Existen 6 Formas Normales:</a:t>
            </a:r>
          </a:p>
          <a:p>
            <a:pPr marL="457200" indent="-457200" algn="just" rtl="0" fontAlgn="base">
              <a:spcBef>
                <a:spcPts val="1000"/>
              </a:spcBef>
              <a:spcAft>
                <a:spcPts val="0"/>
              </a:spcAft>
              <a:buFont typeface="Arial" panose="020B0604020202020204" pitchFamily="34" charset="0"/>
              <a:buChar char="•"/>
            </a:pPr>
            <a:r>
              <a:rPr lang="es-ES" sz="3600" b="0" i="0" u="none" strike="noStrike" dirty="0">
                <a:solidFill>
                  <a:srgbClr val="818990"/>
                </a:solidFill>
                <a:effectLst/>
                <a:latin typeface="Calibri" panose="020F0502020204030204" pitchFamily="34" charset="0"/>
              </a:rPr>
              <a:t>Primera Forma Normal (1FN)</a:t>
            </a:r>
          </a:p>
          <a:p>
            <a:pPr marL="457200" indent="-457200" algn="just" rtl="0" fontAlgn="base">
              <a:spcBef>
                <a:spcPts val="1000"/>
              </a:spcBef>
              <a:spcAft>
                <a:spcPts val="0"/>
              </a:spcAft>
              <a:buFont typeface="Arial" panose="020B0604020202020204" pitchFamily="34" charset="0"/>
              <a:buChar char="•"/>
            </a:pPr>
            <a:r>
              <a:rPr lang="es-ES" sz="3600" b="0" i="0" u="none" strike="noStrike" dirty="0">
                <a:solidFill>
                  <a:srgbClr val="818990"/>
                </a:solidFill>
                <a:effectLst/>
                <a:latin typeface="Calibri" panose="020F0502020204030204" pitchFamily="34" charset="0"/>
              </a:rPr>
              <a:t>Segunda Forma Normal (2FN)</a:t>
            </a:r>
          </a:p>
          <a:p>
            <a:pPr marL="457200" indent="-457200" algn="just" rtl="0" fontAlgn="base">
              <a:spcBef>
                <a:spcPts val="1000"/>
              </a:spcBef>
              <a:spcAft>
                <a:spcPts val="0"/>
              </a:spcAft>
              <a:buFont typeface="Arial" panose="020B0604020202020204" pitchFamily="34" charset="0"/>
              <a:buChar char="•"/>
            </a:pPr>
            <a:r>
              <a:rPr lang="es-ES" sz="3600" b="0" i="0" u="none" strike="noStrike" dirty="0">
                <a:solidFill>
                  <a:srgbClr val="818990"/>
                </a:solidFill>
                <a:effectLst/>
                <a:latin typeface="Calibri" panose="020F0502020204030204" pitchFamily="34" charset="0"/>
              </a:rPr>
              <a:t>Tercera Forma Normal (3FN)</a:t>
            </a:r>
          </a:p>
          <a:p>
            <a:pPr marL="457200" indent="-457200" algn="just" rtl="0" fontAlgn="base">
              <a:spcBef>
                <a:spcPts val="1000"/>
              </a:spcBef>
              <a:spcAft>
                <a:spcPts val="0"/>
              </a:spcAft>
              <a:buFont typeface="Arial" panose="020B0604020202020204" pitchFamily="34" charset="0"/>
              <a:buChar char="•"/>
            </a:pPr>
            <a:r>
              <a:rPr lang="es-ES" sz="3600" b="0" i="0" u="none" strike="noStrike" dirty="0">
                <a:solidFill>
                  <a:srgbClr val="818990"/>
                </a:solidFill>
                <a:effectLst/>
                <a:latin typeface="Calibri" panose="020F0502020204030204" pitchFamily="34" charset="0"/>
              </a:rPr>
              <a:t>La Forma Normal de Boyce-Codd (FNBC)</a:t>
            </a:r>
          </a:p>
          <a:p>
            <a:pPr marL="457200" indent="-457200" algn="just" rtl="0" fontAlgn="base">
              <a:spcBef>
                <a:spcPts val="1000"/>
              </a:spcBef>
              <a:spcAft>
                <a:spcPts val="0"/>
              </a:spcAft>
              <a:buFont typeface="Arial" panose="020B0604020202020204" pitchFamily="34" charset="0"/>
              <a:buChar char="•"/>
            </a:pPr>
            <a:r>
              <a:rPr lang="es-ES" sz="3600" b="0" i="0" u="none" strike="noStrike" dirty="0">
                <a:solidFill>
                  <a:srgbClr val="818990"/>
                </a:solidFill>
                <a:effectLst/>
                <a:latin typeface="Calibri" panose="020F0502020204030204" pitchFamily="34" charset="0"/>
              </a:rPr>
              <a:t>Cuarta Forma Normal (4FN)</a:t>
            </a:r>
          </a:p>
          <a:p>
            <a:pPr marL="457200" indent="-457200" algn="just" rtl="0" fontAlgn="base">
              <a:spcBef>
                <a:spcPts val="1000"/>
              </a:spcBef>
              <a:spcAft>
                <a:spcPts val="0"/>
              </a:spcAft>
              <a:buFont typeface="Arial" panose="020B0604020202020204" pitchFamily="34" charset="0"/>
              <a:buChar char="•"/>
            </a:pPr>
            <a:r>
              <a:rPr lang="es-ES" sz="3600" b="0" i="0" u="none" strike="noStrike" dirty="0">
                <a:solidFill>
                  <a:srgbClr val="818990"/>
                </a:solidFill>
                <a:effectLst/>
                <a:latin typeface="Calibri" panose="020F0502020204030204" pitchFamily="34" charset="0"/>
              </a:rPr>
              <a:t>Quinta Forma Normal (5FN)</a:t>
            </a:r>
            <a:endParaRPr lang="es-ES" sz="3600" dirty="0">
              <a:solidFill>
                <a:srgbClr val="818990"/>
              </a:solidFill>
              <a:latin typeface="Calibri" panose="020F0502020204030204" pitchFamily="34" charset="0"/>
            </a:endParaRPr>
          </a:p>
          <a:p>
            <a:pPr algn="just" rtl="0" fontAlgn="base">
              <a:spcBef>
                <a:spcPts val="1000"/>
              </a:spcBef>
              <a:spcAft>
                <a:spcPts val="0"/>
              </a:spcAft>
            </a:pPr>
            <a:endParaRPr lang="es-ES" sz="4400" dirty="0">
              <a:solidFill>
                <a:srgbClr val="818990"/>
              </a:solidFill>
              <a:latin typeface="Calibri" panose="020F0502020204030204" pitchFamily="34" charset="0"/>
            </a:endParaRPr>
          </a:p>
          <a:p>
            <a:pPr algn="just" rtl="0" fontAlgn="base">
              <a:spcBef>
                <a:spcPts val="1000"/>
              </a:spcBef>
              <a:spcAft>
                <a:spcPts val="0"/>
              </a:spcAft>
            </a:pPr>
            <a:r>
              <a:rPr lang="es-ES" sz="3600" dirty="0">
                <a:solidFill>
                  <a:srgbClr val="818990"/>
                </a:solidFill>
                <a:latin typeface="Calibri" panose="020F0502020204030204" pitchFamily="34" charset="0"/>
              </a:rPr>
              <a:t>Se usan principalmente las 3 primeras formas (1FN, 2FN, 3FN) porque logran un excelente equilibrio entre la integridad de los datos y el rendimiento, Las formas superiores (FNBC, 4FN, 5FN) se reservan para diseños muy específicos que requieren una rigurosidad extrema, como en sistemas críticos o académicos. </a:t>
            </a:r>
          </a:p>
        </p:txBody>
      </p:sp>
    </p:spTree>
    <p:extLst>
      <p:ext uri="{BB962C8B-B14F-4D97-AF65-F5344CB8AC3E}">
        <p14:creationId xmlns:p14="http://schemas.microsoft.com/office/powerpoint/2010/main" val="717399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1ª FORMA NORMAL</a:t>
            </a:r>
            <a:endParaRPr lang="es-CL" dirty="0"/>
          </a:p>
        </p:txBody>
      </p:sp>
      <p:sp>
        <p:nvSpPr>
          <p:cNvPr id="4" name="CuadroTexto 3">
            <a:extLst>
              <a:ext uri="{FF2B5EF4-FFF2-40B4-BE49-F238E27FC236}">
                <a16:creationId xmlns:a16="http://schemas.microsoft.com/office/drawing/2014/main" id="{4B315376-7F0E-684D-C8A0-2F57B7346FCD}"/>
              </a:ext>
            </a:extLst>
          </p:cNvPr>
          <p:cNvSpPr txBox="1"/>
          <p:nvPr/>
        </p:nvSpPr>
        <p:spPr>
          <a:xfrm>
            <a:off x="1535857" y="7586520"/>
            <a:ext cx="17032385" cy="2564805"/>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Una entidad está en 1NF </a:t>
            </a:r>
            <a:r>
              <a:rPr lang="es-ES" sz="3600" b="1" i="0" u="none" strike="noStrike" dirty="0">
                <a:solidFill>
                  <a:schemeClr val="tx1"/>
                </a:solidFill>
                <a:effectLst/>
                <a:latin typeface="Calibri" panose="020F0502020204030204" pitchFamily="34" charset="0"/>
              </a:rPr>
              <a:t>si todos sus valores son atómicos </a:t>
            </a:r>
            <a:r>
              <a:rPr lang="es-ES" sz="3600" b="0" i="0" u="none" strike="noStrike" dirty="0">
                <a:solidFill>
                  <a:srgbClr val="818990"/>
                </a:solidFill>
                <a:effectLst/>
                <a:latin typeface="Calibri" panose="020F0502020204030204" pitchFamily="34" charset="0"/>
              </a:rPr>
              <a:t>(un solo valor por celda), tiene una clave primaria única y no hay filas o columnas duplicadas.</a:t>
            </a:r>
          </a:p>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Esto evita listas múltiples en una celda, como varias fechas de citas medicas en un campo.</a:t>
            </a:r>
          </a:p>
          <a:p>
            <a:pPr algn="just" rtl="0" fontAlgn="base">
              <a:spcBef>
                <a:spcPts val="1000"/>
              </a:spcBef>
              <a:spcAft>
                <a:spcPts val="0"/>
              </a:spcAft>
            </a:pPr>
            <a:r>
              <a:rPr lang="es-ES" sz="3600" dirty="0">
                <a:solidFill>
                  <a:srgbClr val="818990"/>
                </a:solidFill>
                <a:latin typeface="Calibri" panose="020F0502020204030204" pitchFamily="34" charset="0"/>
              </a:rPr>
              <a:t>Para estos casos, se debe dividir el atributo múltiple en una nueva entidad si es necesario,</a:t>
            </a:r>
            <a:endParaRPr lang="es-ES" sz="3600" b="0" i="0" u="none" strike="noStrike" dirty="0">
              <a:solidFill>
                <a:srgbClr val="818990"/>
              </a:solidFill>
              <a:effectLst/>
              <a:latin typeface="Calibri" panose="020F0502020204030204" pitchFamily="34" charset="0"/>
            </a:endParaRPr>
          </a:p>
        </p:txBody>
      </p:sp>
      <p:pic>
        <p:nvPicPr>
          <p:cNvPr id="3" name="Picture 8">
            <a:extLst>
              <a:ext uri="{FF2B5EF4-FFF2-40B4-BE49-F238E27FC236}">
                <a16:creationId xmlns:a16="http://schemas.microsoft.com/office/drawing/2014/main" id="{8774ECB2-2893-4034-BE81-AC87598DE1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298450" y="1683918"/>
            <a:ext cx="5605778" cy="5780051"/>
          </a:xfrm>
          <a:prstGeom prst="rect">
            <a:avLst/>
          </a:prstGeom>
          <a:noFill/>
          <a:ln w="9525">
            <a:noFill/>
            <a:miter lim="800000"/>
            <a:headEnd/>
            <a:tailEnd/>
          </a:ln>
        </p:spPr>
      </p:pic>
      <p:pic>
        <p:nvPicPr>
          <p:cNvPr id="6" name="Picture 10">
            <a:extLst>
              <a:ext uri="{FF2B5EF4-FFF2-40B4-BE49-F238E27FC236}">
                <a16:creationId xmlns:a16="http://schemas.microsoft.com/office/drawing/2014/main" id="{F0D2EC45-841C-424D-AAC0-17F0FD538B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8299450" y="2899963"/>
            <a:ext cx="11290885" cy="4063952"/>
          </a:xfrm>
          <a:prstGeom prst="rect">
            <a:avLst/>
          </a:prstGeom>
          <a:noFill/>
          <a:ln w="9525">
            <a:noFill/>
            <a:miter lim="800000"/>
            <a:headEnd/>
            <a:tailEnd/>
          </a:ln>
        </p:spPr>
      </p:pic>
      <p:sp>
        <p:nvSpPr>
          <p:cNvPr id="8" name="Flecha: a la derecha 7">
            <a:extLst>
              <a:ext uri="{FF2B5EF4-FFF2-40B4-BE49-F238E27FC236}">
                <a16:creationId xmlns:a16="http://schemas.microsoft.com/office/drawing/2014/main" id="{6B3B4A52-3D30-F378-0434-E8BD0FFF0D72}"/>
              </a:ext>
            </a:extLst>
          </p:cNvPr>
          <p:cNvSpPr/>
          <p:nvPr/>
        </p:nvSpPr>
        <p:spPr>
          <a:xfrm>
            <a:off x="5861050" y="4511675"/>
            <a:ext cx="2362200" cy="928332"/>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a:extLst>
              <a:ext uri="{FF2B5EF4-FFF2-40B4-BE49-F238E27FC236}">
                <a16:creationId xmlns:a16="http://schemas.microsoft.com/office/drawing/2014/main" id="{A28E963E-51DB-AB8E-27D0-2100F9D3C6F3}"/>
              </a:ext>
            </a:extLst>
          </p:cNvPr>
          <p:cNvSpPr/>
          <p:nvPr/>
        </p:nvSpPr>
        <p:spPr>
          <a:xfrm>
            <a:off x="984250" y="6363810"/>
            <a:ext cx="3124200" cy="58328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848008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1ª FORMA NORMAL</a:t>
            </a:r>
            <a:endParaRPr lang="es-CL" dirty="0"/>
          </a:p>
        </p:txBody>
      </p:sp>
      <p:sp>
        <p:nvSpPr>
          <p:cNvPr id="4" name="CuadroTexto 3">
            <a:extLst>
              <a:ext uri="{FF2B5EF4-FFF2-40B4-BE49-F238E27FC236}">
                <a16:creationId xmlns:a16="http://schemas.microsoft.com/office/drawing/2014/main" id="{4B315376-7F0E-684D-C8A0-2F57B7346FCD}"/>
              </a:ext>
            </a:extLst>
          </p:cNvPr>
          <p:cNvSpPr txBox="1"/>
          <p:nvPr/>
        </p:nvSpPr>
        <p:spPr>
          <a:xfrm>
            <a:off x="3351212" y="7563334"/>
            <a:ext cx="14168438" cy="2990562"/>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La entidad </a:t>
            </a:r>
            <a:r>
              <a:rPr lang="es-ES" sz="3600" b="1" i="0" u="none" strike="noStrike" dirty="0">
                <a:solidFill>
                  <a:schemeClr val="tx1"/>
                </a:solidFill>
                <a:effectLst/>
                <a:latin typeface="Calibri" panose="020F0502020204030204" pitchFamily="34" charset="0"/>
              </a:rPr>
              <a:t>ALUMNO</a:t>
            </a:r>
            <a:r>
              <a:rPr lang="es-ES" sz="3600" b="0" i="0" u="none" strike="noStrike" dirty="0">
                <a:solidFill>
                  <a:srgbClr val="818990"/>
                </a:solidFill>
                <a:effectLst/>
                <a:latin typeface="Calibri" panose="020F0502020204030204" pitchFamily="34" charset="0"/>
              </a:rPr>
              <a:t> no está en 1FN porque el atributo notas tiene múltiples valores asociados para un alumno. </a:t>
            </a:r>
          </a:p>
          <a:p>
            <a:pPr algn="just" rtl="0" fontAlgn="base">
              <a:spcBef>
                <a:spcPts val="1000"/>
              </a:spcBef>
              <a:spcAft>
                <a:spcPts val="0"/>
              </a:spcAft>
            </a:pPr>
            <a:r>
              <a:rPr lang="es-ES" sz="3600" dirty="0">
                <a:solidFill>
                  <a:srgbClr val="818990"/>
                </a:solidFill>
                <a:latin typeface="Calibri" panose="020F0502020204030204" pitchFamily="34" charset="0"/>
              </a:rPr>
              <a:t>Para resolverlo, se crea una nueva entidad </a:t>
            </a:r>
            <a:r>
              <a:rPr lang="es-ES" sz="3600" b="1" dirty="0">
                <a:solidFill>
                  <a:schemeClr val="tx1"/>
                </a:solidFill>
                <a:latin typeface="Calibri" panose="020F0502020204030204" pitchFamily="34" charset="0"/>
              </a:rPr>
              <a:t>NOTA</a:t>
            </a:r>
            <a:r>
              <a:rPr lang="es-ES" sz="3600" dirty="0">
                <a:solidFill>
                  <a:srgbClr val="818990"/>
                </a:solidFill>
                <a:latin typeface="Calibri" panose="020F0502020204030204" pitchFamily="34" charset="0"/>
              </a:rPr>
              <a:t> que es débil por identificación de la entidad </a:t>
            </a:r>
            <a:r>
              <a:rPr lang="es-ES" sz="3600" b="1" dirty="0">
                <a:solidFill>
                  <a:schemeClr val="tx1"/>
                </a:solidFill>
                <a:latin typeface="Calibri" panose="020F0502020204030204" pitchFamily="34" charset="0"/>
              </a:rPr>
              <a:t>ALUMNO</a:t>
            </a:r>
            <a:r>
              <a:rPr lang="es-ES" sz="3600" dirty="0">
                <a:solidFill>
                  <a:srgbClr val="818990"/>
                </a:solidFill>
                <a:latin typeface="Calibri" panose="020F0502020204030204" pitchFamily="34" charset="0"/>
              </a:rPr>
              <a:t>. La cardinalidad es de uno a muchos entre </a:t>
            </a:r>
            <a:r>
              <a:rPr lang="es-ES" sz="3600" b="1" dirty="0">
                <a:solidFill>
                  <a:schemeClr val="tx1"/>
                </a:solidFill>
                <a:latin typeface="Calibri" panose="020F0502020204030204" pitchFamily="34" charset="0"/>
              </a:rPr>
              <a:t>ALUMNO</a:t>
            </a:r>
            <a:r>
              <a:rPr lang="es-ES" sz="3600" dirty="0">
                <a:solidFill>
                  <a:schemeClr val="tx1"/>
                </a:solidFill>
                <a:latin typeface="Calibri" panose="020F0502020204030204" pitchFamily="34" charset="0"/>
              </a:rPr>
              <a:t> </a:t>
            </a:r>
            <a:r>
              <a:rPr lang="es-ES" sz="3600" dirty="0">
                <a:solidFill>
                  <a:srgbClr val="818990"/>
                </a:solidFill>
                <a:latin typeface="Calibri" panose="020F0502020204030204" pitchFamily="34" charset="0"/>
              </a:rPr>
              <a:t>y </a:t>
            </a:r>
            <a:r>
              <a:rPr lang="es-ES" sz="3600" b="1" dirty="0">
                <a:solidFill>
                  <a:schemeClr val="tx1"/>
                </a:solidFill>
                <a:latin typeface="Calibri" panose="020F0502020204030204" pitchFamily="34" charset="0"/>
              </a:rPr>
              <a:t>NOTA_ALUMNO</a:t>
            </a:r>
            <a:endParaRPr lang="es-ES" sz="3600" b="1" i="0" u="none" strike="noStrike" dirty="0">
              <a:solidFill>
                <a:schemeClr val="tx1"/>
              </a:solidFill>
              <a:effectLst/>
              <a:latin typeface="Calibri" panose="020F0502020204030204" pitchFamily="34" charset="0"/>
            </a:endParaRPr>
          </a:p>
        </p:txBody>
      </p:sp>
      <p:pic>
        <p:nvPicPr>
          <p:cNvPr id="3" name="Picture 8">
            <a:extLst>
              <a:ext uri="{FF2B5EF4-FFF2-40B4-BE49-F238E27FC236}">
                <a16:creationId xmlns:a16="http://schemas.microsoft.com/office/drawing/2014/main" id="{8774ECB2-2893-4034-BE81-AC87598DE1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536035" y="1683918"/>
            <a:ext cx="5130607" cy="5780051"/>
          </a:xfrm>
          <a:prstGeom prst="rect">
            <a:avLst/>
          </a:prstGeom>
          <a:noFill/>
          <a:ln w="9525">
            <a:noFill/>
            <a:miter lim="800000"/>
            <a:headEnd/>
            <a:tailEnd/>
          </a:ln>
        </p:spPr>
      </p:pic>
      <p:pic>
        <p:nvPicPr>
          <p:cNvPr id="6" name="Picture 10">
            <a:extLst>
              <a:ext uri="{FF2B5EF4-FFF2-40B4-BE49-F238E27FC236}">
                <a16:creationId xmlns:a16="http://schemas.microsoft.com/office/drawing/2014/main" id="{F0D2EC45-841C-424D-AAC0-17F0FD538B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8212577" y="2719091"/>
            <a:ext cx="11593073" cy="4307184"/>
          </a:xfrm>
          <a:prstGeom prst="rect">
            <a:avLst/>
          </a:prstGeom>
          <a:noFill/>
          <a:ln w="9525">
            <a:noFill/>
            <a:miter lim="800000"/>
            <a:headEnd/>
            <a:tailEnd/>
          </a:ln>
        </p:spPr>
      </p:pic>
      <p:sp>
        <p:nvSpPr>
          <p:cNvPr id="8" name="Flecha: a la derecha 7">
            <a:extLst>
              <a:ext uri="{FF2B5EF4-FFF2-40B4-BE49-F238E27FC236}">
                <a16:creationId xmlns:a16="http://schemas.microsoft.com/office/drawing/2014/main" id="{6B3B4A52-3D30-F378-0434-E8BD0FFF0D72}"/>
              </a:ext>
            </a:extLst>
          </p:cNvPr>
          <p:cNvSpPr/>
          <p:nvPr/>
        </p:nvSpPr>
        <p:spPr>
          <a:xfrm>
            <a:off x="5784850" y="4573943"/>
            <a:ext cx="2362200" cy="928332"/>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Rectángulo 4">
            <a:extLst>
              <a:ext uri="{FF2B5EF4-FFF2-40B4-BE49-F238E27FC236}">
                <a16:creationId xmlns:a16="http://schemas.microsoft.com/office/drawing/2014/main" id="{7D0863AA-3614-9C2C-BDBB-FE99C35BD323}"/>
              </a:ext>
            </a:extLst>
          </p:cNvPr>
          <p:cNvSpPr/>
          <p:nvPr/>
        </p:nvSpPr>
        <p:spPr>
          <a:xfrm>
            <a:off x="984250" y="6442988"/>
            <a:ext cx="3124200" cy="58328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05647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2ª FORMA NORMAL</a:t>
            </a:r>
            <a:endParaRPr lang="es-CL" dirty="0"/>
          </a:p>
        </p:txBody>
      </p:sp>
      <p:sp>
        <p:nvSpPr>
          <p:cNvPr id="4" name="CuadroTexto 3">
            <a:extLst>
              <a:ext uri="{FF2B5EF4-FFF2-40B4-BE49-F238E27FC236}">
                <a16:creationId xmlns:a16="http://schemas.microsoft.com/office/drawing/2014/main" id="{4B315376-7F0E-684D-C8A0-2F57B7346FCD}"/>
              </a:ext>
            </a:extLst>
          </p:cNvPr>
          <p:cNvSpPr txBox="1"/>
          <p:nvPr/>
        </p:nvSpPr>
        <p:spPr>
          <a:xfrm>
            <a:off x="457778" y="6950075"/>
            <a:ext cx="19188544" cy="2682786"/>
          </a:xfrm>
          <a:prstGeom prst="rect">
            <a:avLst/>
          </a:prstGeom>
          <a:noFill/>
        </p:spPr>
        <p:txBody>
          <a:bodyPr wrap="square">
            <a:spAutoFit/>
          </a:bodyPr>
          <a:lstStyle/>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Para cumplir la 2FN, </a:t>
            </a:r>
            <a:r>
              <a:rPr lang="es-ES" sz="3200" b="1" i="0" u="none" strike="noStrike" dirty="0">
                <a:solidFill>
                  <a:schemeClr val="tx1"/>
                </a:solidFill>
                <a:effectLst/>
                <a:latin typeface="Calibri" panose="020F0502020204030204" pitchFamily="34" charset="0"/>
              </a:rPr>
              <a:t>si o si </a:t>
            </a:r>
            <a:r>
              <a:rPr lang="es-ES" sz="3200" b="0" i="0" u="none" strike="noStrike" dirty="0">
                <a:solidFill>
                  <a:srgbClr val="818990"/>
                </a:solidFill>
                <a:effectLst/>
                <a:latin typeface="Calibri" panose="020F0502020204030204" pitchFamily="34" charset="0"/>
              </a:rPr>
              <a:t>se debe aplicar la 1NF, </a:t>
            </a:r>
            <a:r>
              <a:rPr lang="es-ES" sz="3200" dirty="0">
                <a:solidFill>
                  <a:srgbClr val="818990"/>
                </a:solidFill>
                <a:latin typeface="Calibri" panose="020F0502020204030204" pitchFamily="34" charset="0"/>
              </a:rPr>
              <a:t>además de cumplir</a:t>
            </a:r>
            <a:r>
              <a:rPr lang="es-ES" sz="3200" b="0" i="0" u="none" strike="noStrike" dirty="0">
                <a:solidFill>
                  <a:srgbClr val="818990"/>
                </a:solidFill>
                <a:effectLst/>
                <a:latin typeface="Calibri" panose="020F0502020204030204" pitchFamily="34" charset="0"/>
              </a:rPr>
              <a:t> que todos los atributos no clave(ni primaria ni foránea) dependan completamente de la clave primaria correspondiente a la entidad, eliminando dependencias parciales desde otros atributos.</a:t>
            </a:r>
          </a:p>
          <a:p>
            <a:pPr algn="just" rtl="0" fontAlgn="base">
              <a:spcBef>
                <a:spcPts val="1000"/>
              </a:spcBef>
              <a:spcAft>
                <a:spcPts val="0"/>
              </a:spcAft>
            </a:pPr>
            <a:r>
              <a:rPr lang="es-ES" sz="3200" b="0" i="0" u="none" strike="noStrike" dirty="0">
                <a:solidFill>
                  <a:srgbClr val="818990"/>
                </a:solidFill>
                <a:effectLst/>
                <a:latin typeface="Calibri" panose="020F0502020204030204" pitchFamily="34" charset="0"/>
              </a:rPr>
              <a:t>Por ejemplo, en el caso planteado, el atributo </a:t>
            </a:r>
            <a:r>
              <a:rPr lang="es-ES" sz="3200" b="1" i="0" u="none" strike="noStrike" dirty="0">
                <a:solidFill>
                  <a:schemeClr val="tx1"/>
                </a:solidFill>
                <a:effectLst/>
                <a:latin typeface="Calibri" panose="020F0502020204030204" pitchFamily="34" charset="0"/>
              </a:rPr>
              <a:t>cargo</a:t>
            </a:r>
            <a:r>
              <a:rPr lang="es-ES" sz="3200" b="0" i="0" u="none" strike="noStrike" dirty="0">
                <a:solidFill>
                  <a:srgbClr val="818990"/>
                </a:solidFill>
                <a:effectLst/>
                <a:latin typeface="Calibri" panose="020F0502020204030204" pitchFamily="34" charset="0"/>
              </a:rPr>
              <a:t> depende de </a:t>
            </a:r>
            <a:r>
              <a:rPr lang="es-ES" sz="3200" b="0" i="0" u="none" strike="noStrike" dirty="0" err="1">
                <a:solidFill>
                  <a:srgbClr val="818990"/>
                </a:solidFill>
                <a:effectLst/>
                <a:latin typeface="Calibri" panose="020F0502020204030204" pitchFamily="34" charset="0"/>
              </a:rPr>
              <a:t>run_empleado</a:t>
            </a:r>
            <a:r>
              <a:rPr lang="es-ES" sz="3200" b="0" i="0" u="none" strike="noStrike" dirty="0">
                <a:solidFill>
                  <a:srgbClr val="818990"/>
                </a:solidFill>
                <a:effectLst/>
                <a:latin typeface="Calibri" panose="020F0502020204030204" pitchFamily="34" charset="0"/>
              </a:rPr>
              <a:t> y </a:t>
            </a:r>
            <a:r>
              <a:rPr lang="es-ES" sz="3200" b="0" i="0" u="none" strike="noStrike" dirty="0" err="1">
                <a:solidFill>
                  <a:srgbClr val="818990"/>
                </a:solidFill>
                <a:effectLst/>
                <a:latin typeface="Calibri" panose="020F0502020204030204" pitchFamily="34" charset="0"/>
              </a:rPr>
              <a:t>codigo</a:t>
            </a:r>
            <a:r>
              <a:rPr lang="es-ES" sz="3200" b="0" i="0" u="none" strike="noStrike" dirty="0">
                <a:solidFill>
                  <a:srgbClr val="818990"/>
                </a:solidFill>
                <a:effectLst/>
                <a:latin typeface="Calibri" panose="020F0502020204030204" pitchFamily="34" charset="0"/>
              </a:rPr>
              <a:t>, por lo cual se separa esta dependencia parcial y se crea una nueva entidad llamada </a:t>
            </a:r>
            <a:r>
              <a:rPr lang="es-ES" sz="3200" b="1" i="0" u="none" strike="noStrike" dirty="0">
                <a:solidFill>
                  <a:schemeClr val="tx1"/>
                </a:solidFill>
                <a:effectLst/>
                <a:latin typeface="Calibri" panose="020F0502020204030204" pitchFamily="34" charset="0"/>
              </a:rPr>
              <a:t>CARGO</a:t>
            </a:r>
          </a:p>
        </p:txBody>
      </p:sp>
      <p:sp>
        <p:nvSpPr>
          <p:cNvPr id="10" name="Flecha: a la derecha 9">
            <a:extLst>
              <a:ext uri="{FF2B5EF4-FFF2-40B4-BE49-F238E27FC236}">
                <a16:creationId xmlns:a16="http://schemas.microsoft.com/office/drawing/2014/main" id="{BB58D953-1350-999F-8DBF-4BFDF1F3D546}"/>
              </a:ext>
            </a:extLst>
          </p:cNvPr>
          <p:cNvSpPr/>
          <p:nvPr/>
        </p:nvSpPr>
        <p:spPr>
          <a:xfrm>
            <a:off x="6394450" y="3613491"/>
            <a:ext cx="2362200" cy="928332"/>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 name="Picture 5">
            <a:extLst>
              <a:ext uri="{FF2B5EF4-FFF2-40B4-BE49-F238E27FC236}">
                <a16:creationId xmlns:a16="http://schemas.microsoft.com/office/drawing/2014/main" id="{885F84D2-3A9B-1B61-8D10-F27B47EE48DD}"/>
              </a:ext>
            </a:extLst>
          </p:cNvPr>
          <p:cNvPicPr>
            <a:picLocks noChangeAspect="1"/>
          </p:cNvPicPr>
          <p:nvPr/>
        </p:nvPicPr>
        <p:blipFill>
          <a:blip r:embed="rId3"/>
          <a:stretch>
            <a:fillRect/>
          </a:stretch>
        </p:blipFill>
        <p:spPr>
          <a:xfrm>
            <a:off x="727227" y="2168932"/>
            <a:ext cx="5607332" cy="3952514"/>
          </a:xfrm>
          <a:prstGeom prst="rect">
            <a:avLst/>
          </a:prstGeom>
        </p:spPr>
      </p:pic>
      <p:pic>
        <p:nvPicPr>
          <p:cNvPr id="13" name="Picture 12">
            <a:extLst>
              <a:ext uri="{FF2B5EF4-FFF2-40B4-BE49-F238E27FC236}">
                <a16:creationId xmlns:a16="http://schemas.microsoft.com/office/drawing/2014/main" id="{09D95BB6-4199-DF69-53E9-2D825E6D618E}"/>
              </a:ext>
            </a:extLst>
          </p:cNvPr>
          <p:cNvPicPr>
            <a:picLocks noChangeAspect="1"/>
          </p:cNvPicPr>
          <p:nvPr/>
        </p:nvPicPr>
        <p:blipFill>
          <a:blip r:embed="rId4"/>
          <a:stretch>
            <a:fillRect/>
          </a:stretch>
        </p:blipFill>
        <p:spPr>
          <a:xfrm>
            <a:off x="8940819" y="3129787"/>
            <a:ext cx="11218647" cy="2372488"/>
          </a:xfrm>
          <a:prstGeom prst="rect">
            <a:avLst/>
          </a:prstGeom>
        </p:spPr>
      </p:pic>
    </p:spTree>
    <p:extLst>
      <p:ext uri="{BB962C8B-B14F-4D97-AF65-F5344CB8AC3E}">
        <p14:creationId xmlns:p14="http://schemas.microsoft.com/office/powerpoint/2010/main" val="3761602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2ª FORMA NORMAL</a:t>
            </a:r>
            <a:endParaRPr lang="es-CL" dirty="0"/>
          </a:p>
        </p:txBody>
      </p:sp>
      <p:sp>
        <p:nvSpPr>
          <p:cNvPr id="4" name="CuadroTexto 3">
            <a:extLst>
              <a:ext uri="{FF2B5EF4-FFF2-40B4-BE49-F238E27FC236}">
                <a16:creationId xmlns:a16="http://schemas.microsoft.com/office/drawing/2014/main" id="{4B315376-7F0E-684D-C8A0-2F57B7346FCD}"/>
              </a:ext>
            </a:extLst>
          </p:cNvPr>
          <p:cNvSpPr txBox="1"/>
          <p:nvPr/>
        </p:nvSpPr>
        <p:spPr>
          <a:xfrm>
            <a:off x="1060450" y="7159913"/>
            <a:ext cx="18364200" cy="2990562"/>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En este caso, </a:t>
            </a:r>
            <a:r>
              <a:rPr lang="es-ES" sz="3600" dirty="0">
                <a:solidFill>
                  <a:srgbClr val="818990"/>
                </a:solidFill>
                <a:latin typeface="Calibri" panose="020F0502020204030204" pitchFamily="34" charset="0"/>
              </a:rPr>
              <a:t>e</a:t>
            </a:r>
            <a:r>
              <a:rPr lang="es-ES" sz="3600" b="0" i="0" u="none" strike="noStrike" dirty="0">
                <a:solidFill>
                  <a:srgbClr val="818990"/>
                </a:solidFill>
                <a:effectLst/>
                <a:latin typeface="Calibri" panose="020F0502020204030204" pitchFamily="34" charset="0"/>
              </a:rPr>
              <a:t>l atributo </a:t>
            </a:r>
            <a:r>
              <a:rPr lang="es-ES" sz="3600" b="0" i="0" u="none" strike="noStrike" dirty="0" err="1">
                <a:solidFill>
                  <a:srgbClr val="818990"/>
                </a:solidFill>
                <a:effectLst/>
                <a:latin typeface="Calibri" panose="020F0502020204030204" pitchFamily="34" charset="0"/>
              </a:rPr>
              <a:t>localizacion</a:t>
            </a:r>
            <a:r>
              <a:rPr lang="es-ES" sz="3600" b="0" i="0" u="none" strike="noStrike" dirty="0">
                <a:solidFill>
                  <a:srgbClr val="818990"/>
                </a:solidFill>
                <a:effectLst/>
                <a:latin typeface="Calibri" panose="020F0502020204030204" pitchFamily="34" charset="0"/>
              </a:rPr>
              <a:t> está mal ubicado porque depende del código de la entidad BANCO y no del </a:t>
            </a:r>
            <a:r>
              <a:rPr lang="es-ES" sz="3600" b="0" i="0" u="none" strike="noStrike" dirty="0" err="1">
                <a:solidFill>
                  <a:srgbClr val="818990"/>
                </a:solidFill>
                <a:effectLst/>
                <a:latin typeface="Calibri" panose="020F0502020204030204" pitchFamily="34" charset="0"/>
              </a:rPr>
              <a:t>numero_cuenta</a:t>
            </a:r>
            <a:r>
              <a:rPr lang="es-ES" sz="3600" b="0" i="0" u="none" strike="noStrike" dirty="0">
                <a:solidFill>
                  <a:srgbClr val="818990"/>
                </a:solidFill>
                <a:effectLst/>
                <a:latin typeface="Calibri" panose="020F0502020204030204" pitchFamily="34" charset="0"/>
              </a:rPr>
              <a:t> de la entidad CUENTA. Por lo tanto, no debe ser atributo de CUENTA sino que debe ser atributo de BANCO.</a:t>
            </a:r>
          </a:p>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Si un atributo no depende completamente del identificador único, debe ser reubicado a otra entidad o crear una nueva entidad con esos atributos.</a:t>
            </a:r>
          </a:p>
        </p:txBody>
      </p:sp>
      <p:pic>
        <p:nvPicPr>
          <p:cNvPr id="8" name="Imagen 7">
            <a:extLst>
              <a:ext uri="{FF2B5EF4-FFF2-40B4-BE49-F238E27FC236}">
                <a16:creationId xmlns:a16="http://schemas.microsoft.com/office/drawing/2014/main" id="{5A500B88-9E22-3FA8-DD19-B52A5BF08FA8}"/>
              </a:ext>
            </a:extLst>
          </p:cNvPr>
          <p:cNvPicPr>
            <a:picLocks noChangeAspect="1"/>
          </p:cNvPicPr>
          <p:nvPr/>
        </p:nvPicPr>
        <p:blipFill>
          <a:blip r:embed="rId3"/>
          <a:stretch>
            <a:fillRect/>
          </a:stretch>
        </p:blipFill>
        <p:spPr>
          <a:xfrm>
            <a:off x="7527839" y="4645786"/>
            <a:ext cx="12090727" cy="2656707"/>
          </a:xfrm>
          <a:prstGeom prst="rect">
            <a:avLst/>
          </a:prstGeom>
        </p:spPr>
      </p:pic>
      <p:sp>
        <p:nvSpPr>
          <p:cNvPr id="11" name="Flecha: doblada hacia arriba 10">
            <a:extLst>
              <a:ext uri="{FF2B5EF4-FFF2-40B4-BE49-F238E27FC236}">
                <a16:creationId xmlns:a16="http://schemas.microsoft.com/office/drawing/2014/main" id="{F5001F7D-9CA0-73E2-C9B9-FE4A61D4CDA2}"/>
              </a:ext>
            </a:extLst>
          </p:cNvPr>
          <p:cNvSpPr/>
          <p:nvPr/>
        </p:nvSpPr>
        <p:spPr>
          <a:xfrm rot="5400000">
            <a:off x="4474646" y="4282587"/>
            <a:ext cx="2010808" cy="2133600"/>
          </a:xfrm>
          <a:prstGeom prst="bentUp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 name="Grupo 2">
            <a:extLst>
              <a:ext uri="{FF2B5EF4-FFF2-40B4-BE49-F238E27FC236}">
                <a16:creationId xmlns:a16="http://schemas.microsoft.com/office/drawing/2014/main" id="{D0EB026F-C07C-8D9F-756A-79B1336A8E07}"/>
              </a:ext>
            </a:extLst>
          </p:cNvPr>
          <p:cNvGrpSpPr/>
          <p:nvPr/>
        </p:nvGrpSpPr>
        <p:grpSpPr>
          <a:xfrm>
            <a:off x="527051" y="1539875"/>
            <a:ext cx="12090727" cy="2798528"/>
            <a:chOff x="527051" y="1783767"/>
            <a:chExt cx="12090727" cy="2798528"/>
          </a:xfrm>
        </p:grpSpPr>
        <p:pic>
          <p:nvPicPr>
            <p:cNvPr id="5" name="Imagen 4">
              <a:extLst>
                <a:ext uri="{FF2B5EF4-FFF2-40B4-BE49-F238E27FC236}">
                  <a16:creationId xmlns:a16="http://schemas.microsoft.com/office/drawing/2014/main" id="{A2B4E317-88EF-F05F-002B-71CB15846F0B}"/>
                </a:ext>
              </a:extLst>
            </p:cNvPr>
            <p:cNvPicPr>
              <a:picLocks noChangeAspect="1"/>
            </p:cNvPicPr>
            <p:nvPr/>
          </p:nvPicPr>
          <p:blipFill>
            <a:blip r:embed="rId4"/>
            <a:stretch>
              <a:fillRect/>
            </a:stretch>
          </p:blipFill>
          <p:spPr>
            <a:xfrm>
              <a:off x="527051" y="1783767"/>
              <a:ext cx="12090727" cy="2798528"/>
            </a:xfrm>
            <a:prstGeom prst="rect">
              <a:avLst/>
            </a:prstGeom>
          </p:spPr>
        </p:pic>
        <p:sp>
          <p:nvSpPr>
            <p:cNvPr id="12" name="Rectángulo 11">
              <a:extLst>
                <a:ext uri="{FF2B5EF4-FFF2-40B4-BE49-F238E27FC236}">
                  <a16:creationId xmlns:a16="http://schemas.microsoft.com/office/drawing/2014/main" id="{BE73057A-F2F6-95B1-0DB7-448234AA9E11}"/>
                </a:ext>
              </a:extLst>
            </p:cNvPr>
            <p:cNvSpPr/>
            <p:nvPr/>
          </p:nvSpPr>
          <p:spPr>
            <a:xfrm>
              <a:off x="8832850" y="3368675"/>
              <a:ext cx="3124200" cy="583287"/>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spTree>
    <p:extLst>
      <p:ext uri="{BB962C8B-B14F-4D97-AF65-F5344CB8AC3E}">
        <p14:creationId xmlns:p14="http://schemas.microsoft.com/office/powerpoint/2010/main" val="1038726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3ª FORMA NORMAL</a:t>
            </a:r>
            <a:endParaRPr lang="es-CL" dirty="0"/>
          </a:p>
        </p:txBody>
      </p:sp>
      <p:sp>
        <p:nvSpPr>
          <p:cNvPr id="4" name="CuadroTexto 3">
            <a:extLst>
              <a:ext uri="{FF2B5EF4-FFF2-40B4-BE49-F238E27FC236}">
                <a16:creationId xmlns:a16="http://schemas.microsoft.com/office/drawing/2014/main" id="{4B315376-7F0E-684D-C8A0-2F57B7346FCD}"/>
              </a:ext>
            </a:extLst>
          </p:cNvPr>
          <p:cNvSpPr txBox="1"/>
          <p:nvPr/>
        </p:nvSpPr>
        <p:spPr>
          <a:xfrm>
            <a:off x="512838" y="1980202"/>
            <a:ext cx="19078423" cy="2436564"/>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Debe estar en 2NF y no tener dependencias transitivas: ningún atributo no clave depende de otro no clave.</a:t>
            </a:r>
          </a:p>
          <a:p>
            <a:pPr algn="just" rtl="0" fontAlgn="base">
              <a:spcBef>
                <a:spcPts val="1000"/>
              </a:spcBef>
              <a:spcAft>
                <a:spcPts val="0"/>
              </a:spcAft>
            </a:pPr>
            <a:r>
              <a:rPr lang="es-ES" sz="3600" dirty="0">
                <a:solidFill>
                  <a:srgbClr val="818990"/>
                </a:solidFill>
                <a:latin typeface="Calibri" panose="020F0502020204030204" pitchFamily="34" charset="0"/>
              </a:rPr>
              <a:t>En el ejemplo nombre editorial no depende de numero, depende de </a:t>
            </a:r>
            <a:r>
              <a:rPr lang="es-ES" sz="3600" dirty="0" err="1">
                <a:solidFill>
                  <a:srgbClr val="818990"/>
                </a:solidFill>
                <a:latin typeface="Calibri" panose="020F0502020204030204" pitchFamily="34" charset="0"/>
              </a:rPr>
              <a:t>codigo_editorial</a:t>
            </a:r>
            <a:r>
              <a:rPr lang="es-ES" sz="3600" dirty="0">
                <a:solidFill>
                  <a:srgbClr val="818990"/>
                </a:solidFill>
                <a:latin typeface="Calibri" panose="020F0502020204030204" pitchFamily="34" charset="0"/>
              </a:rPr>
              <a:t>, por lo cual se separa en una nueva entidad.</a:t>
            </a:r>
            <a:endParaRPr lang="es-ES" sz="3600" b="0" i="0" u="none" strike="noStrike" dirty="0">
              <a:solidFill>
                <a:srgbClr val="818990"/>
              </a:solidFill>
              <a:effectLst/>
              <a:latin typeface="Calibri" panose="020F0502020204030204" pitchFamily="34" charset="0"/>
            </a:endParaRPr>
          </a:p>
        </p:txBody>
      </p:sp>
      <p:grpSp>
        <p:nvGrpSpPr>
          <p:cNvPr id="8" name="Grupo 7">
            <a:extLst>
              <a:ext uri="{FF2B5EF4-FFF2-40B4-BE49-F238E27FC236}">
                <a16:creationId xmlns:a16="http://schemas.microsoft.com/office/drawing/2014/main" id="{4E14353D-66A4-D059-C565-45A7E0AD5656}"/>
              </a:ext>
            </a:extLst>
          </p:cNvPr>
          <p:cNvGrpSpPr>
            <a:grpSpLocks noChangeAspect="1"/>
          </p:cNvGrpSpPr>
          <p:nvPr/>
        </p:nvGrpSpPr>
        <p:grpSpPr>
          <a:xfrm>
            <a:off x="2688242" y="4663539"/>
            <a:ext cx="5001608" cy="3810536"/>
            <a:chOff x="6012835" y="5046034"/>
            <a:chExt cx="5868015" cy="4470618"/>
          </a:xfrm>
        </p:grpSpPr>
        <p:pic>
          <p:nvPicPr>
            <p:cNvPr id="6" name="Imagen 5">
              <a:extLst>
                <a:ext uri="{FF2B5EF4-FFF2-40B4-BE49-F238E27FC236}">
                  <a16:creationId xmlns:a16="http://schemas.microsoft.com/office/drawing/2014/main" id="{34105DD0-8AB5-2497-2948-95715677039D}"/>
                </a:ext>
              </a:extLst>
            </p:cNvPr>
            <p:cNvPicPr>
              <a:picLocks noChangeAspect="1"/>
            </p:cNvPicPr>
            <p:nvPr/>
          </p:nvPicPr>
          <p:blipFill rotWithShape="1">
            <a:blip r:embed="rId3"/>
            <a:srcRect t="3846"/>
            <a:stretch/>
          </p:blipFill>
          <p:spPr>
            <a:xfrm>
              <a:off x="6012835" y="5046034"/>
              <a:ext cx="5868015" cy="4470618"/>
            </a:xfrm>
            <a:prstGeom prst="rect">
              <a:avLst/>
            </a:prstGeom>
          </p:spPr>
        </p:pic>
        <p:sp>
          <p:nvSpPr>
            <p:cNvPr id="7" name="Rectángulo 6">
              <a:extLst>
                <a:ext uri="{FF2B5EF4-FFF2-40B4-BE49-F238E27FC236}">
                  <a16:creationId xmlns:a16="http://schemas.microsoft.com/office/drawing/2014/main" id="{476F4C7B-F668-DA37-516F-DA8B41322DA7}"/>
                </a:ext>
              </a:extLst>
            </p:cNvPr>
            <p:cNvSpPr/>
            <p:nvPr/>
          </p:nvSpPr>
          <p:spPr>
            <a:xfrm>
              <a:off x="6699250" y="6645275"/>
              <a:ext cx="4114800" cy="12192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pic>
        <p:nvPicPr>
          <p:cNvPr id="10" name="Imagen 9">
            <a:extLst>
              <a:ext uri="{FF2B5EF4-FFF2-40B4-BE49-F238E27FC236}">
                <a16:creationId xmlns:a16="http://schemas.microsoft.com/office/drawing/2014/main" id="{20815D34-0094-BD06-BDFA-D30CCFEFB0CE}"/>
              </a:ext>
            </a:extLst>
          </p:cNvPr>
          <p:cNvPicPr>
            <a:picLocks noChangeAspect="1"/>
          </p:cNvPicPr>
          <p:nvPr/>
        </p:nvPicPr>
        <p:blipFill rotWithShape="1">
          <a:blip r:embed="rId4"/>
          <a:srcRect l="2269" t="7645"/>
          <a:stretch/>
        </p:blipFill>
        <p:spPr>
          <a:xfrm>
            <a:off x="5708650" y="8201347"/>
            <a:ext cx="14325600" cy="2939728"/>
          </a:xfrm>
          <a:prstGeom prst="rect">
            <a:avLst/>
          </a:prstGeom>
        </p:spPr>
      </p:pic>
      <p:sp>
        <p:nvSpPr>
          <p:cNvPr id="12" name="Flecha: doblada hacia arriba 11">
            <a:extLst>
              <a:ext uri="{FF2B5EF4-FFF2-40B4-BE49-F238E27FC236}">
                <a16:creationId xmlns:a16="http://schemas.microsoft.com/office/drawing/2014/main" id="{FBCBD2B8-CCE6-5FAB-509D-2F0B5176DE2D}"/>
              </a:ext>
            </a:extLst>
          </p:cNvPr>
          <p:cNvSpPr/>
          <p:nvPr/>
        </p:nvSpPr>
        <p:spPr>
          <a:xfrm rot="10800000" flipH="1">
            <a:off x="10890250" y="5540375"/>
            <a:ext cx="2209800" cy="2171700"/>
          </a:xfrm>
          <a:prstGeom prst="bentUp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524583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3ª FORMA NORMAL</a:t>
            </a:r>
            <a:endParaRPr lang="es-CL" dirty="0"/>
          </a:p>
        </p:txBody>
      </p:sp>
      <p:sp>
        <p:nvSpPr>
          <p:cNvPr id="4" name="CuadroTexto 3">
            <a:extLst>
              <a:ext uri="{FF2B5EF4-FFF2-40B4-BE49-F238E27FC236}">
                <a16:creationId xmlns:a16="http://schemas.microsoft.com/office/drawing/2014/main" id="{4B315376-7F0E-684D-C8A0-2F57B7346FCD}"/>
              </a:ext>
            </a:extLst>
          </p:cNvPr>
          <p:cNvSpPr txBox="1"/>
          <p:nvPr/>
        </p:nvSpPr>
        <p:spPr>
          <a:xfrm>
            <a:off x="512839" y="1694111"/>
            <a:ext cx="19078423" cy="2990562"/>
          </a:xfrm>
          <a:prstGeom prst="rect">
            <a:avLst/>
          </a:prstGeom>
          <a:noFill/>
        </p:spPr>
        <p:txBody>
          <a:bodyPr wrap="square">
            <a:spAutoFit/>
          </a:bodyPr>
          <a:lstStyle/>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El atributo </a:t>
            </a:r>
            <a:r>
              <a:rPr lang="es-ES" sz="3600" b="1" i="0" u="none" strike="noStrike" dirty="0">
                <a:solidFill>
                  <a:srgbClr val="818990"/>
                </a:solidFill>
                <a:effectLst/>
                <a:latin typeface="Calibri" panose="020F0502020204030204" pitchFamily="34" charset="0"/>
              </a:rPr>
              <a:t>modelo</a:t>
            </a:r>
            <a:r>
              <a:rPr lang="es-ES" sz="3600" b="0" i="0" u="none" strike="noStrike" dirty="0">
                <a:solidFill>
                  <a:srgbClr val="818990"/>
                </a:solidFill>
                <a:effectLst/>
                <a:latin typeface="Calibri" panose="020F0502020204030204" pitchFamily="34" charset="0"/>
              </a:rPr>
              <a:t> depende de un atributo que no es identificador único de </a:t>
            </a:r>
            <a:r>
              <a:rPr lang="es-ES" sz="3600" b="1" i="0" u="none" strike="noStrike" dirty="0">
                <a:solidFill>
                  <a:srgbClr val="818990"/>
                </a:solidFill>
                <a:effectLst/>
                <a:latin typeface="Calibri" panose="020F0502020204030204" pitchFamily="34" charset="0"/>
              </a:rPr>
              <a:t>VUELO. </a:t>
            </a:r>
            <a:r>
              <a:rPr lang="es-ES" sz="3600" dirty="0">
                <a:solidFill>
                  <a:srgbClr val="818990"/>
                </a:solidFill>
                <a:latin typeface="Calibri" panose="020F0502020204030204" pitchFamily="34" charset="0"/>
              </a:rPr>
              <a:t>D</a:t>
            </a:r>
            <a:r>
              <a:rPr lang="es-ES" sz="3600" b="0" i="0" u="none" strike="noStrike" dirty="0">
                <a:solidFill>
                  <a:srgbClr val="818990"/>
                </a:solidFill>
                <a:effectLst/>
                <a:latin typeface="Calibri" panose="020F0502020204030204" pitchFamily="34" charset="0"/>
              </a:rPr>
              <a:t>epende del </a:t>
            </a:r>
            <a:r>
              <a:rPr lang="es-ES" sz="3600" b="1" i="0" u="none" strike="noStrike" dirty="0" err="1">
                <a:solidFill>
                  <a:srgbClr val="818990"/>
                </a:solidFill>
                <a:effectLst/>
                <a:latin typeface="Calibri" panose="020F0502020204030204" pitchFamily="34" charset="0"/>
              </a:rPr>
              <a:t>numero_avion</a:t>
            </a:r>
            <a:r>
              <a:rPr lang="es-ES" sz="3600" b="0" i="0" u="none" strike="noStrike" dirty="0">
                <a:solidFill>
                  <a:srgbClr val="818990"/>
                </a:solidFill>
                <a:effectLst/>
                <a:latin typeface="Calibri" panose="020F0502020204030204" pitchFamily="34" charset="0"/>
              </a:rPr>
              <a:t>. Por lo tanto, se crea una nueva entidad </a:t>
            </a:r>
            <a:r>
              <a:rPr lang="es-ES" sz="3600" b="1" i="0" u="none" strike="noStrike" dirty="0">
                <a:solidFill>
                  <a:srgbClr val="818990"/>
                </a:solidFill>
                <a:effectLst/>
                <a:latin typeface="Calibri" panose="020F0502020204030204" pitchFamily="34" charset="0"/>
              </a:rPr>
              <a:t>AVION</a:t>
            </a:r>
            <a:r>
              <a:rPr lang="es-ES" sz="3600" b="0" i="0" u="none" strike="noStrike" dirty="0">
                <a:solidFill>
                  <a:srgbClr val="818990"/>
                </a:solidFill>
                <a:effectLst/>
                <a:latin typeface="Calibri" panose="020F0502020204030204" pitchFamily="34" charset="0"/>
              </a:rPr>
              <a:t> y se reubican los atributos.</a:t>
            </a:r>
          </a:p>
          <a:p>
            <a:pPr algn="just" rtl="0" fontAlgn="base">
              <a:spcBef>
                <a:spcPts val="1000"/>
              </a:spcBef>
              <a:spcAft>
                <a:spcPts val="0"/>
              </a:spcAft>
            </a:pPr>
            <a:r>
              <a:rPr lang="es-ES" sz="3600" b="0" i="0" u="none" strike="noStrike" dirty="0">
                <a:solidFill>
                  <a:srgbClr val="818990"/>
                </a:solidFill>
                <a:effectLst/>
                <a:latin typeface="Calibri" panose="020F0502020204030204" pitchFamily="34" charset="0"/>
              </a:rPr>
              <a:t>Si un atributo que no es Identificador Único depende de otro que tampoco es Identificador Único se deben reubicar ambos en una nueva entidad relacionada con la original, en el cual se puede crear una nueva clave primaria en el caso de ser necesario.</a:t>
            </a:r>
          </a:p>
        </p:txBody>
      </p:sp>
      <p:sp>
        <p:nvSpPr>
          <p:cNvPr id="11" name="Flecha: doblada hacia arriba 10">
            <a:extLst>
              <a:ext uri="{FF2B5EF4-FFF2-40B4-BE49-F238E27FC236}">
                <a16:creationId xmlns:a16="http://schemas.microsoft.com/office/drawing/2014/main" id="{FF137F5C-38D1-D6FF-0069-5758E8290B78}"/>
              </a:ext>
            </a:extLst>
          </p:cNvPr>
          <p:cNvSpPr/>
          <p:nvPr/>
        </p:nvSpPr>
        <p:spPr>
          <a:xfrm rot="10800000" flipH="1">
            <a:off x="6946166" y="5093799"/>
            <a:ext cx="2209800" cy="2171700"/>
          </a:xfrm>
          <a:prstGeom prst="bentUp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7D59812E-FB70-2412-76FB-9AF9EB7699FE}"/>
              </a:ext>
            </a:extLst>
          </p:cNvPr>
          <p:cNvGrpSpPr/>
          <p:nvPr/>
        </p:nvGrpSpPr>
        <p:grpSpPr>
          <a:xfrm>
            <a:off x="908050" y="4593162"/>
            <a:ext cx="5181600" cy="4063032"/>
            <a:chOff x="1212850" y="4334843"/>
            <a:chExt cx="5181600" cy="4063032"/>
          </a:xfrm>
        </p:grpSpPr>
        <p:pic>
          <p:nvPicPr>
            <p:cNvPr id="5" name="Imagen 4">
              <a:extLst>
                <a:ext uri="{FF2B5EF4-FFF2-40B4-BE49-F238E27FC236}">
                  <a16:creationId xmlns:a16="http://schemas.microsoft.com/office/drawing/2014/main" id="{752082D6-1BB9-2DF0-8C62-4A3D0F818C93}"/>
                </a:ext>
              </a:extLst>
            </p:cNvPr>
            <p:cNvPicPr>
              <a:picLocks noChangeAspect="1"/>
            </p:cNvPicPr>
            <p:nvPr/>
          </p:nvPicPr>
          <p:blipFill>
            <a:blip r:embed="rId3"/>
            <a:stretch>
              <a:fillRect/>
            </a:stretch>
          </p:blipFill>
          <p:spPr>
            <a:xfrm>
              <a:off x="1212850" y="4334843"/>
              <a:ext cx="5181600" cy="4063032"/>
            </a:xfrm>
            <a:prstGeom prst="rect">
              <a:avLst/>
            </a:prstGeom>
          </p:spPr>
        </p:pic>
        <p:sp>
          <p:nvSpPr>
            <p:cNvPr id="9" name="Rectángulo 8">
              <a:extLst>
                <a:ext uri="{FF2B5EF4-FFF2-40B4-BE49-F238E27FC236}">
                  <a16:creationId xmlns:a16="http://schemas.microsoft.com/office/drawing/2014/main" id="{15915D20-7169-5A84-471F-D82A83D90A48}"/>
                </a:ext>
              </a:extLst>
            </p:cNvPr>
            <p:cNvSpPr/>
            <p:nvPr/>
          </p:nvSpPr>
          <p:spPr>
            <a:xfrm>
              <a:off x="1746250" y="6797675"/>
              <a:ext cx="3815546" cy="1130532"/>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pic>
        <p:nvPicPr>
          <p:cNvPr id="13" name="Imagen 12">
            <a:extLst>
              <a:ext uri="{FF2B5EF4-FFF2-40B4-BE49-F238E27FC236}">
                <a16:creationId xmlns:a16="http://schemas.microsoft.com/office/drawing/2014/main" id="{859BEA95-71A0-928F-CA90-FA6C43AE570C}"/>
              </a:ext>
            </a:extLst>
          </p:cNvPr>
          <p:cNvPicPr>
            <a:picLocks noChangeAspect="1"/>
          </p:cNvPicPr>
          <p:nvPr/>
        </p:nvPicPr>
        <p:blipFill>
          <a:blip r:embed="rId4"/>
          <a:stretch>
            <a:fillRect/>
          </a:stretch>
        </p:blipFill>
        <p:spPr>
          <a:xfrm>
            <a:off x="6402968" y="7748622"/>
            <a:ext cx="12945837" cy="3515282"/>
          </a:xfrm>
          <a:prstGeom prst="rect">
            <a:avLst/>
          </a:prstGeom>
        </p:spPr>
      </p:pic>
    </p:spTree>
    <p:extLst>
      <p:ext uri="{BB962C8B-B14F-4D97-AF65-F5344CB8AC3E}">
        <p14:creationId xmlns:p14="http://schemas.microsoft.com/office/powerpoint/2010/main" val="2695828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87A9F761-F66D-564C-A85F-5D24B1E7B998}"/>
              </a:ext>
            </a:extLst>
          </p:cNvPr>
          <p:cNvSpPr>
            <a:spLocks noGrp="1"/>
          </p:cNvSpPr>
          <p:nvPr>
            <p:ph type="title"/>
          </p:nvPr>
        </p:nvSpPr>
        <p:spPr>
          <a:xfrm>
            <a:off x="1822450" y="7559675"/>
            <a:ext cx="12725400" cy="2031325"/>
          </a:xfrm>
        </p:spPr>
        <p:txBody>
          <a:bodyPr/>
          <a:lstStyle/>
          <a:p>
            <a:pPr algn="r"/>
            <a:r>
              <a:rPr lang="es-CL" sz="6600" dirty="0"/>
              <a:t>NORMALIZACIÓN DESDE VISTA DE USUARIO</a:t>
            </a:r>
          </a:p>
        </p:txBody>
      </p:sp>
      <p:sp>
        <p:nvSpPr>
          <p:cNvPr id="4" name="Título 1">
            <a:extLst>
              <a:ext uri="{FF2B5EF4-FFF2-40B4-BE49-F238E27FC236}">
                <a16:creationId xmlns:a16="http://schemas.microsoft.com/office/drawing/2014/main" id="{DC622BE7-4A49-A749-B2F2-EA3AD97A1AEF}"/>
              </a:ext>
            </a:extLst>
          </p:cNvPr>
          <p:cNvSpPr txBox="1">
            <a:spLocks/>
          </p:cNvSpPr>
          <p:nvPr/>
        </p:nvSpPr>
        <p:spPr>
          <a:xfrm>
            <a:off x="12677531" y="6082347"/>
            <a:ext cx="1905000" cy="1477328"/>
          </a:xfrm>
          <a:prstGeom prst="rect">
            <a:avLst/>
          </a:prstGeom>
        </p:spPr>
        <p:txBody>
          <a:bodyPr wrap="square" lIns="0" tIns="0" rIns="0" bIns="0">
            <a:spAutoFit/>
          </a:bodyPr>
          <a:lstStyle>
            <a:lvl1pPr>
              <a:defRPr sz="5000" b="1" i="0">
                <a:solidFill>
                  <a:schemeClr val="tx1"/>
                </a:solidFill>
                <a:latin typeface="Arial"/>
                <a:ea typeface="+mj-ea"/>
                <a:cs typeface="Arial"/>
              </a:defRPr>
            </a:lvl1pPr>
          </a:lstStyle>
          <a:p>
            <a:pPr algn="r"/>
            <a:r>
              <a:rPr lang="es-CL" sz="9600" dirty="0">
                <a:latin typeface="Arial Black" panose="020B0604020202020204" pitchFamily="34" charset="0"/>
                <a:cs typeface="Arial Black" panose="020B0604020202020204" pitchFamily="34" charset="0"/>
              </a:rPr>
              <a:t>04</a:t>
            </a:r>
          </a:p>
        </p:txBody>
      </p:sp>
    </p:spTree>
    <p:extLst>
      <p:ext uri="{BB962C8B-B14F-4D97-AF65-F5344CB8AC3E}">
        <p14:creationId xmlns:p14="http://schemas.microsoft.com/office/powerpoint/2010/main" val="1468432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a:xfrm>
            <a:off x="2432050" y="714594"/>
            <a:ext cx="16988263" cy="738664"/>
          </a:xfrm>
        </p:spPr>
        <p:txBody>
          <a:bodyPr/>
          <a:lstStyle/>
          <a:p>
            <a:r>
              <a:rPr lang="es-CL" dirty="0"/>
              <a:t>NORMALIZACIÓN DESDE VISTA DE USUARIO – PASO 1</a:t>
            </a:r>
          </a:p>
        </p:txBody>
      </p:sp>
      <p:pic>
        <p:nvPicPr>
          <p:cNvPr id="7" name="Imagen 6">
            <a:extLst>
              <a:ext uri="{FF2B5EF4-FFF2-40B4-BE49-F238E27FC236}">
                <a16:creationId xmlns:a16="http://schemas.microsoft.com/office/drawing/2014/main" id="{70DA3A5D-87EB-9836-7FB5-BFEEF05E75CB}"/>
              </a:ext>
            </a:extLst>
          </p:cNvPr>
          <p:cNvPicPr>
            <a:picLocks noChangeAspect="1"/>
          </p:cNvPicPr>
          <p:nvPr/>
        </p:nvPicPr>
        <p:blipFill rotWithShape="1">
          <a:blip r:embed="rId3"/>
          <a:srcRect t="755"/>
          <a:stretch/>
        </p:blipFill>
        <p:spPr>
          <a:xfrm>
            <a:off x="2355850" y="1616075"/>
            <a:ext cx="6224729" cy="9601200"/>
          </a:xfrm>
          <a:prstGeom prst="rect">
            <a:avLst/>
          </a:prstGeom>
          <a:ln w="6350">
            <a:solidFill>
              <a:schemeClr val="tx1"/>
            </a:solidFill>
          </a:ln>
        </p:spPr>
      </p:pic>
      <p:pic>
        <p:nvPicPr>
          <p:cNvPr id="9" name="Imagen 8">
            <a:extLst>
              <a:ext uri="{FF2B5EF4-FFF2-40B4-BE49-F238E27FC236}">
                <a16:creationId xmlns:a16="http://schemas.microsoft.com/office/drawing/2014/main" id="{4DA8D9CE-7792-0865-9103-F60B73A195BB}"/>
              </a:ext>
            </a:extLst>
          </p:cNvPr>
          <p:cNvPicPr>
            <a:picLocks noChangeAspect="1"/>
          </p:cNvPicPr>
          <p:nvPr/>
        </p:nvPicPr>
        <p:blipFill rotWithShape="1">
          <a:blip r:embed="rId4">
            <a:extLst>
              <a:ext uri="{28A0092B-C50C-407E-A947-70E740481C1C}">
                <a14:useLocalDpi xmlns:a14="http://schemas.microsoft.com/office/drawing/2010/main" val="0"/>
              </a:ext>
            </a:extLst>
          </a:blip>
          <a:srcRect t="1360" b="-210"/>
          <a:stretch/>
        </p:blipFill>
        <p:spPr>
          <a:xfrm>
            <a:off x="10457176" y="1616075"/>
            <a:ext cx="5861117" cy="9601200"/>
          </a:xfrm>
          <a:prstGeom prst="rect">
            <a:avLst/>
          </a:prstGeom>
        </p:spPr>
      </p:pic>
      <p:sp>
        <p:nvSpPr>
          <p:cNvPr id="10" name="Flecha: a la derecha 9">
            <a:extLst>
              <a:ext uri="{FF2B5EF4-FFF2-40B4-BE49-F238E27FC236}">
                <a16:creationId xmlns:a16="http://schemas.microsoft.com/office/drawing/2014/main" id="{EA348C40-0400-C98A-87FC-A4632265433B}"/>
              </a:ext>
            </a:extLst>
          </p:cNvPr>
          <p:cNvSpPr/>
          <p:nvPr/>
        </p:nvSpPr>
        <p:spPr>
          <a:xfrm>
            <a:off x="8832850" y="5869343"/>
            <a:ext cx="1524000" cy="928332"/>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8208A295-7809-FF13-0433-47E663357035}"/>
              </a:ext>
            </a:extLst>
          </p:cNvPr>
          <p:cNvSpPr/>
          <p:nvPr/>
        </p:nvSpPr>
        <p:spPr>
          <a:xfrm>
            <a:off x="10966450" y="8474075"/>
            <a:ext cx="3200400" cy="13716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5" name="Bocadillo: rectángulo 14">
            <a:extLst>
              <a:ext uri="{FF2B5EF4-FFF2-40B4-BE49-F238E27FC236}">
                <a16:creationId xmlns:a16="http://schemas.microsoft.com/office/drawing/2014/main" id="{393D7644-9D80-772F-387F-A0ABFF2F9E8E}"/>
              </a:ext>
            </a:extLst>
          </p:cNvPr>
          <p:cNvSpPr/>
          <p:nvPr/>
        </p:nvSpPr>
        <p:spPr>
          <a:xfrm>
            <a:off x="15462250" y="5869343"/>
            <a:ext cx="4267200" cy="2223732"/>
          </a:xfrm>
          <a:prstGeom prst="wedgeRectCallout">
            <a:avLst>
              <a:gd name="adj1" fmla="val -73817"/>
              <a:gd name="adj2" fmla="val 58023"/>
            </a:avLst>
          </a:prstGeom>
          <a:ln w="762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rtl="0" fontAlgn="base">
              <a:spcBef>
                <a:spcPts val="1000"/>
              </a:spcBef>
              <a:spcAft>
                <a:spcPts val="0"/>
              </a:spcAft>
            </a:pPr>
            <a:r>
              <a:rPr lang="es-CL" sz="3600" b="1" i="0" u="none" strike="noStrike" dirty="0">
                <a:solidFill>
                  <a:srgbClr val="818990"/>
                </a:solidFill>
                <a:effectLst/>
                <a:latin typeface="Calibri" panose="020F0502020204030204" pitchFamily="34" charset="0"/>
              </a:rPr>
              <a:t>ATRIBUTOS</a:t>
            </a:r>
          </a:p>
          <a:p>
            <a:pPr algn="ctr" rtl="0" fontAlgn="base">
              <a:spcBef>
                <a:spcPts val="1000"/>
              </a:spcBef>
              <a:spcAft>
                <a:spcPts val="0"/>
              </a:spcAft>
            </a:pPr>
            <a:r>
              <a:rPr lang="es-CL" sz="3600" b="1" i="0" u="none" strike="noStrike" dirty="0">
                <a:solidFill>
                  <a:srgbClr val="818990"/>
                </a:solidFill>
                <a:effectLst/>
                <a:latin typeface="Calibri" panose="020F0502020204030204" pitchFamily="34" charset="0"/>
              </a:rPr>
              <a:t>DERIVADOS</a:t>
            </a:r>
          </a:p>
          <a:p>
            <a:pPr algn="ctr" rtl="0" fontAlgn="base">
              <a:spcBef>
                <a:spcPts val="1000"/>
              </a:spcBef>
              <a:spcAft>
                <a:spcPts val="0"/>
              </a:spcAft>
            </a:pPr>
            <a:r>
              <a:rPr lang="es-ES" sz="3600" dirty="0">
                <a:solidFill>
                  <a:srgbClr val="818990"/>
                </a:solidFill>
                <a:latin typeface="Calibri" panose="020F0502020204030204" pitchFamily="34" charset="0"/>
              </a:rPr>
              <a:t>¿Considerarlos o no?</a:t>
            </a:r>
            <a:endParaRPr lang="es-ES" sz="3600" i="0" u="none" strike="noStrike" dirty="0">
              <a:solidFill>
                <a:srgbClr val="818990"/>
              </a:solidFill>
              <a:effectLst/>
              <a:latin typeface="Calibri" panose="020F0502020204030204" pitchFamily="34" charset="0"/>
            </a:endParaRPr>
          </a:p>
        </p:txBody>
      </p:sp>
    </p:spTree>
    <p:extLst>
      <p:ext uri="{BB962C8B-B14F-4D97-AF65-F5344CB8AC3E}">
        <p14:creationId xmlns:p14="http://schemas.microsoft.com/office/powerpoint/2010/main" val="1941270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NORMALIZACIÓN DESDE VISTA DE USUARIO – PASO 2</a:t>
            </a:r>
          </a:p>
        </p:txBody>
      </p:sp>
      <p:pic>
        <p:nvPicPr>
          <p:cNvPr id="9" name="Imagen 8">
            <a:extLst>
              <a:ext uri="{FF2B5EF4-FFF2-40B4-BE49-F238E27FC236}">
                <a16:creationId xmlns:a16="http://schemas.microsoft.com/office/drawing/2014/main" id="{4DA8D9CE-7792-0865-9103-F60B73A195B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4901" y="2024213"/>
            <a:ext cx="5513098" cy="9026122"/>
          </a:xfrm>
          <a:prstGeom prst="rect">
            <a:avLst/>
          </a:prstGeom>
        </p:spPr>
      </p:pic>
      <p:sp>
        <p:nvSpPr>
          <p:cNvPr id="10" name="Flecha: a la derecha 9">
            <a:extLst>
              <a:ext uri="{FF2B5EF4-FFF2-40B4-BE49-F238E27FC236}">
                <a16:creationId xmlns:a16="http://schemas.microsoft.com/office/drawing/2014/main" id="{EA348C40-0400-C98A-87FC-A4632265433B}"/>
              </a:ext>
            </a:extLst>
          </p:cNvPr>
          <p:cNvSpPr/>
          <p:nvPr/>
        </p:nvSpPr>
        <p:spPr>
          <a:xfrm>
            <a:off x="6089650" y="5869343"/>
            <a:ext cx="1524000" cy="928332"/>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Imagen 3">
            <a:extLst>
              <a:ext uri="{FF2B5EF4-FFF2-40B4-BE49-F238E27FC236}">
                <a16:creationId xmlns:a16="http://schemas.microsoft.com/office/drawing/2014/main" id="{C67D286E-686B-C0ED-C077-E83A42A5C06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82579" y="3216275"/>
            <a:ext cx="11846410" cy="6248400"/>
          </a:xfrm>
          <a:prstGeom prst="rect">
            <a:avLst/>
          </a:prstGeom>
        </p:spPr>
      </p:pic>
      <p:sp>
        <p:nvSpPr>
          <p:cNvPr id="5" name="Rectángulo 4">
            <a:extLst>
              <a:ext uri="{FF2B5EF4-FFF2-40B4-BE49-F238E27FC236}">
                <a16:creationId xmlns:a16="http://schemas.microsoft.com/office/drawing/2014/main" id="{B4C6509B-4ED1-0C5C-87A3-3C5BA56A9FD7}"/>
              </a:ext>
            </a:extLst>
          </p:cNvPr>
          <p:cNvSpPr/>
          <p:nvPr/>
        </p:nvSpPr>
        <p:spPr>
          <a:xfrm>
            <a:off x="831850" y="6645275"/>
            <a:ext cx="3048000" cy="17526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678068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NORMALIZACIÓN DESDE VISTA DE USUARIO – PASO 3</a:t>
            </a:r>
          </a:p>
        </p:txBody>
      </p:sp>
      <p:pic>
        <p:nvPicPr>
          <p:cNvPr id="4" name="Imagen 3">
            <a:extLst>
              <a:ext uri="{FF2B5EF4-FFF2-40B4-BE49-F238E27FC236}">
                <a16:creationId xmlns:a16="http://schemas.microsoft.com/office/drawing/2014/main" id="{C67D286E-686B-C0ED-C077-E83A42A5C06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1997075"/>
            <a:ext cx="9968320" cy="5257800"/>
          </a:xfrm>
          <a:prstGeom prst="rect">
            <a:avLst/>
          </a:prstGeom>
        </p:spPr>
      </p:pic>
      <p:sp>
        <p:nvSpPr>
          <p:cNvPr id="5" name="Rectángulo 4">
            <a:extLst>
              <a:ext uri="{FF2B5EF4-FFF2-40B4-BE49-F238E27FC236}">
                <a16:creationId xmlns:a16="http://schemas.microsoft.com/office/drawing/2014/main" id="{B4C6509B-4ED1-0C5C-87A3-3C5BA56A9FD7}"/>
              </a:ext>
            </a:extLst>
          </p:cNvPr>
          <p:cNvSpPr/>
          <p:nvPr/>
        </p:nvSpPr>
        <p:spPr>
          <a:xfrm>
            <a:off x="6923707" y="3157176"/>
            <a:ext cx="2213944" cy="66869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 name="Imagen 5">
            <a:extLst>
              <a:ext uri="{FF2B5EF4-FFF2-40B4-BE49-F238E27FC236}">
                <a16:creationId xmlns:a16="http://schemas.microsoft.com/office/drawing/2014/main" id="{AFB14D97-F4F4-65AA-6E86-C7D82F2D1389}"/>
              </a:ext>
            </a:extLst>
          </p:cNvPr>
          <p:cNvPicPr>
            <a:picLocks noChangeAspect="1"/>
          </p:cNvPicPr>
          <p:nvPr/>
        </p:nvPicPr>
        <p:blipFill>
          <a:blip r:embed="rId4"/>
          <a:stretch>
            <a:fillRect/>
          </a:stretch>
        </p:blipFill>
        <p:spPr>
          <a:xfrm>
            <a:off x="10177410" y="4130675"/>
            <a:ext cx="9856840" cy="5710710"/>
          </a:xfrm>
          <a:prstGeom prst="rect">
            <a:avLst/>
          </a:prstGeom>
        </p:spPr>
      </p:pic>
      <p:sp>
        <p:nvSpPr>
          <p:cNvPr id="7" name="Flecha: doblada hacia arriba 6">
            <a:extLst>
              <a:ext uri="{FF2B5EF4-FFF2-40B4-BE49-F238E27FC236}">
                <a16:creationId xmlns:a16="http://schemas.microsoft.com/office/drawing/2014/main" id="{56E6F902-E41D-32D2-6D9F-6110D95691B8}"/>
              </a:ext>
            </a:extLst>
          </p:cNvPr>
          <p:cNvSpPr/>
          <p:nvPr/>
        </p:nvSpPr>
        <p:spPr>
          <a:xfrm rot="5400000">
            <a:off x="6936476" y="5814081"/>
            <a:ext cx="2010808" cy="2133600"/>
          </a:xfrm>
          <a:prstGeom prst="bentUp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8" name="Rectángulo 7">
            <a:extLst>
              <a:ext uri="{FF2B5EF4-FFF2-40B4-BE49-F238E27FC236}">
                <a16:creationId xmlns:a16="http://schemas.microsoft.com/office/drawing/2014/main" id="{8F368574-E621-6DE2-4561-74B6806FBCCE}"/>
              </a:ext>
            </a:extLst>
          </p:cNvPr>
          <p:cNvSpPr/>
          <p:nvPr/>
        </p:nvSpPr>
        <p:spPr>
          <a:xfrm>
            <a:off x="6927850" y="4140000"/>
            <a:ext cx="2209801" cy="304799"/>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402223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1FCC6-3B49-9D46-8B62-80E94C906F0A}"/>
              </a:ext>
            </a:extLst>
          </p:cNvPr>
          <p:cNvSpPr>
            <a:spLocks noGrp="1"/>
          </p:cNvSpPr>
          <p:nvPr>
            <p:ph type="title"/>
          </p:nvPr>
        </p:nvSpPr>
        <p:spPr/>
        <p:txBody>
          <a:bodyPr/>
          <a:lstStyle/>
          <a:p>
            <a:r>
              <a:rPr lang="es-CL" dirty="0"/>
              <a:t>NORMALIZACIÓN DESDE VISTA DE USUARIO – PASO 4</a:t>
            </a:r>
          </a:p>
        </p:txBody>
      </p:sp>
      <p:grpSp>
        <p:nvGrpSpPr>
          <p:cNvPr id="10" name="Grupo 9">
            <a:extLst>
              <a:ext uri="{FF2B5EF4-FFF2-40B4-BE49-F238E27FC236}">
                <a16:creationId xmlns:a16="http://schemas.microsoft.com/office/drawing/2014/main" id="{53DA41DF-3639-E590-D4B8-70747B4D4D42}"/>
              </a:ext>
            </a:extLst>
          </p:cNvPr>
          <p:cNvGrpSpPr>
            <a:grpSpLocks noChangeAspect="1"/>
          </p:cNvGrpSpPr>
          <p:nvPr/>
        </p:nvGrpSpPr>
        <p:grpSpPr>
          <a:xfrm>
            <a:off x="69850" y="1844675"/>
            <a:ext cx="9075105" cy="5257800"/>
            <a:chOff x="69850" y="1772765"/>
            <a:chExt cx="9856840" cy="5710710"/>
          </a:xfrm>
        </p:grpSpPr>
        <p:pic>
          <p:nvPicPr>
            <p:cNvPr id="6" name="Imagen 5">
              <a:extLst>
                <a:ext uri="{FF2B5EF4-FFF2-40B4-BE49-F238E27FC236}">
                  <a16:creationId xmlns:a16="http://schemas.microsoft.com/office/drawing/2014/main" id="{AFB14D97-F4F4-65AA-6E86-C7D82F2D1389}"/>
                </a:ext>
              </a:extLst>
            </p:cNvPr>
            <p:cNvPicPr>
              <a:picLocks noChangeAspect="1"/>
            </p:cNvPicPr>
            <p:nvPr/>
          </p:nvPicPr>
          <p:blipFill>
            <a:blip r:embed="rId3"/>
            <a:stretch>
              <a:fillRect/>
            </a:stretch>
          </p:blipFill>
          <p:spPr>
            <a:xfrm>
              <a:off x="69850" y="1772765"/>
              <a:ext cx="9856840" cy="5710710"/>
            </a:xfrm>
            <a:prstGeom prst="rect">
              <a:avLst/>
            </a:prstGeom>
          </p:spPr>
        </p:pic>
        <p:sp>
          <p:nvSpPr>
            <p:cNvPr id="5" name="Rectángulo 4">
              <a:extLst>
                <a:ext uri="{FF2B5EF4-FFF2-40B4-BE49-F238E27FC236}">
                  <a16:creationId xmlns:a16="http://schemas.microsoft.com/office/drawing/2014/main" id="{B4C6509B-4ED1-0C5C-87A3-3C5BA56A9FD7}"/>
                </a:ext>
              </a:extLst>
            </p:cNvPr>
            <p:cNvSpPr/>
            <p:nvPr/>
          </p:nvSpPr>
          <p:spPr>
            <a:xfrm>
              <a:off x="408606" y="2606676"/>
              <a:ext cx="2633044" cy="16764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pSp>
      <p:pic>
        <p:nvPicPr>
          <p:cNvPr id="9" name="Imagen 8">
            <a:extLst>
              <a:ext uri="{FF2B5EF4-FFF2-40B4-BE49-F238E27FC236}">
                <a16:creationId xmlns:a16="http://schemas.microsoft.com/office/drawing/2014/main" id="{88C3B838-DEDC-BF53-D9CB-7BA3E823F016}"/>
              </a:ext>
            </a:extLst>
          </p:cNvPr>
          <p:cNvPicPr>
            <a:picLocks noChangeAspect="1"/>
          </p:cNvPicPr>
          <p:nvPr/>
        </p:nvPicPr>
        <p:blipFill rotWithShape="1">
          <a:blip r:embed="rId4"/>
          <a:srcRect l="3171" r="676"/>
          <a:stretch/>
        </p:blipFill>
        <p:spPr>
          <a:xfrm>
            <a:off x="9603688" y="5135090"/>
            <a:ext cx="10430562" cy="5015385"/>
          </a:xfrm>
          <a:prstGeom prst="rect">
            <a:avLst/>
          </a:prstGeom>
        </p:spPr>
      </p:pic>
      <p:sp>
        <p:nvSpPr>
          <p:cNvPr id="12" name="Flecha: a la derecha 11">
            <a:extLst>
              <a:ext uri="{FF2B5EF4-FFF2-40B4-BE49-F238E27FC236}">
                <a16:creationId xmlns:a16="http://schemas.microsoft.com/office/drawing/2014/main" id="{1613A57B-1984-4F15-5574-868314018E51}"/>
              </a:ext>
            </a:extLst>
          </p:cNvPr>
          <p:cNvSpPr/>
          <p:nvPr/>
        </p:nvSpPr>
        <p:spPr>
          <a:xfrm rot="1867439">
            <a:off x="10106085" y="4246887"/>
            <a:ext cx="1524000" cy="928332"/>
          </a:xfrm>
          <a:prstGeom prst="rightArrow">
            <a:avLst/>
          </a:prstGeom>
          <a:solidFill>
            <a:srgbClr val="257C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023E5C3C-D486-C3C6-37B6-834827F250F6}"/>
              </a:ext>
            </a:extLst>
          </p:cNvPr>
          <p:cNvSpPr/>
          <p:nvPr/>
        </p:nvSpPr>
        <p:spPr>
          <a:xfrm>
            <a:off x="381740" y="5883275"/>
            <a:ext cx="2424220" cy="6858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649392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5B4D40B-2281-FF4E-A378-6A0062B17D86}"/>
              </a:ext>
            </a:extLst>
          </p:cNvPr>
          <p:cNvSpPr>
            <a:spLocks noGrp="1"/>
          </p:cNvSpPr>
          <p:nvPr>
            <p:ph type="body" sz="quarter" idx="10"/>
          </p:nvPr>
        </p:nvSpPr>
        <p:spPr/>
        <p:txBody>
          <a:bodyPr/>
          <a:lstStyle/>
          <a:p>
            <a:r>
              <a:rPr lang="es-MX" dirty="0"/>
              <a:t>REFLEXIONEMOS</a:t>
            </a:r>
            <a:endParaRPr lang="es-CL" dirty="0"/>
          </a:p>
        </p:txBody>
      </p:sp>
      <p:pic>
        <p:nvPicPr>
          <p:cNvPr id="4" name="Imagen 4" descr="Un grupo de personas sentadas en una oficina&#10;&#10;Descripción generada automáticamente">
            <a:extLst>
              <a:ext uri="{FF2B5EF4-FFF2-40B4-BE49-F238E27FC236}">
                <a16:creationId xmlns:a16="http://schemas.microsoft.com/office/drawing/2014/main" id="{DA6E1A82-A76E-5796-CBA4-F6427AD7008B}"/>
              </a:ext>
            </a:extLst>
          </p:cNvPr>
          <p:cNvPicPr>
            <a:picLocks noChangeAspect="1"/>
          </p:cNvPicPr>
          <p:nvPr/>
        </p:nvPicPr>
        <p:blipFill>
          <a:blip r:embed="rId2"/>
          <a:stretch>
            <a:fillRect/>
          </a:stretch>
        </p:blipFill>
        <p:spPr>
          <a:xfrm>
            <a:off x="603250" y="2360239"/>
            <a:ext cx="6684533" cy="6588872"/>
          </a:xfrm>
          <a:prstGeom prst="rect">
            <a:avLst/>
          </a:prstGeom>
        </p:spPr>
      </p:pic>
      <p:sp>
        <p:nvSpPr>
          <p:cNvPr id="5" name="Rectangle 1">
            <a:extLst>
              <a:ext uri="{FF2B5EF4-FFF2-40B4-BE49-F238E27FC236}">
                <a16:creationId xmlns:a16="http://schemas.microsoft.com/office/drawing/2014/main" id="{127F7EEB-2ADB-7C29-8C28-6EBF23714952}"/>
              </a:ext>
            </a:extLst>
          </p:cNvPr>
          <p:cNvSpPr txBox="1">
            <a:spLocks noChangeArrowheads="1"/>
          </p:cNvSpPr>
          <p:nvPr/>
        </p:nvSpPr>
        <p:spPr bwMode="auto">
          <a:xfrm>
            <a:off x="8070850" y="4299032"/>
            <a:ext cx="11430000" cy="312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0781" tIns="75390" rIns="150781" bIns="75390" numCol="1" rtlCol="0" anchor="ctr" anchorCtr="0" compatLnSpc="1">
            <a:prstTxWarp prst="textNoShape">
              <a:avLst/>
            </a:prstTxWarp>
            <a:spAutoFit/>
          </a:bodyPr>
          <a:lstStyle>
            <a:lvl1pPr marL="0" indent="0" algn="r" defTabSz="914377" rtl="0" eaLnBrk="1" latinLnBrk="0" hangingPunct="1">
              <a:lnSpc>
                <a:spcPct val="90000"/>
              </a:lnSpc>
              <a:spcBef>
                <a:spcPts val="1000"/>
              </a:spcBef>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71202" indent="-471202" algn="l" defTabSz="1507846">
              <a:lnSpc>
                <a:spcPct val="150000"/>
              </a:lnSpc>
              <a:spcBef>
                <a:spcPct val="0"/>
              </a:spcBef>
              <a:spcAft>
                <a:spcPct val="0"/>
              </a:spcAft>
              <a:buChar char="•"/>
            </a:pPr>
            <a:r>
              <a:rPr lang="es-ES" sz="2638" b="1" dirty="0">
                <a:latin typeface="Montserrat"/>
                <a:cs typeface="Arial"/>
              </a:rPr>
              <a:t>¿Cuál es la diferencia entre Vista de usuario y Narrativa de usuario?</a:t>
            </a:r>
            <a:endParaRPr lang="es-ES" sz="2638" b="1" dirty="0">
              <a:latin typeface="Montserrat"/>
            </a:endParaRPr>
          </a:p>
          <a:p>
            <a:pPr marL="471202" indent="-471202" algn="l" defTabSz="1507846">
              <a:lnSpc>
                <a:spcPct val="150000"/>
              </a:lnSpc>
              <a:spcBef>
                <a:spcPct val="0"/>
              </a:spcBef>
              <a:spcAft>
                <a:spcPct val="0"/>
              </a:spcAft>
              <a:buChar char="•"/>
            </a:pPr>
            <a:r>
              <a:rPr lang="es-ES" sz="2638" b="1" dirty="0">
                <a:latin typeface="Montserrat"/>
                <a:cs typeface="Arial"/>
              </a:rPr>
              <a:t>¿Cuáles son los puntos que mitiga la Normalización?</a:t>
            </a:r>
            <a:endParaRPr lang="es-ES" sz="2309" dirty="0"/>
          </a:p>
          <a:p>
            <a:pPr marL="471202" indent="-471202" algn="l" defTabSz="1507846">
              <a:lnSpc>
                <a:spcPct val="150000"/>
              </a:lnSpc>
              <a:spcBef>
                <a:spcPct val="0"/>
              </a:spcBef>
              <a:spcAft>
                <a:spcPct val="0"/>
              </a:spcAft>
              <a:buChar char="•"/>
            </a:pPr>
            <a:r>
              <a:rPr lang="es-ES" sz="2638" b="1" dirty="0">
                <a:latin typeface="Montserrat"/>
                <a:cs typeface="Arial"/>
              </a:rPr>
              <a:t>¿Cuántas fases posee la normalización?</a:t>
            </a:r>
            <a:endParaRPr lang="es-ES" sz="2638" b="1" dirty="0">
              <a:latin typeface="Montserrat"/>
            </a:endParaRPr>
          </a:p>
          <a:p>
            <a:pPr marL="471202" indent="-471202" algn="l" defTabSz="1507846" eaLnBrk="0" fontAlgn="base" hangingPunct="0">
              <a:lnSpc>
                <a:spcPct val="150000"/>
              </a:lnSpc>
              <a:spcBef>
                <a:spcPct val="0"/>
              </a:spcBef>
              <a:spcAft>
                <a:spcPct val="0"/>
              </a:spcAft>
              <a:buChar char="•"/>
            </a:pPr>
            <a:r>
              <a:rPr lang="es-ES" sz="2638" b="1" dirty="0">
                <a:latin typeface="Montserrat"/>
                <a:cs typeface="Arial"/>
              </a:rPr>
              <a:t>¿Hasta que fase de normalización se aplica cotidianamente?</a:t>
            </a:r>
          </a:p>
        </p:txBody>
      </p:sp>
    </p:spTree>
    <p:extLst>
      <p:ext uri="{BB962C8B-B14F-4D97-AF65-F5344CB8AC3E}">
        <p14:creationId xmlns:p14="http://schemas.microsoft.com/office/powerpoint/2010/main" val="2514103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24723-9968-7E43-AF4C-4EA396BDB1BC}"/>
              </a:ext>
            </a:extLst>
          </p:cNvPr>
          <p:cNvSpPr>
            <a:spLocks noGrp="1"/>
          </p:cNvSpPr>
          <p:nvPr>
            <p:ph type="title"/>
          </p:nvPr>
        </p:nvSpPr>
        <p:spPr>
          <a:xfrm>
            <a:off x="1289050" y="5146843"/>
            <a:ext cx="8909050" cy="1015663"/>
          </a:xfrm>
        </p:spPr>
        <p:txBody>
          <a:bodyPr/>
          <a:lstStyle/>
          <a:p>
            <a:r>
              <a:rPr lang="es-CL" sz="6600" dirty="0"/>
              <a:t>¡MUCHAS GRACIAS!</a:t>
            </a:r>
          </a:p>
        </p:txBody>
      </p:sp>
    </p:spTree>
    <p:extLst>
      <p:ext uri="{BB962C8B-B14F-4D97-AF65-F5344CB8AC3E}">
        <p14:creationId xmlns:p14="http://schemas.microsoft.com/office/powerpoint/2010/main" val="416123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2124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bb86751-ad4c-49ff-a33d-b7314027950b">
      <Terms xmlns="http://schemas.microsoft.com/office/infopath/2007/PartnerControls"/>
    </lcf76f155ced4ddcb4097134ff3c332f>
    <TaxCatchAll xmlns="4215e297-5d6e-42b1-b795-55976a17412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4E9A3AE23414AD41A4F4D6368514CED2" ma:contentTypeVersion="13" ma:contentTypeDescription="Crear nuevo documento." ma:contentTypeScope="" ma:versionID="e5b9210409080ab1878d310b63a91de2">
  <xsd:schema xmlns:xsd="http://www.w3.org/2001/XMLSchema" xmlns:xs="http://www.w3.org/2001/XMLSchema" xmlns:p="http://schemas.microsoft.com/office/2006/metadata/properties" xmlns:ns2="dbb86751-ad4c-49ff-a33d-b7314027950b" xmlns:ns3="4215e297-5d6e-42b1-b795-55976a17412c" targetNamespace="http://schemas.microsoft.com/office/2006/metadata/properties" ma:root="true" ma:fieldsID="13f1ec48c0d2d83b68390b1e0be9568b" ns2:_="" ns3:_="">
    <xsd:import namespace="dbb86751-ad4c-49ff-a33d-b7314027950b"/>
    <xsd:import namespace="4215e297-5d6e-42b1-b795-55976a17412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b86751-ad4c-49ff-a33d-b731402795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e2f773bf-f00b-42a6-8b07-050935be226b"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4215e297-5d6e-42b1-b795-55976a17412c" elementFormDefault="qualified">
    <xsd:import namespace="http://schemas.microsoft.com/office/2006/documentManagement/types"/>
    <xsd:import namespace="http://schemas.microsoft.com/office/infopath/2007/PartnerControls"/>
    <xsd:element name="SharedWithUsers" ma:index="16"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f8d5977e-d2ec-4115-827c-1393f5edec4a}" ma:internalName="TaxCatchAll" ma:showField="CatchAllData" ma:web="4215e297-5d6e-42b1-b795-55976a1741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821600-D61B-433B-B6F8-A294D9BC75DD}">
  <ds:schemaRefs>
    <ds:schemaRef ds:uri="http://schemas.microsoft.com/office/2006/metadata/properties"/>
    <ds:schemaRef ds:uri="http://schemas.microsoft.com/office/infopath/2007/PartnerControls"/>
    <ds:schemaRef ds:uri="dbb86751-ad4c-49ff-a33d-b7314027950b"/>
    <ds:schemaRef ds:uri="4215e297-5d6e-42b1-b795-55976a17412c"/>
  </ds:schemaRefs>
</ds:datastoreItem>
</file>

<file path=customXml/itemProps2.xml><?xml version="1.0" encoding="utf-8"?>
<ds:datastoreItem xmlns:ds="http://schemas.openxmlformats.org/officeDocument/2006/customXml" ds:itemID="{64C43652-73DC-4C77-8E79-F06010C18C35}">
  <ds:schemaRefs>
    <ds:schemaRef ds:uri="http://schemas.microsoft.com/sharepoint/v3/contenttype/forms"/>
  </ds:schemaRefs>
</ds:datastoreItem>
</file>

<file path=customXml/itemProps3.xml><?xml version="1.0" encoding="utf-8"?>
<ds:datastoreItem xmlns:ds="http://schemas.openxmlformats.org/officeDocument/2006/customXml" ds:itemID="{BBBF0A18-574F-4CFD-981D-5882D69445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b86751-ad4c-49ff-a33d-b7314027950b"/>
    <ds:schemaRef ds:uri="4215e297-5d6e-42b1-b795-55976a1741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4665</TotalTime>
  <Words>2396</Words>
  <Application>Microsoft Office PowerPoint</Application>
  <PresentationFormat>Custom</PresentationFormat>
  <Paragraphs>223</Paragraphs>
  <Slides>26</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Arial Black</vt:lpstr>
      <vt:lpstr>Calibri</vt:lpstr>
      <vt:lpstr>Montserrat</vt:lpstr>
      <vt:lpstr>Times New Roman</vt:lpstr>
      <vt:lpstr>Wingdings</vt:lpstr>
      <vt:lpstr>Office Theme</vt:lpstr>
      <vt:lpstr>BDY1101 Construyendo un MER normalizado</vt:lpstr>
      <vt:lpstr>PowerPoint Presentation</vt:lpstr>
      <vt:lpstr>PowerPoint Presentation</vt:lpstr>
      <vt:lpstr>PowerPoint Presentation</vt:lpstr>
      <vt:lpstr>PowerPoint Presentation</vt:lpstr>
      <vt:lpstr>PowerPoint Presentation</vt:lpstr>
      <vt:lpstr>PowerPoint Presentation</vt:lpstr>
      <vt:lpstr>NORMALIZACIÓN</vt:lpstr>
      <vt:lpstr>¿QUÉ ES NORMALIZACIÓN?</vt:lpstr>
      <vt:lpstr>¿QUÉ ES NORMALIZACIÓN?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NORMALIZACIÓN DESDE VISTA DE USUARIO</vt:lpstr>
      <vt:lpstr>NORMALIZACIÓN DESDE VISTA DE USUARIO – PASO 1</vt:lpstr>
      <vt:lpstr>NORMALIZACIÓN DESDE VISTA DE USUARIO – PASO 2</vt:lpstr>
      <vt:lpstr>NORMALIZACIÓN DESDE VISTA DE USUARIO – PASO 3</vt:lpstr>
      <vt:lpstr>NORMALIZACIÓN DESDE VISTA DE USUARIO – PASO 4</vt:lpstr>
      <vt:lpstr>PowerPoint Presentation</vt:lpstr>
      <vt:lpstr>¡MUCHAS GRACIAS!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dc:title>
  <dc:creator>Daniela Taito R.</dc:creator>
  <cp:lastModifiedBy>GIANCARLO FAVIO JAQUE OJEDA</cp:lastModifiedBy>
  <cp:revision>512</cp:revision>
  <dcterms:created xsi:type="dcterms:W3CDTF">2022-07-20T19:15:37Z</dcterms:created>
  <dcterms:modified xsi:type="dcterms:W3CDTF">2026-01-16T06:12:13Z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0x0101004E9A3AE23414AD41A4F4D6368514CED2</vt:lpwstr>
  </property>
</Properties>
</file>